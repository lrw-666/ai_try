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7803DF5-DCAD-4D7A-8F5E-B7ACB93602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32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025D19-7319-4A1A-9486-EB65CE7AE4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85D4F"/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9AA0C8-3C19-411B-B7DE-C01B23B90F9B}"/>
              </a:ext>
            </a:extLst>
          </p:cNvPr>
          <p:cNvSpPr>
            <a:spLocks noGrp="1"/>
          </p:cNvSpPr>
          <p:nvPr/>
        </p:nvSpPr>
        <p:spPr>
          <a:xfrm>
            <a:off x="495300" y="704850"/>
            <a:ext cx="876300" cy="57150"/>
          </a:xfrm>
          <a:prstGeom prst="rect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64B520-6BC3-4EE3-8F65-41A83772C8A7}"/>
              </a:ext>
            </a:extLst>
          </p:cNvPr>
          <p:cNvSpPr>
            <a:spLocks noGrp="1"/>
          </p:cNvSpPr>
          <p:nvPr/>
        </p:nvSpPr>
        <p:spPr>
          <a:xfrm>
            <a:off x="495300" y="457200"/>
            <a:ext cx="5524500" cy="2476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75">
                <a:solidFill>
                  <a:srgbClr val="F5B2AA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5B2AA"/>
                </a:solidFill>
                <a:latin typeface="Segoe UI"/>
                <a:ea typeface="Segoe UI"/>
                <a:cs typeface="Segoe UI"/>
              </a:rPr>
              <a:t>DATA WAREHOUSE &amp; BIG DATA ENGINEERING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393BC9-79E6-42C0-8ED5-FFD731ACC9DD}"/>
              </a:ext>
            </a:extLst>
          </p:cNvPr>
          <p:cNvSpPr>
            <a:spLocks noGrp="1"/>
          </p:cNvSpPr>
          <p:nvPr/>
        </p:nvSpPr>
        <p:spPr>
          <a:xfrm>
            <a:off x="495300" y="1028700"/>
            <a:ext cx="7239000" cy="169545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l">
              <a:defRPr sz="31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以番茄小说为例的</a:t>
            </a:r>
          </a:p>
          <a:p>
            <a:pPr algn="l">
              <a:defRPr sz="31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全国级 2C 在线阅读平台</a:t>
            </a:r>
          </a:p>
          <a:p>
            <a:pPr algn="l">
              <a:defRPr sz="31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OLTP 与大数据平台架构分析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783834-AC88-43D3-8417-9156E649967D}"/>
              </a:ext>
            </a:extLst>
          </p:cNvPr>
          <p:cNvSpPr>
            <a:spLocks noGrp="1"/>
          </p:cNvSpPr>
          <p:nvPr/>
        </p:nvSpPr>
        <p:spPr>
          <a:xfrm>
            <a:off x="533400" y="3028950"/>
            <a:ext cx="7239000" cy="6667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575">
                <a:solidFill>
                  <a:srgbClr val="DFE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DFE6E8"/>
                </a:solidFill>
                <a:latin typeface="Microsoft YaHei"/>
                <a:ea typeface="Microsoft YaHei"/>
                <a:cs typeface="Microsoft YaHei"/>
              </a:rPr>
              <a:t>调研分析报告 / PPT</a:t>
            </a:r>
          </a:p>
          <a:p>
            <a:pPr algn="l">
              <a:defRPr sz="1575">
                <a:solidFill>
                  <a:srgbClr val="DFE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DFE6E8"/>
                </a:solidFill>
                <a:latin typeface="Microsoft YaHei"/>
                <a:ea typeface="Microsoft YaHei"/>
                <a:cs typeface="Microsoft YaHei"/>
              </a:rPr>
              <a:t>案例边界：公开产品与市场数据 + 大型内容平台通用架构分析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ADB683-F582-42A1-9FA9-CC3BAC0B9988}"/>
              </a:ext>
            </a:extLst>
          </p:cNvPr>
          <p:cNvSpPr>
            <a:spLocks noGrp="1"/>
          </p:cNvSpPr>
          <p:nvPr/>
        </p:nvSpPr>
        <p:spPr>
          <a:xfrm>
            <a:off x="533400" y="4324350"/>
            <a:ext cx="2000250" cy="876300"/>
          </a:xfrm>
          <a:prstGeom prst="rect">
            <a:avLst/>
          </a:prstGeom>
          <a:solidFill>
            <a:srgbClr val="26313D"/>
          </a:solidFill>
          <a:ln w="9525">
            <a:solidFill>
              <a:srgbClr val="384551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2E950D-7FA0-4461-9409-5164E19B7010}"/>
              </a:ext>
            </a:extLst>
          </p:cNvPr>
          <p:cNvSpPr>
            <a:spLocks noGrp="1"/>
          </p:cNvSpPr>
          <p:nvPr/>
        </p:nvSpPr>
        <p:spPr>
          <a:xfrm>
            <a:off x="666750" y="4438650"/>
            <a:ext cx="1619250" cy="2476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350">
                <a:solidFill>
                  <a:srgbClr val="F5B2A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5B2AA"/>
                </a:solidFill>
                <a:latin typeface="Segoe UI"/>
                <a:ea typeface="Segoe UI"/>
                <a:cs typeface="Segoe UI"/>
              </a:rPr>
              <a:t>OLTP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0EEC5B-32D7-4B6A-B7AD-F8BD6EB8F5A0}"/>
              </a:ext>
            </a:extLst>
          </p:cNvPr>
          <p:cNvSpPr>
            <a:spLocks noGrp="1"/>
          </p:cNvSpPr>
          <p:nvPr/>
        </p:nvSpPr>
        <p:spPr>
          <a:xfrm>
            <a:off x="666750" y="4743450"/>
            <a:ext cx="1714500" cy="3810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75">
                <a:solidFill>
                  <a:srgbClr val="E8E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E8EDF0"/>
                </a:solidFill>
                <a:latin typeface="Microsoft YaHei"/>
                <a:ea typeface="Microsoft YaHei"/>
                <a:cs typeface="Microsoft YaHei"/>
              </a:rPr>
              <a:t>实时阅读、书架、评论、搜索、广告曝光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A1991F-C3FE-4C5C-B864-396A9124529D}"/>
              </a:ext>
            </a:extLst>
          </p:cNvPr>
          <p:cNvSpPr>
            <a:spLocks noGrp="1"/>
          </p:cNvSpPr>
          <p:nvPr/>
        </p:nvSpPr>
        <p:spPr>
          <a:xfrm>
            <a:off x="2867025" y="4324350"/>
            <a:ext cx="2000250" cy="876300"/>
          </a:xfrm>
          <a:prstGeom prst="rect">
            <a:avLst/>
          </a:prstGeom>
          <a:solidFill>
            <a:srgbClr val="26313D"/>
          </a:solidFill>
          <a:ln w="9525">
            <a:solidFill>
              <a:srgbClr val="384551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AFC892E-09BE-4D10-B53E-4447221A0873}"/>
              </a:ext>
            </a:extLst>
          </p:cNvPr>
          <p:cNvSpPr>
            <a:spLocks noGrp="1"/>
          </p:cNvSpPr>
          <p:nvPr/>
        </p:nvSpPr>
        <p:spPr>
          <a:xfrm>
            <a:off x="3000375" y="4438650"/>
            <a:ext cx="1619250" cy="2476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350">
                <a:solidFill>
                  <a:srgbClr val="F5B2A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5B2AA"/>
                </a:solidFill>
                <a:latin typeface="Segoe UI"/>
                <a:ea typeface="Segoe UI"/>
                <a:cs typeface="Segoe UI"/>
              </a:rPr>
              <a:t>Data Flow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E894F3-0BB7-414E-AF10-3DE8A51AF99B}"/>
              </a:ext>
            </a:extLst>
          </p:cNvPr>
          <p:cNvSpPr>
            <a:spLocks noGrp="1"/>
          </p:cNvSpPr>
          <p:nvPr/>
        </p:nvSpPr>
        <p:spPr>
          <a:xfrm>
            <a:off x="3000375" y="4743450"/>
            <a:ext cx="1714500" cy="3810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75">
                <a:solidFill>
                  <a:srgbClr val="E8E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E8EDF0"/>
                </a:solidFill>
                <a:latin typeface="Microsoft YaHei"/>
                <a:ea typeface="Microsoft YaHei"/>
                <a:cs typeface="Microsoft YaHei"/>
              </a:rPr>
              <a:t>行为日志与业务数据进入实时/离线链路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466A7B-4E55-40CB-A942-3409ECC11D35}"/>
              </a:ext>
            </a:extLst>
          </p:cNvPr>
          <p:cNvSpPr>
            <a:spLocks noGrp="1"/>
          </p:cNvSpPr>
          <p:nvPr/>
        </p:nvSpPr>
        <p:spPr>
          <a:xfrm>
            <a:off x="5200650" y="4324350"/>
            <a:ext cx="2000250" cy="876300"/>
          </a:xfrm>
          <a:prstGeom prst="rect">
            <a:avLst/>
          </a:prstGeom>
          <a:solidFill>
            <a:srgbClr val="26313D"/>
          </a:solidFill>
          <a:ln w="9525">
            <a:solidFill>
              <a:srgbClr val="384551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DC921AE-B7C3-4AFE-9ECC-37CE7676D321}"/>
              </a:ext>
            </a:extLst>
          </p:cNvPr>
          <p:cNvSpPr>
            <a:spLocks noGrp="1"/>
          </p:cNvSpPr>
          <p:nvPr/>
        </p:nvSpPr>
        <p:spPr>
          <a:xfrm>
            <a:off x="5334000" y="4438650"/>
            <a:ext cx="1619250" cy="2476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350">
                <a:solidFill>
                  <a:srgbClr val="F5B2A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5B2AA"/>
                </a:solidFill>
                <a:latin typeface="Segoe UI"/>
                <a:ea typeface="Segoe UI"/>
                <a:cs typeface="Segoe UI"/>
              </a:rPr>
              <a:t>DWH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83809B3-544B-450F-98CF-3A9F324EFA3C}"/>
              </a:ext>
            </a:extLst>
          </p:cNvPr>
          <p:cNvSpPr>
            <a:spLocks noGrp="1"/>
          </p:cNvSpPr>
          <p:nvPr/>
        </p:nvSpPr>
        <p:spPr>
          <a:xfrm>
            <a:off x="5334000" y="4743450"/>
            <a:ext cx="1714500" cy="3810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75">
                <a:solidFill>
                  <a:srgbClr val="E8E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E8EDF0"/>
                </a:solidFill>
                <a:latin typeface="Microsoft YaHei"/>
                <a:ea typeface="Microsoft YaHei"/>
                <a:cs typeface="Microsoft YaHei"/>
              </a:rPr>
              <a:t>ODS / DWD / DWS / ADS 支撑决策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7ED7AA-6575-4F18-9C95-62669EB64284}"/>
              </a:ext>
            </a:extLst>
          </p:cNvPr>
          <p:cNvSpPr>
            <a:spLocks noGrp="1"/>
          </p:cNvSpPr>
          <p:nvPr/>
        </p:nvSpPr>
        <p:spPr>
          <a:xfrm>
            <a:off x="8477250" y="1104900"/>
            <a:ext cx="2667000" cy="1524000"/>
          </a:xfrm>
          <a:prstGeom prst="rect">
            <a:avLst/>
          </a:prstGeom>
          <a:solidFill>
            <a:srgbClr val="F8F5EE"/>
          </a:solidFill>
          <a:ln w="9525">
            <a:solidFill>
              <a:srgbClr val="F8F5EE"/>
            </a:solidFill>
          </a:ln>
        </p:spPr>
        <p:txBody>
          <a:bodyPr lIns="228600" tIns="190500" rIns="228600" bIns="190500" anchor="t"/>
          <a:lstStyle/>
          <a:p>
            <a:pPr algn="l">
              <a:defRPr sz="15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姓名：</a:t>
            </a:r>
          </a:p>
          <a:p>
            <a:pPr algn="l">
              <a:defRPr sz="15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学号：</a:t>
            </a:r>
          </a:p>
          <a:p>
            <a:pPr algn="l">
              <a:defRPr sz="15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班级：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F9DA36D-3DF7-4976-AD14-C96211F22392}"/>
              </a:ext>
            </a:extLst>
          </p:cNvPr>
          <p:cNvSpPr>
            <a:spLocks noGrp="1"/>
          </p:cNvSpPr>
          <p:nvPr/>
        </p:nvSpPr>
        <p:spPr>
          <a:xfrm>
            <a:off x="8591550" y="2686050"/>
            <a:ext cx="2381250" cy="2476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38">
                <a:solidFill>
                  <a:srgbClr val="6D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D747C"/>
                </a:solidFill>
                <a:latin typeface="Microsoft YaHei"/>
                <a:ea typeface="Microsoft YaHei"/>
                <a:cs typeface="Microsoft YaHei"/>
              </a:rPr>
              <a:t>请在此处补充个人信息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DF67E10-935A-48C4-9487-61344D8E03DA}"/>
              </a:ext>
            </a:extLst>
          </p:cNvPr>
          <p:cNvSpPr>
            <a:spLocks noGrp="1"/>
          </p:cNvSpPr>
          <p:nvPr/>
        </p:nvSpPr>
        <p:spPr>
          <a:xfrm>
            <a:off x="495300" y="6362700"/>
            <a:ext cx="3429000" cy="209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38">
                <a:solidFill>
                  <a:srgbClr val="AAB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AAB5BD"/>
                </a:solidFill>
                <a:latin typeface="Microsoft YaHei"/>
                <a:ea typeface="Microsoft YaHei"/>
                <a:cs typeface="Microsoft YaHei"/>
              </a:rPr>
              <a:t>课程作业 | 10-15 页 PPT 报告</a:t>
            </a:r>
          </a:p>
        </p:txBody>
      </p:sp>
    </p:spTree>
    <p:extLst>
      <p:ext uri="{BB962C8B-B14F-4D97-AF65-F5344CB8AC3E}">
        <p14:creationId xmlns:p14="http://schemas.microsoft.com/office/powerpoint/2010/main" val="78130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431EAE0-8DF6-42DF-8CED-72B9E76D0A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704B0-3986-4DE4-9D83-4B8252A6F6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85D4F"/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1AFE03-9C09-4412-AA8F-234514536D5E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93345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Sources: Fanqie official site; public media/research reports. Architecture diagrams are course analysis, not official disclosure.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359095-D97D-416C-9934-C4D2761BE6F9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609600" cy="2667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r">
              <a:defRPr sz="975">
                <a:solidFill>
                  <a:srgbClr val="5C6670"/>
                </a:solidFill>
                <a:latin typeface="Segoe UI"/>
                <a:ea typeface="Segoe UI"/>
                <a:cs typeface="Segoe UI"/>
              </a:defRPr>
            </a:pPr>
            <a:r>
              <a:rPr sz="975">
                <a:solidFill>
                  <a:srgbClr val="5C667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27AE8F7-2996-4AE8-BF23-B50F525AB9FC}"/>
              </a:ext>
            </a:extLst>
          </p:cNvPr>
          <p:cNvSpPr>
            <a:spLocks noGrp="1"/>
          </p:cNvSpPr>
          <p:nvPr/>
        </p:nvSpPr>
        <p:spPr>
          <a:xfrm>
            <a:off x="485775" y="533400"/>
            <a:ext cx="76200" cy="76200"/>
          </a:xfrm>
          <a:prstGeom prst="ellipse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26F141-805E-4588-B31C-5AF4E10EFD36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2000250" cy="228600"/>
          </a:xfrm>
          <a:prstGeom prst="rect">
            <a:avLst/>
          </a:prstGeom>
          <a:noFill/>
        </p:spPr>
        <p:txBody>
          <a:bodyPr lIns="76200" tIns="38100" rIns="76200" bIns="38100" anchor="ctr"/>
          <a:lstStyle/>
          <a:p>
            <a:pPr algn="l">
              <a:defRPr sz="900">
                <a:solidFill>
                  <a:srgbClr val="B83D3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83D34"/>
                </a:solidFill>
                <a:latin typeface="Segoe UI"/>
                <a:ea typeface="Segoe UI"/>
                <a:cs typeface="Segoe UI"/>
              </a:rPr>
              <a:t>CASE BOUNDARY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5CCFA3-B6F4-4860-9AD6-A7CA9332765B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9906000" cy="4953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4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本报告把“公开事实”和“架构分析假设”分开处理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811DC52E-0217-4879-9F00-99955E266598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11077575" cy="9525"/>
          </a:xfrm>
          <a:prstGeom prst="line">
            <a:avLst/>
          </a:prstGeom>
          <a:noFill/>
          <a:ln w="9525">
            <a:solidFill>
              <a:srgbClr val="D8D1C4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8CC858-F4E4-488F-899B-B2298BE20F5F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323850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C119E56-825F-488C-8492-0C9A704982CE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3238500" cy="76200"/>
          </a:xfrm>
          <a:prstGeom prst="rect">
            <a:avLst/>
          </a:prstGeom>
          <a:solidFill>
            <a:srgbClr val="287D79"/>
          </a:solidFill>
          <a:ln w="0">
            <a:solidFill>
              <a:srgbClr val="287D79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A06592-5412-4B3D-8406-F07B98375489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2476500" cy="3429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950">
                <a:solidFill>
                  <a:srgbClr val="287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87D79"/>
                </a:solidFill>
                <a:latin typeface="Microsoft YaHei"/>
                <a:ea typeface="Microsoft YaHei"/>
                <a:cs typeface="Microsoft YaHei"/>
              </a:rPr>
              <a:t>公开可查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A8CC87-C3CF-4AD2-9775-0FB8822E2E57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2724150" cy="8001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5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行业规模、作者规模、平台活动、官网业务入口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FB640C-3407-4D67-B767-39F0780284F0}"/>
              </a:ext>
            </a:extLst>
          </p:cNvPr>
          <p:cNvSpPr>
            <a:spLocks noGrp="1"/>
          </p:cNvSpPr>
          <p:nvPr/>
        </p:nvSpPr>
        <p:spPr>
          <a:xfrm>
            <a:off x="4343400" y="1695450"/>
            <a:ext cx="323850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2A3FA9-E47B-44DA-BB84-63B348BF73E8}"/>
              </a:ext>
            </a:extLst>
          </p:cNvPr>
          <p:cNvSpPr>
            <a:spLocks noGrp="1"/>
          </p:cNvSpPr>
          <p:nvPr/>
        </p:nvSpPr>
        <p:spPr>
          <a:xfrm>
            <a:off x="4343400" y="1695450"/>
            <a:ext cx="3238500" cy="76200"/>
          </a:xfrm>
          <a:prstGeom prst="rect">
            <a:avLst/>
          </a:prstGeom>
          <a:solidFill>
            <a:srgbClr val="315C97"/>
          </a:solidFill>
          <a:ln w="0">
            <a:solidFill>
              <a:srgbClr val="315C97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98EA78-0D88-47C6-970C-9FD2FF287A5F}"/>
              </a:ext>
            </a:extLst>
          </p:cNvPr>
          <p:cNvSpPr>
            <a:spLocks noGrp="1"/>
          </p:cNvSpPr>
          <p:nvPr/>
        </p:nvSpPr>
        <p:spPr>
          <a:xfrm>
            <a:off x="4552950" y="1943100"/>
            <a:ext cx="2476500" cy="3429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950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rPr>
              <a:t>合理推断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ED5B9FD-BB65-4373-A36A-0C567E58D8E9}"/>
              </a:ext>
            </a:extLst>
          </p:cNvPr>
          <p:cNvSpPr>
            <a:spLocks noGrp="1"/>
          </p:cNvSpPr>
          <p:nvPr/>
        </p:nvSpPr>
        <p:spPr>
          <a:xfrm>
            <a:off x="4552950" y="2457450"/>
            <a:ext cx="2724150" cy="8001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5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在线阅读平台常见 OLTP 模块、数据流、数据仓库分层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4A46BF-2841-40F3-B607-AEDBAE52B831}"/>
              </a:ext>
            </a:extLst>
          </p:cNvPr>
          <p:cNvSpPr>
            <a:spLocks noGrp="1"/>
          </p:cNvSpPr>
          <p:nvPr/>
        </p:nvSpPr>
        <p:spPr>
          <a:xfrm>
            <a:off x="8058150" y="1695450"/>
            <a:ext cx="323850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194BBB-D2A8-4265-8BE9-5E8A9BA258E5}"/>
              </a:ext>
            </a:extLst>
          </p:cNvPr>
          <p:cNvSpPr>
            <a:spLocks noGrp="1"/>
          </p:cNvSpPr>
          <p:nvPr/>
        </p:nvSpPr>
        <p:spPr>
          <a:xfrm>
            <a:off x="8058150" y="1695450"/>
            <a:ext cx="3238500" cy="76200"/>
          </a:xfrm>
          <a:prstGeom prst="rect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951FAF-C946-4F91-9FA0-6ED29A326440}"/>
              </a:ext>
            </a:extLst>
          </p:cNvPr>
          <p:cNvSpPr>
            <a:spLocks noGrp="1"/>
          </p:cNvSpPr>
          <p:nvPr/>
        </p:nvSpPr>
        <p:spPr>
          <a:xfrm>
            <a:off x="8267700" y="1943100"/>
            <a:ext cx="2476500" cy="3429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950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rPr>
              <a:t>不做声称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8655B15-6F2C-42BD-90AD-891375E3481D}"/>
              </a:ext>
            </a:extLst>
          </p:cNvPr>
          <p:cNvSpPr>
            <a:spLocks noGrp="1"/>
          </p:cNvSpPr>
          <p:nvPr/>
        </p:nvSpPr>
        <p:spPr>
          <a:xfrm>
            <a:off x="8267700" y="2457450"/>
            <a:ext cx="2724150" cy="8001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5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番茄小说内部真实服务器拓扑、真实数据库类型、真实私有指标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24BB1EB-ACAE-472D-8F28-A0ABFA0B8EFD}"/>
              </a:ext>
            </a:extLst>
          </p:cNvPr>
          <p:cNvSpPr>
            <a:spLocks noGrp="1"/>
          </p:cNvSpPr>
          <p:nvPr/>
        </p:nvSpPr>
        <p:spPr>
          <a:xfrm>
            <a:off x="914400" y="4400550"/>
            <a:ext cx="103632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209550" tIns="152400" rIns="209550" bIns="152400" anchor="t"/>
          <a:lstStyle/>
          <a:p>
            <a:pPr algn="l">
              <a:defRPr sz="15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为什么这样处理？</a:t>
            </a:r>
          </a:p>
          <a:p>
            <a:pPr algn="l">
              <a:defRPr sz="15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大型互联网平台通常不会公开完整内部架构。本作业的重点是理解 OLTP、大数据平台、数据仓库之间的关系，因此采用“公开数据证明业务规模 + 通用工程实践构建分析架构”的方式。</a:t>
            </a:r>
          </a:p>
        </p:txBody>
      </p:sp>
    </p:spTree>
    <p:extLst>
      <p:ext uri="{BB962C8B-B14F-4D97-AF65-F5344CB8AC3E}">
        <p14:creationId xmlns:p14="http://schemas.microsoft.com/office/powerpoint/2010/main" val="538668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CEB55A81-D440-4071-A92D-D098B802B4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18EC2F-353F-47EF-8481-B2ED3E26B1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85D4F"/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FBDB3C-3371-4444-9921-6F7369BC7039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93345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Sources: 2024 China Online Literature Development Research Report, China Social Sciences Network / NPPA, 2025.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D16D01-DC0B-4088-9F55-A4319FDBDE73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609600" cy="2667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r">
              <a:defRPr sz="975">
                <a:solidFill>
                  <a:srgbClr val="5C6670"/>
                </a:solidFill>
                <a:latin typeface="Segoe UI"/>
                <a:ea typeface="Segoe UI"/>
                <a:cs typeface="Segoe UI"/>
              </a:defRPr>
            </a:pPr>
            <a:r>
              <a:rPr sz="975">
                <a:solidFill>
                  <a:srgbClr val="5C667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E59FA0D-D895-4DF7-8A07-6D21D60494F8}"/>
              </a:ext>
            </a:extLst>
          </p:cNvPr>
          <p:cNvSpPr>
            <a:spLocks noGrp="1"/>
          </p:cNvSpPr>
          <p:nvPr/>
        </p:nvSpPr>
        <p:spPr>
          <a:xfrm>
            <a:off x="485775" y="533400"/>
            <a:ext cx="76200" cy="76200"/>
          </a:xfrm>
          <a:prstGeom prst="ellipse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59FF5DD-9C42-4C31-807D-2223C36DFF05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2000250" cy="228600"/>
          </a:xfrm>
          <a:prstGeom prst="rect">
            <a:avLst/>
          </a:prstGeom>
          <a:noFill/>
        </p:spPr>
        <p:txBody>
          <a:bodyPr lIns="76200" tIns="38100" rIns="76200" bIns="38100" anchor="ctr"/>
          <a:lstStyle/>
          <a:p>
            <a:pPr algn="l">
              <a:defRPr sz="900">
                <a:solidFill>
                  <a:srgbClr val="B83D3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83D34"/>
                </a:solidFill>
                <a:latin typeface="Segoe UI"/>
                <a:ea typeface="Segoe UI"/>
                <a:cs typeface="Segoe UI"/>
              </a:rPr>
              <a:t>MARKET SCALE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2DC1C1-0B95-43C7-921B-A693988D000F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9906000" cy="4953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4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网络文学已是全国级内容消费市场，天然产生海量行为数据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348498E2-7731-4BD0-941F-83D5E6EBF315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11077575" cy="9525"/>
          </a:xfrm>
          <a:prstGeom prst="line">
            <a:avLst/>
          </a:prstGeom>
          <a:noFill/>
          <a:ln w="9525">
            <a:solidFill>
              <a:srgbClr val="D8D1C4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A83A94-B178-40E1-89B6-2D4C3D2C92C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2381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37EB66-D7ED-4F0A-95FD-D472EBD2D24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57150" cy="990600"/>
          </a:xfrm>
          <a:prstGeom prst="rect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6B5DDE-22C2-459D-A844-FFDDF8863A4B}"/>
              </a:ext>
            </a:extLst>
          </p:cNvPr>
          <p:cNvSpPr>
            <a:spLocks noGrp="1"/>
          </p:cNvSpPr>
          <p:nvPr/>
        </p:nvSpPr>
        <p:spPr>
          <a:xfrm>
            <a:off x="800100" y="1771650"/>
            <a:ext cx="2076450" cy="3238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250">
                <a:solidFill>
                  <a:srgbClr val="E85D4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E85D4F"/>
                </a:solidFill>
                <a:latin typeface="Segoe UI"/>
                <a:ea typeface="Segoe UI"/>
                <a:cs typeface="Segoe UI"/>
              </a:rPr>
              <a:t>5.75亿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847C5E-2331-4288-8096-DE99207068A5}"/>
              </a:ext>
            </a:extLst>
          </p:cNvPr>
          <p:cNvSpPr>
            <a:spLocks noGrp="1"/>
          </p:cNvSpPr>
          <p:nvPr/>
        </p:nvSpPr>
        <p:spPr>
          <a:xfrm>
            <a:off x="800100" y="2114550"/>
            <a:ext cx="207645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中国网络文学用户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BD9EDD-CFDA-47CD-8A87-0657AF1CCAE5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2076450" cy="1714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2024 年用户规模，同比增长 10.58%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759DF0-96F9-401E-A54C-D30875A04F93}"/>
              </a:ext>
            </a:extLst>
          </p:cNvPr>
          <p:cNvSpPr>
            <a:spLocks noGrp="1"/>
          </p:cNvSpPr>
          <p:nvPr/>
        </p:nvSpPr>
        <p:spPr>
          <a:xfrm>
            <a:off x="3181350" y="1619250"/>
            <a:ext cx="2381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4977DD-DFEF-4910-BC1D-75F67ADC4394}"/>
              </a:ext>
            </a:extLst>
          </p:cNvPr>
          <p:cNvSpPr>
            <a:spLocks noGrp="1"/>
          </p:cNvSpPr>
          <p:nvPr/>
        </p:nvSpPr>
        <p:spPr>
          <a:xfrm>
            <a:off x="3181350" y="1619250"/>
            <a:ext cx="57150" cy="990600"/>
          </a:xfrm>
          <a:prstGeom prst="rect">
            <a:avLst/>
          </a:prstGeom>
          <a:solidFill>
            <a:srgbClr val="287D79"/>
          </a:solidFill>
          <a:ln w="0">
            <a:solidFill>
              <a:srgbClr val="287D79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20E9C5-6F84-4936-808F-719E3E826ED7}"/>
              </a:ext>
            </a:extLst>
          </p:cNvPr>
          <p:cNvSpPr>
            <a:spLocks noGrp="1"/>
          </p:cNvSpPr>
          <p:nvPr/>
        </p:nvSpPr>
        <p:spPr>
          <a:xfrm>
            <a:off x="3371850" y="1771650"/>
            <a:ext cx="2076450" cy="3238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250">
                <a:solidFill>
                  <a:srgbClr val="287D7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87D79"/>
                </a:solidFill>
                <a:latin typeface="Segoe UI"/>
                <a:ea typeface="Segoe UI"/>
                <a:cs typeface="Segoe UI"/>
              </a:rPr>
              <a:t>3119.8万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F86F1B7-D6DE-4A4D-8E99-8059FFB88529}"/>
              </a:ext>
            </a:extLst>
          </p:cNvPr>
          <p:cNvSpPr>
            <a:spLocks noGrp="1"/>
          </p:cNvSpPr>
          <p:nvPr/>
        </p:nvSpPr>
        <p:spPr>
          <a:xfrm>
            <a:off x="3371850" y="2114550"/>
            <a:ext cx="207645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网络文学作者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070C760-DF91-410A-94DF-B1554F8028EF}"/>
              </a:ext>
            </a:extLst>
          </p:cNvPr>
          <p:cNvSpPr>
            <a:spLocks noGrp="1"/>
          </p:cNvSpPr>
          <p:nvPr/>
        </p:nvSpPr>
        <p:spPr>
          <a:xfrm>
            <a:off x="3371850" y="2362200"/>
            <a:ext cx="2076450" cy="1714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2024 年作者规模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28E4573-6D28-44B2-8D48-295C023B9653}"/>
              </a:ext>
            </a:extLst>
          </p:cNvPr>
          <p:cNvSpPr>
            <a:spLocks noGrp="1"/>
          </p:cNvSpPr>
          <p:nvPr/>
        </p:nvSpPr>
        <p:spPr>
          <a:xfrm>
            <a:off x="5753100" y="1619250"/>
            <a:ext cx="2381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0CE44DE-CC0A-4599-86DA-F126883B2E7A}"/>
              </a:ext>
            </a:extLst>
          </p:cNvPr>
          <p:cNvSpPr>
            <a:spLocks noGrp="1"/>
          </p:cNvSpPr>
          <p:nvPr/>
        </p:nvSpPr>
        <p:spPr>
          <a:xfrm>
            <a:off x="5753100" y="1619250"/>
            <a:ext cx="57150" cy="990600"/>
          </a:xfrm>
          <a:prstGeom prst="rect">
            <a:avLst/>
          </a:prstGeom>
          <a:solidFill>
            <a:srgbClr val="315C97"/>
          </a:solidFill>
          <a:ln w="0">
            <a:solidFill>
              <a:srgbClr val="315C97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5BD586B-C0A4-40AF-9502-F28620DD2E81}"/>
              </a:ext>
            </a:extLst>
          </p:cNvPr>
          <p:cNvSpPr>
            <a:spLocks noGrp="1"/>
          </p:cNvSpPr>
          <p:nvPr/>
        </p:nvSpPr>
        <p:spPr>
          <a:xfrm>
            <a:off x="5943600" y="1771650"/>
            <a:ext cx="2076450" cy="3238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250">
                <a:solidFill>
                  <a:srgbClr val="315C97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C97"/>
                </a:solidFill>
                <a:latin typeface="Segoe UI"/>
                <a:ea typeface="Segoe UI"/>
                <a:cs typeface="Segoe UI"/>
              </a:rPr>
              <a:t>4165.1万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5206407-B897-4AAB-86F8-7FB0F602332B}"/>
              </a:ext>
            </a:extLst>
          </p:cNvPr>
          <p:cNvSpPr>
            <a:spLocks noGrp="1"/>
          </p:cNvSpPr>
          <p:nvPr/>
        </p:nvSpPr>
        <p:spPr>
          <a:xfrm>
            <a:off x="5943600" y="2114550"/>
            <a:ext cx="207645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网络文学作品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F8C1FBC-E741-4A86-8D12-BED1731B6489}"/>
              </a:ext>
            </a:extLst>
          </p:cNvPr>
          <p:cNvSpPr>
            <a:spLocks noGrp="1"/>
          </p:cNvSpPr>
          <p:nvPr/>
        </p:nvSpPr>
        <p:spPr>
          <a:xfrm>
            <a:off x="5943600" y="2362200"/>
            <a:ext cx="2076450" cy="1714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2024 年作品规模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254F65F-DEF1-48BA-A5E4-6034B905151B}"/>
              </a:ext>
            </a:extLst>
          </p:cNvPr>
          <p:cNvSpPr>
            <a:spLocks noGrp="1"/>
          </p:cNvSpPr>
          <p:nvPr/>
        </p:nvSpPr>
        <p:spPr>
          <a:xfrm>
            <a:off x="8324850" y="1619250"/>
            <a:ext cx="2381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45B60BC-D02A-4DEA-B20E-F2303EB9C555}"/>
              </a:ext>
            </a:extLst>
          </p:cNvPr>
          <p:cNvSpPr>
            <a:spLocks noGrp="1"/>
          </p:cNvSpPr>
          <p:nvPr/>
        </p:nvSpPr>
        <p:spPr>
          <a:xfrm>
            <a:off x="8324850" y="1619250"/>
            <a:ext cx="57150" cy="990600"/>
          </a:xfrm>
          <a:prstGeom prst="rect">
            <a:avLst/>
          </a:prstGeom>
          <a:solidFill>
            <a:srgbClr val="B2832F"/>
          </a:solidFill>
          <a:ln w="0">
            <a:solidFill>
              <a:srgbClr val="B2832F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1D7833-A081-4786-924E-32D8422113E4}"/>
              </a:ext>
            </a:extLst>
          </p:cNvPr>
          <p:cNvSpPr>
            <a:spLocks noGrp="1"/>
          </p:cNvSpPr>
          <p:nvPr/>
        </p:nvSpPr>
        <p:spPr>
          <a:xfrm>
            <a:off x="8515350" y="1771650"/>
            <a:ext cx="2076450" cy="3238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250">
                <a:solidFill>
                  <a:srgbClr val="B2832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B2832F"/>
                </a:solidFill>
                <a:latin typeface="Segoe UI"/>
                <a:ea typeface="Segoe UI"/>
                <a:cs typeface="Segoe UI"/>
              </a:rPr>
              <a:t>430.6亿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311F635-5689-48BE-9D1B-8478505AED2F}"/>
              </a:ext>
            </a:extLst>
          </p:cNvPr>
          <p:cNvSpPr>
            <a:spLocks noGrp="1"/>
          </p:cNvSpPr>
          <p:nvPr/>
        </p:nvSpPr>
        <p:spPr>
          <a:xfrm>
            <a:off x="8515350" y="2114550"/>
            <a:ext cx="207645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阅读市场规模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E5A2A09-0127-45D2-8332-A95BA25B0A69}"/>
              </a:ext>
            </a:extLst>
          </p:cNvPr>
          <p:cNvSpPr>
            <a:spLocks noGrp="1"/>
          </p:cNvSpPr>
          <p:nvPr/>
        </p:nvSpPr>
        <p:spPr>
          <a:xfrm>
            <a:off x="8515350" y="2362200"/>
            <a:ext cx="2076450" cy="1714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单位：人民币，2024 年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651422F-9C83-48C5-B171-668E922A9289}"/>
              </a:ext>
            </a:extLst>
          </p:cNvPr>
          <p:cNvSpPr>
            <a:spLocks noGrp="1"/>
          </p:cNvSpPr>
          <p:nvPr/>
        </p:nvSpPr>
        <p:spPr>
          <a:xfrm>
            <a:off x="666750" y="3086100"/>
            <a:ext cx="7810500" cy="2857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6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产业价值不仅来自阅读付费/免费广告，也来自 IP 改编与版权运营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0F38191-D201-4675-861D-AF54F098C989}"/>
              </a:ext>
            </a:extLst>
          </p:cNvPr>
          <p:cNvSpPr>
            <a:spLocks noGrp="1"/>
          </p:cNvSpPr>
          <p:nvPr/>
        </p:nvSpPr>
        <p:spPr>
          <a:xfrm>
            <a:off x="914400" y="3686175"/>
            <a:ext cx="17145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阅读市场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D319803-FD9D-4625-8F8F-3F8B34535029}"/>
              </a:ext>
            </a:extLst>
          </p:cNvPr>
          <p:cNvSpPr>
            <a:spLocks noGrp="1"/>
          </p:cNvSpPr>
          <p:nvPr/>
        </p:nvSpPr>
        <p:spPr>
          <a:xfrm>
            <a:off x="2571750" y="3714750"/>
            <a:ext cx="3429000" cy="152400"/>
          </a:xfrm>
          <a:prstGeom prst="rect">
            <a:avLst/>
          </a:prstGeom>
          <a:solidFill>
            <a:srgbClr val="EAE3D7"/>
          </a:solidFill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25ED175-FA49-41B0-A3C0-9BAA24064AE4}"/>
              </a:ext>
            </a:extLst>
          </p:cNvPr>
          <p:cNvSpPr>
            <a:spLocks noGrp="1"/>
          </p:cNvSpPr>
          <p:nvPr/>
        </p:nvSpPr>
        <p:spPr>
          <a:xfrm>
            <a:off x="2571750" y="3714750"/>
            <a:ext cx="493776" cy="152400"/>
          </a:xfrm>
          <a:prstGeom prst="rect">
            <a:avLst/>
          </a:prstGeom>
          <a:solidFill>
            <a:srgbClr val="B2832F"/>
          </a:solidFill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C1351A1-B982-47FB-A415-2D2938293228}"/>
              </a:ext>
            </a:extLst>
          </p:cNvPr>
          <p:cNvSpPr>
            <a:spLocks noGrp="1"/>
          </p:cNvSpPr>
          <p:nvPr/>
        </p:nvSpPr>
        <p:spPr>
          <a:xfrm>
            <a:off x="6096000" y="3667125"/>
            <a:ext cx="85725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75">
                <a:solidFill>
                  <a:srgbClr val="B2832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B2832F"/>
                </a:solidFill>
                <a:latin typeface="Segoe UI"/>
                <a:ea typeface="Segoe UI"/>
                <a:cs typeface="Segoe UI"/>
              </a:rPr>
              <a:t>430.6 亿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CD1CE23-B436-4557-B6FA-151AF2C42474}"/>
              </a:ext>
            </a:extLst>
          </p:cNvPr>
          <p:cNvSpPr>
            <a:spLocks noGrp="1"/>
          </p:cNvSpPr>
          <p:nvPr/>
        </p:nvSpPr>
        <p:spPr>
          <a:xfrm>
            <a:off x="914400" y="4143375"/>
            <a:ext cx="17145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IP 市场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46F8CD3-7756-4908-9AF9-ECA656BD4DE2}"/>
              </a:ext>
            </a:extLst>
          </p:cNvPr>
          <p:cNvSpPr>
            <a:spLocks noGrp="1"/>
          </p:cNvSpPr>
          <p:nvPr/>
        </p:nvSpPr>
        <p:spPr>
          <a:xfrm>
            <a:off x="2571750" y="4171950"/>
            <a:ext cx="3429000" cy="152400"/>
          </a:xfrm>
          <a:prstGeom prst="rect">
            <a:avLst/>
          </a:prstGeom>
          <a:solidFill>
            <a:srgbClr val="EAE3D7"/>
          </a:solidFill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A6A82CF-CD1E-421E-9BAE-FF059C12DF1A}"/>
              </a:ext>
            </a:extLst>
          </p:cNvPr>
          <p:cNvSpPr>
            <a:spLocks noGrp="1"/>
          </p:cNvSpPr>
          <p:nvPr/>
        </p:nvSpPr>
        <p:spPr>
          <a:xfrm>
            <a:off x="2571750" y="4171950"/>
            <a:ext cx="3429000" cy="152400"/>
          </a:xfrm>
          <a:prstGeom prst="rect">
            <a:avLst/>
          </a:prstGeom>
          <a:solidFill>
            <a:srgbClr val="E85D4F"/>
          </a:solidFill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11DD9DC-C472-457E-9218-59F130E30CB4}"/>
              </a:ext>
            </a:extLst>
          </p:cNvPr>
          <p:cNvSpPr>
            <a:spLocks noGrp="1"/>
          </p:cNvSpPr>
          <p:nvPr/>
        </p:nvSpPr>
        <p:spPr>
          <a:xfrm>
            <a:off x="6096000" y="4124325"/>
            <a:ext cx="85725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75">
                <a:solidFill>
                  <a:srgbClr val="E85D4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E85D4F"/>
                </a:solidFill>
                <a:latin typeface="Segoe UI"/>
                <a:ea typeface="Segoe UI"/>
                <a:cs typeface="Segoe UI"/>
              </a:rPr>
              <a:t>2985.6 亿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C76D215-8EF2-484A-AE59-9F9782F3723D}"/>
              </a:ext>
            </a:extLst>
          </p:cNvPr>
          <p:cNvSpPr>
            <a:spLocks noGrp="1"/>
          </p:cNvSpPr>
          <p:nvPr/>
        </p:nvSpPr>
        <p:spPr>
          <a:xfrm>
            <a:off x="7286625" y="3429000"/>
            <a:ext cx="3429000" cy="16192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52400" tIns="133350" rIns="152400" bIns="13335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对系统的含义</a:t>
            </a:r>
          </a:p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- 大量用户阅读行为会形成点击、曝光、停留、追更等日志。</a:t>
            </a:r>
          </a:p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- 大量作品、章节、评论、广告曝光需要在线业务系统快速响应。</a:t>
            </a:r>
          </a:p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- 运营、推荐、广告与版权决策依赖长期历史数据分析。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DE8457C-07CA-42AB-B728-5D29299DC584}"/>
              </a:ext>
            </a:extLst>
          </p:cNvPr>
          <p:cNvSpPr>
            <a:spLocks noGrp="1"/>
          </p:cNvSpPr>
          <p:nvPr/>
        </p:nvSpPr>
        <p:spPr>
          <a:xfrm>
            <a:off x="914400" y="4953000"/>
            <a:ext cx="5334000" cy="209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825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注：不同指标单位不同，图中阅读市场与 IP 市场仅表达规模关系。</a:t>
            </a:r>
          </a:p>
        </p:txBody>
      </p:sp>
    </p:spTree>
    <p:extLst>
      <p:ext uri="{BB962C8B-B14F-4D97-AF65-F5344CB8AC3E}">
        <p14:creationId xmlns:p14="http://schemas.microsoft.com/office/powerpoint/2010/main" val="1618248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57454FD1-70B5-452B-8379-FA87A923C1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58B728-8715-4A7C-B384-D3C6992D56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85D4F"/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2FF244-9831-454B-BD2A-F9274518F171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93345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Sources: Xinhua, 2024-12-12; Jiemian, 2024-12-11; 21CBR, 2024-12-16; Fanqie official site.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A6EF84-693A-4D67-A518-12B5CF151C27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609600" cy="2667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r">
              <a:defRPr sz="975">
                <a:solidFill>
                  <a:srgbClr val="5C6670"/>
                </a:solidFill>
                <a:latin typeface="Segoe UI"/>
                <a:ea typeface="Segoe UI"/>
                <a:cs typeface="Segoe UI"/>
              </a:defRPr>
            </a:pPr>
            <a:r>
              <a:rPr sz="975">
                <a:solidFill>
                  <a:srgbClr val="5C667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4DE7232-287E-41B9-BCCF-19930D6B7BD1}"/>
              </a:ext>
            </a:extLst>
          </p:cNvPr>
          <p:cNvSpPr>
            <a:spLocks noGrp="1"/>
          </p:cNvSpPr>
          <p:nvPr/>
        </p:nvSpPr>
        <p:spPr>
          <a:xfrm>
            <a:off x="485775" y="533400"/>
            <a:ext cx="76200" cy="76200"/>
          </a:xfrm>
          <a:prstGeom prst="ellipse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965AAE-81F0-4017-95D6-3053D8D26DE3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2000250" cy="228600"/>
          </a:xfrm>
          <a:prstGeom prst="rect">
            <a:avLst/>
          </a:prstGeom>
          <a:noFill/>
        </p:spPr>
        <p:txBody>
          <a:bodyPr lIns="76200" tIns="38100" rIns="76200" bIns="38100" anchor="ctr"/>
          <a:lstStyle/>
          <a:p>
            <a:pPr algn="l">
              <a:defRPr sz="900">
                <a:solidFill>
                  <a:srgbClr val="B83D3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83D34"/>
                </a:solidFill>
                <a:latin typeface="Segoe UI"/>
                <a:ea typeface="Segoe UI"/>
                <a:cs typeface="Segoe UI"/>
              </a:rPr>
              <a:t>PUBLIC SIGNALS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464DCF-AD60-42B7-B176-C2A812A7AB6E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9906000" cy="4953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4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番茄小说公开数据体现了“用户-作品-作者-广告”的平台型业务特征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3E600FEA-A209-483C-A38A-047D3D1FB005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11077575" cy="9525"/>
          </a:xfrm>
          <a:prstGeom prst="line">
            <a:avLst/>
          </a:prstGeom>
          <a:noFill/>
          <a:ln w="9525">
            <a:solidFill>
              <a:srgbClr val="D8D1C4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0961AE-AEB8-4FA6-B838-C44A5C636C80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3048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57DCD5-C95A-4A4B-8682-CABE5B4CAB97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57150" cy="990600"/>
          </a:xfrm>
          <a:prstGeom prst="rect">
            <a:avLst/>
          </a:prstGeom>
          <a:solidFill>
            <a:srgbClr val="287D79"/>
          </a:solidFill>
          <a:ln w="0">
            <a:solidFill>
              <a:srgbClr val="287D79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9054ED-8145-4BD2-B482-238A26454A31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2743200" cy="3238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250">
                <a:solidFill>
                  <a:srgbClr val="287D7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87D79"/>
                </a:solidFill>
                <a:latin typeface="Segoe UI"/>
                <a:ea typeface="Segoe UI"/>
                <a:cs typeface="Segoe UI"/>
              </a:rPr>
              <a:t>&gt;60万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503816-4C27-4FDB-AA32-BDCD43EAA47B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27432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签约作家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9F036D0-ABD3-4302-B1F6-AE8EA27886FB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2743200" cy="1714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年度榜单报道引用官方数据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9775B0-A41C-441C-9CD8-1CE6D408299B}"/>
              </a:ext>
            </a:extLst>
          </p:cNvPr>
          <p:cNvSpPr>
            <a:spLocks noGrp="1"/>
          </p:cNvSpPr>
          <p:nvPr/>
        </p:nvSpPr>
        <p:spPr>
          <a:xfrm>
            <a:off x="4143375" y="1638300"/>
            <a:ext cx="3048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88C00A-9C9D-4CCA-BAA1-6C6979BB54CF}"/>
              </a:ext>
            </a:extLst>
          </p:cNvPr>
          <p:cNvSpPr>
            <a:spLocks noGrp="1"/>
          </p:cNvSpPr>
          <p:nvPr/>
        </p:nvSpPr>
        <p:spPr>
          <a:xfrm>
            <a:off x="4143375" y="1638300"/>
            <a:ext cx="57150" cy="990600"/>
          </a:xfrm>
          <a:prstGeom prst="rect">
            <a:avLst/>
          </a:prstGeom>
          <a:solidFill>
            <a:srgbClr val="315C97"/>
          </a:solidFill>
          <a:ln w="0">
            <a:solidFill>
              <a:srgbClr val="315C97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1E0A46F-41F5-4196-ACDA-7B36A1923D93}"/>
              </a:ext>
            </a:extLst>
          </p:cNvPr>
          <p:cNvSpPr>
            <a:spLocks noGrp="1"/>
          </p:cNvSpPr>
          <p:nvPr/>
        </p:nvSpPr>
        <p:spPr>
          <a:xfrm>
            <a:off x="4333875" y="1790700"/>
            <a:ext cx="2743200" cy="3238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250">
                <a:solidFill>
                  <a:srgbClr val="315C97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C97"/>
                </a:solidFill>
                <a:latin typeface="Segoe UI"/>
                <a:ea typeface="Segoe UI"/>
                <a:cs typeface="Segoe UI"/>
              </a:rPr>
              <a:t>&gt;50万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D8DF25D-48B6-4FA0-B05A-637BAF6F8723}"/>
              </a:ext>
            </a:extLst>
          </p:cNvPr>
          <p:cNvSpPr>
            <a:spLocks noGrp="1"/>
          </p:cNvSpPr>
          <p:nvPr/>
        </p:nvSpPr>
        <p:spPr>
          <a:xfrm>
            <a:off x="4333875" y="2133600"/>
            <a:ext cx="27432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作者获得收入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9AEBDCC-D97C-49D1-A568-CA92C2064445}"/>
              </a:ext>
            </a:extLst>
          </p:cNvPr>
          <p:cNvSpPr>
            <a:spLocks noGrp="1"/>
          </p:cNvSpPr>
          <p:nvPr/>
        </p:nvSpPr>
        <p:spPr>
          <a:xfrm>
            <a:off x="4333875" y="2381250"/>
            <a:ext cx="2743200" cy="1714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截至 2024 年 10 月公开报道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903D318-35D0-43B2-AFA1-F0CDB92CBD38}"/>
              </a:ext>
            </a:extLst>
          </p:cNvPr>
          <p:cNvSpPr>
            <a:spLocks noGrp="1"/>
          </p:cNvSpPr>
          <p:nvPr/>
        </p:nvSpPr>
        <p:spPr>
          <a:xfrm>
            <a:off x="7620000" y="1638300"/>
            <a:ext cx="3048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EC6716B-D248-4126-A87B-84B727AFFA05}"/>
              </a:ext>
            </a:extLst>
          </p:cNvPr>
          <p:cNvSpPr>
            <a:spLocks noGrp="1"/>
          </p:cNvSpPr>
          <p:nvPr/>
        </p:nvSpPr>
        <p:spPr>
          <a:xfrm>
            <a:off x="7620000" y="1638300"/>
            <a:ext cx="57150" cy="990600"/>
          </a:xfrm>
          <a:prstGeom prst="rect">
            <a:avLst/>
          </a:prstGeom>
          <a:solidFill>
            <a:srgbClr val="B2832F"/>
          </a:solidFill>
          <a:ln w="0">
            <a:solidFill>
              <a:srgbClr val="B2832F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B37F219-AECB-4398-901E-91722ABEFDCF}"/>
              </a:ext>
            </a:extLst>
          </p:cNvPr>
          <p:cNvSpPr>
            <a:spLocks noGrp="1"/>
          </p:cNvSpPr>
          <p:nvPr/>
        </p:nvSpPr>
        <p:spPr>
          <a:xfrm>
            <a:off x="7810500" y="1790700"/>
            <a:ext cx="2743200" cy="3238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250">
                <a:solidFill>
                  <a:srgbClr val="B2832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B2832F"/>
                </a:solidFill>
                <a:latin typeface="Segoe UI"/>
                <a:ea typeface="Segoe UI"/>
                <a:cs typeface="Segoe UI"/>
              </a:rPr>
              <a:t>1.2亿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7DA38B3-E098-43AC-AB7D-E122AB9DE07B}"/>
              </a:ext>
            </a:extLst>
          </p:cNvPr>
          <p:cNvSpPr>
            <a:spLocks noGrp="1"/>
          </p:cNvSpPr>
          <p:nvPr/>
        </p:nvSpPr>
        <p:spPr>
          <a:xfrm>
            <a:off x="7810500" y="2133600"/>
            <a:ext cx="27432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2024 作者福利奖金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BD45163-A7C7-4452-A3B5-C0497C98DE55}"/>
              </a:ext>
            </a:extLst>
          </p:cNvPr>
          <p:cNvSpPr>
            <a:spLocks noGrp="1"/>
          </p:cNvSpPr>
          <p:nvPr/>
        </p:nvSpPr>
        <p:spPr>
          <a:xfrm>
            <a:off x="7810500" y="2381250"/>
            <a:ext cx="2743200" cy="1714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单位：人民币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F5D8025-DCB5-4D6F-BAB0-12C58846EC29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3048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8BDC37D-9DC1-4189-BCAF-6A1297F7B2FC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57150" cy="990600"/>
          </a:xfrm>
          <a:prstGeom prst="rect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20D30E7-435F-40B7-975C-3B4F2EE99FCE}"/>
              </a:ext>
            </a:extLst>
          </p:cNvPr>
          <p:cNvSpPr>
            <a:spLocks noGrp="1"/>
          </p:cNvSpPr>
          <p:nvPr/>
        </p:nvSpPr>
        <p:spPr>
          <a:xfrm>
            <a:off x="857250" y="3219450"/>
            <a:ext cx="2743200" cy="3238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250">
                <a:solidFill>
                  <a:srgbClr val="E85D4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E85D4F"/>
                </a:solidFill>
                <a:latin typeface="Segoe UI"/>
                <a:ea typeface="Segoe UI"/>
                <a:cs typeface="Segoe UI"/>
              </a:rPr>
              <a:t>2亿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BCB3EF1-69C2-4848-AFC3-65985EA54487}"/>
              </a:ext>
            </a:extLst>
          </p:cNvPr>
          <p:cNvSpPr>
            <a:spLocks noGrp="1"/>
          </p:cNvSpPr>
          <p:nvPr/>
        </p:nvSpPr>
        <p:spPr>
          <a:xfrm>
            <a:off x="857250" y="3562350"/>
            <a:ext cx="27432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2025 支持计划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5723CE3-1CAC-454D-B8DE-EFBB25236D65}"/>
              </a:ext>
            </a:extLst>
          </p:cNvPr>
          <p:cNvSpPr>
            <a:spLocks noGrp="1"/>
          </p:cNvSpPr>
          <p:nvPr/>
        </p:nvSpPr>
        <p:spPr>
          <a:xfrm>
            <a:off x="857250" y="3810000"/>
            <a:ext cx="2743200" cy="1714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单位：人民币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813B6B-8F98-4013-AB21-CDCE7AF9CB96}"/>
              </a:ext>
            </a:extLst>
          </p:cNvPr>
          <p:cNvSpPr>
            <a:spLocks noGrp="1"/>
          </p:cNvSpPr>
          <p:nvPr/>
        </p:nvSpPr>
        <p:spPr>
          <a:xfrm>
            <a:off x="4143375" y="3067050"/>
            <a:ext cx="3048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14BD6D7-D046-4984-8A28-0C840B5EBA2A}"/>
              </a:ext>
            </a:extLst>
          </p:cNvPr>
          <p:cNvSpPr>
            <a:spLocks noGrp="1"/>
          </p:cNvSpPr>
          <p:nvPr/>
        </p:nvSpPr>
        <p:spPr>
          <a:xfrm>
            <a:off x="4143375" y="3067050"/>
            <a:ext cx="57150" cy="990600"/>
          </a:xfrm>
          <a:prstGeom prst="rect">
            <a:avLst/>
          </a:prstGeom>
          <a:solidFill>
            <a:srgbClr val="287D79"/>
          </a:solidFill>
          <a:ln w="0">
            <a:solidFill>
              <a:srgbClr val="287D79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A9EA366-63BE-4DAD-993D-C4546B46EA6C}"/>
              </a:ext>
            </a:extLst>
          </p:cNvPr>
          <p:cNvSpPr>
            <a:spLocks noGrp="1"/>
          </p:cNvSpPr>
          <p:nvPr/>
        </p:nvSpPr>
        <p:spPr>
          <a:xfrm>
            <a:off x="4333875" y="3219450"/>
            <a:ext cx="2743200" cy="3238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250">
                <a:solidFill>
                  <a:srgbClr val="287D7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87D79"/>
                </a:solidFill>
                <a:latin typeface="Segoe UI"/>
                <a:ea typeface="Segoe UI"/>
                <a:cs typeface="Segoe UI"/>
              </a:rPr>
              <a:t>近100万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1D31F28-0588-46D5-807A-A1B5CEEB85CA}"/>
              </a:ext>
            </a:extLst>
          </p:cNvPr>
          <p:cNvSpPr>
            <a:spLocks noGrp="1"/>
          </p:cNvSpPr>
          <p:nvPr/>
        </p:nvSpPr>
        <p:spPr>
          <a:xfrm>
            <a:off x="4333875" y="3562350"/>
            <a:ext cx="27432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年度榜单投票用户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2C4CF5C-E7F3-4193-B5E3-95C84CC9FECC}"/>
              </a:ext>
            </a:extLst>
          </p:cNvPr>
          <p:cNvSpPr>
            <a:spLocks noGrp="1"/>
          </p:cNvSpPr>
          <p:nvPr/>
        </p:nvSpPr>
        <p:spPr>
          <a:xfrm>
            <a:off x="4333875" y="3810000"/>
            <a:ext cx="2743200" cy="1714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用户参与内容评价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97A010D-2A8B-4427-A5D2-FBC2921BEBC9}"/>
              </a:ext>
            </a:extLst>
          </p:cNvPr>
          <p:cNvSpPr>
            <a:spLocks noGrp="1"/>
          </p:cNvSpPr>
          <p:nvPr/>
        </p:nvSpPr>
        <p:spPr>
          <a:xfrm>
            <a:off x="7620000" y="3067050"/>
            <a:ext cx="3048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5183683-7388-4762-8140-078E8D7E02F0}"/>
              </a:ext>
            </a:extLst>
          </p:cNvPr>
          <p:cNvSpPr>
            <a:spLocks noGrp="1"/>
          </p:cNvSpPr>
          <p:nvPr/>
        </p:nvSpPr>
        <p:spPr>
          <a:xfrm>
            <a:off x="7620000" y="3067050"/>
            <a:ext cx="57150" cy="990600"/>
          </a:xfrm>
          <a:prstGeom prst="rect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893F65E-CB5E-447C-915A-DF68BC6C2B76}"/>
              </a:ext>
            </a:extLst>
          </p:cNvPr>
          <p:cNvSpPr>
            <a:spLocks noGrp="1"/>
          </p:cNvSpPr>
          <p:nvPr/>
        </p:nvSpPr>
        <p:spPr>
          <a:xfrm>
            <a:off x="7810500" y="3219450"/>
            <a:ext cx="2743200" cy="3238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250">
                <a:solidFill>
                  <a:srgbClr val="E85D4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E85D4F"/>
                </a:solidFill>
                <a:latin typeface="Segoe UI"/>
                <a:ea typeface="Segoe UI"/>
                <a:cs typeface="Segoe UI"/>
              </a:rPr>
              <a:t>2.2亿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B09D45B-F54C-404D-85CA-8CA467B1F5B5}"/>
              </a:ext>
            </a:extLst>
          </p:cNvPr>
          <p:cNvSpPr>
            <a:spLocks noGrp="1"/>
          </p:cNvSpPr>
          <p:nvPr/>
        </p:nvSpPr>
        <p:spPr>
          <a:xfrm>
            <a:off x="7810500" y="3562350"/>
            <a:ext cx="27432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2024Q3 平均 MAU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04E74A4-235E-41B5-A066-81A996EB747E}"/>
              </a:ext>
            </a:extLst>
          </p:cNvPr>
          <p:cNvSpPr>
            <a:spLocks noGrp="1"/>
          </p:cNvSpPr>
          <p:nvPr/>
        </p:nvSpPr>
        <p:spPr>
          <a:xfrm>
            <a:off x="7810500" y="3810000"/>
            <a:ext cx="2743200" cy="1714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第三方媒体报道，作规模参考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355FF45-E137-4A5A-BF02-D31468D602FE}"/>
              </a:ext>
            </a:extLst>
          </p:cNvPr>
          <p:cNvSpPr>
            <a:spLocks noGrp="1"/>
          </p:cNvSpPr>
          <p:nvPr/>
        </p:nvSpPr>
        <p:spPr>
          <a:xfrm>
            <a:off x="876300" y="4810125"/>
            <a:ext cx="10325100" cy="91440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90500" tIns="152400" rIns="190500" bIns="152400" anchor="t"/>
          <a:lstStyle/>
          <a:p>
            <a:pPr algn="l">
              <a:defRPr sz="142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业务观察</a:t>
            </a:r>
          </a:p>
          <a:p>
            <a:pPr algn="l">
              <a:defRPr sz="142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番茄小说不是单一数据库应用，而是面向全国用户的内容消费平台。它的 OLTP 子系统处理阅读、书架、评论、搜索、作者更新、广告展示等实时操作；大数据平台则分析用户偏好、作品表现、广告效果和风控风险。</a:t>
            </a:r>
          </a:p>
        </p:txBody>
      </p:sp>
    </p:spTree>
    <p:extLst>
      <p:ext uri="{BB962C8B-B14F-4D97-AF65-F5344CB8AC3E}">
        <p14:creationId xmlns:p14="http://schemas.microsoft.com/office/powerpoint/2010/main" val="9245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C9B0A7FF-6B41-4D3D-938B-4F7BA0F962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84CFFE-D84A-449D-95D9-C53059F2B6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85D4F"/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226BF2-78CB-40DE-A082-7D3DFE41D339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93345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Source: Product function analysis based on Fanqie official site and common online-reading platform workflow.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A5A77C-E800-480D-BA0C-E85D8BBE5B05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609600" cy="2667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r">
              <a:defRPr sz="975">
                <a:solidFill>
                  <a:srgbClr val="5C6670"/>
                </a:solidFill>
                <a:latin typeface="Segoe UI"/>
                <a:ea typeface="Segoe UI"/>
                <a:cs typeface="Segoe UI"/>
              </a:defRPr>
            </a:pPr>
            <a:r>
              <a:rPr sz="975">
                <a:solidFill>
                  <a:srgbClr val="5C6670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E351877-39D9-44FF-8559-86CEDEC051C5}"/>
              </a:ext>
            </a:extLst>
          </p:cNvPr>
          <p:cNvSpPr>
            <a:spLocks noGrp="1"/>
          </p:cNvSpPr>
          <p:nvPr/>
        </p:nvSpPr>
        <p:spPr>
          <a:xfrm>
            <a:off x="485775" y="533400"/>
            <a:ext cx="76200" cy="76200"/>
          </a:xfrm>
          <a:prstGeom prst="ellipse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55DF5F-2842-4A84-B264-50092FF2EF74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2000250" cy="228600"/>
          </a:xfrm>
          <a:prstGeom prst="rect">
            <a:avLst/>
          </a:prstGeom>
          <a:noFill/>
        </p:spPr>
        <p:txBody>
          <a:bodyPr lIns="76200" tIns="38100" rIns="76200" bIns="38100" anchor="ctr"/>
          <a:lstStyle/>
          <a:p>
            <a:pPr algn="l">
              <a:defRPr sz="900">
                <a:solidFill>
                  <a:srgbClr val="B83D3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83D34"/>
                </a:solidFill>
                <a:latin typeface="Segoe UI"/>
                <a:ea typeface="Segoe UI"/>
                <a:cs typeface="Segoe UI"/>
              </a:rPr>
              <a:t>BUSINESS FLOW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846901-72C8-43ED-886A-1DA0B2E577CC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9906000" cy="4953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4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在线阅读业务的每一次操作都会同时产生事务数据和行为日志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77BD3F02-5F4B-4A64-AA4B-12FEC310D499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11077575" cy="9525"/>
          </a:xfrm>
          <a:prstGeom prst="line">
            <a:avLst/>
          </a:prstGeom>
          <a:noFill/>
          <a:ln w="9525">
            <a:solidFill>
              <a:srgbClr val="D8D1C4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5D7BFB-13FE-4EA7-B4C9-8E7B8E167088}"/>
              </a:ext>
            </a:extLst>
          </p:cNvPr>
          <p:cNvSpPr>
            <a:spLocks noGrp="1"/>
          </p:cNvSpPr>
          <p:nvPr/>
        </p:nvSpPr>
        <p:spPr>
          <a:xfrm>
            <a:off x="704850" y="1962150"/>
            <a:ext cx="1733550" cy="12001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25C5BF-CCFE-4380-98BF-FF67575D4F0B}"/>
              </a:ext>
            </a:extLst>
          </p:cNvPr>
          <p:cNvSpPr>
            <a:spLocks noGrp="1"/>
          </p:cNvSpPr>
          <p:nvPr/>
        </p:nvSpPr>
        <p:spPr>
          <a:xfrm>
            <a:off x="704850" y="1962150"/>
            <a:ext cx="1733550" cy="47625"/>
          </a:xfrm>
          <a:prstGeom prst="rect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371EC6-2720-4A6D-8A05-0E8F89714DB9}"/>
              </a:ext>
            </a:extLst>
          </p:cNvPr>
          <p:cNvSpPr>
            <a:spLocks noGrp="1"/>
          </p:cNvSpPr>
          <p:nvPr/>
        </p:nvSpPr>
        <p:spPr>
          <a:xfrm>
            <a:off x="819150" y="2095500"/>
            <a:ext cx="1504950" cy="209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发现内容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0F5864-9408-4591-AD6E-9DD0B457540A}"/>
              </a:ext>
            </a:extLst>
          </p:cNvPr>
          <p:cNvSpPr>
            <a:spLocks noGrp="1"/>
          </p:cNvSpPr>
          <p:nvPr/>
        </p:nvSpPr>
        <p:spPr>
          <a:xfrm>
            <a:off x="819150" y="2352675"/>
            <a:ext cx="1504950" cy="7429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推荐流 / 榜单 / 分类</a:t>
            </a:r>
          </a:p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广告曝光 / 搜索词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D04CBBE3-1938-458E-8D74-635949FD1994}"/>
              </a:ext>
            </a:extLst>
          </p:cNvPr>
          <p:cNvSpPr>
            <a:spLocks noGrp="1"/>
          </p:cNvSpPr>
          <p:nvPr/>
        </p:nvSpPr>
        <p:spPr>
          <a:xfrm>
            <a:off x="2495550" y="2438400"/>
            <a:ext cx="381000" cy="190500"/>
          </a:xfrm>
          <a:prstGeom prst="rightArrow">
            <a:avLst/>
          </a:prstGeom>
          <a:solidFill>
            <a:srgbClr val="D8D1C4"/>
          </a:solidFill>
          <a:ln w="0">
            <a:solidFill>
              <a:srgbClr val="D8D1C4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1A5151-DB75-4234-B109-FCA012F2FACC}"/>
              </a:ext>
            </a:extLst>
          </p:cNvPr>
          <p:cNvSpPr>
            <a:spLocks noGrp="1"/>
          </p:cNvSpPr>
          <p:nvPr/>
        </p:nvSpPr>
        <p:spPr>
          <a:xfrm>
            <a:off x="2914650" y="1962150"/>
            <a:ext cx="17335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39BE5F-15E2-4FEA-8D15-E03123380457}"/>
              </a:ext>
            </a:extLst>
          </p:cNvPr>
          <p:cNvSpPr>
            <a:spLocks noGrp="1"/>
          </p:cNvSpPr>
          <p:nvPr/>
        </p:nvSpPr>
        <p:spPr>
          <a:xfrm>
            <a:off x="2914650" y="1962150"/>
            <a:ext cx="1733550" cy="47625"/>
          </a:xfrm>
          <a:prstGeom prst="rect">
            <a:avLst/>
          </a:prstGeom>
          <a:solidFill>
            <a:srgbClr val="287D79"/>
          </a:solidFill>
          <a:ln w="0">
            <a:solidFill>
              <a:srgbClr val="287D79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97172F4-2D47-44AD-8C19-18582B137D2A}"/>
              </a:ext>
            </a:extLst>
          </p:cNvPr>
          <p:cNvSpPr>
            <a:spLocks noGrp="1"/>
          </p:cNvSpPr>
          <p:nvPr/>
        </p:nvSpPr>
        <p:spPr>
          <a:xfrm>
            <a:off x="3028950" y="2095500"/>
            <a:ext cx="1504950" cy="209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进入阅读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A5B6DD5-347E-4ACF-8CB2-D0F3E0D6B461}"/>
              </a:ext>
            </a:extLst>
          </p:cNvPr>
          <p:cNvSpPr>
            <a:spLocks noGrp="1"/>
          </p:cNvSpPr>
          <p:nvPr/>
        </p:nvSpPr>
        <p:spPr>
          <a:xfrm>
            <a:off x="3028950" y="2352675"/>
            <a:ext cx="1504950" cy="7429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章节加载 / 阅读进度</a:t>
            </a:r>
          </a:p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停留时长 / 翻页行为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74DC4607-B304-4E2A-8D3A-87BAEB8E96D9}"/>
              </a:ext>
            </a:extLst>
          </p:cNvPr>
          <p:cNvSpPr>
            <a:spLocks noGrp="1"/>
          </p:cNvSpPr>
          <p:nvPr/>
        </p:nvSpPr>
        <p:spPr>
          <a:xfrm>
            <a:off x="4705350" y="2438400"/>
            <a:ext cx="381000" cy="190500"/>
          </a:xfrm>
          <a:prstGeom prst="rightArrow">
            <a:avLst/>
          </a:prstGeom>
          <a:solidFill>
            <a:srgbClr val="D8D1C4"/>
          </a:solidFill>
          <a:ln w="0">
            <a:solidFill>
              <a:srgbClr val="D8D1C4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A96BEC3-05DE-4DAB-A893-4456487B71A2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1733550" cy="12001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E9F8C3-EA45-425D-80E8-180AC7D9F271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1733550" cy="47625"/>
          </a:xfrm>
          <a:prstGeom prst="rect">
            <a:avLst/>
          </a:prstGeom>
          <a:solidFill>
            <a:srgbClr val="315C97"/>
          </a:solidFill>
          <a:ln w="0">
            <a:solidFill>
              <a:srgbClr val="315C97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1C8679-3C37-4165-8F78-FDFF912F3C25}"/>
              </a:ext>
            </a:extLst>
          </p:cNvPr>
          <p:cNvSpPr>
            <a:spLocks noGrp="1"/>
          </p:cNvSpPr>
          <p:nvPr/>
        </p:nvSpPr>
        <p:spPr>
          <a:xfrm>
            <a:off x="5238750" y="2095500"/>
            <a:ext cx="1504950" cy="209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形成偏好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C05284-EE54-4DBE-8661-3DF1C31388FE}"/>
              </a:ext>
            </a:extLst>
          </p:cNvPr>
          <p:cNvSpPr>
            <a:spLocks noGrp="1"/>
          </p:cNvSpPr>
          <p:nvPr/>
        </p:nvSpPr>
        <p:spPr>
          <a:xfrm>
            <a:off x="5238750" y="2352675"/>
            <a:ext cx="1504950" cy="7429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加入书架 / 追更</a:t>
            </a:r>
          </a:p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点赞 / 评论 / 打分</a:t>
            </a: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A2B0108D-502A-4BA5-BB44-5B2911909311}"/>
              </a:ext>
            </a:extLst>
          </p:cNvPr>
          <p:cNvSpPr>
            <a:spLocks noGrp="1"/>
          </p:cNvSpPr>
          <p:nvPr/>
        </p:nvSpPr>
        <p:spPr>
          <a:xfrm>
            <a:off x="6915150" y="2438400"/>
            <a:ext cx="381000" cy="190500"/>
          </a:xfrm>
          <a:prstGeom prst="rightArrow">
            <a:avLst/>
          </a:prstGeom>
          <a:solidFill>
            <a:srgbClr val="D8D1C4"/>
          </a:solidFill>
          <a:ln w="0">
            <a:solidFill>
              <a:srgbClr val="D8D1C4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BCB284E-B6C8-4BE0-A469-FF748F996A04}"/>
              </a:ext>
            </a:extLst>
          </p:cNvPr>
          <p:cNvSpPr>
            <a:spLocks noGrp="1"/>
          </p:cNvSpPr>
          <p:nvPr/>
        </p:nvSpPr>
        <p:spPr>
          <a:xfrm>
            <a:off x="7334250" y="1962150"/>
            <a:ext cx="17335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7EBAD1-8F14-4A39-B964-7FE1DD38399C}"/>
              </a:ext>
            </a:extLst>
          </p:cNvPr>
          <p:cNvSpPr>
            <a:spLocks noGrp="1"/>
          </p:cNvSpPr>
          <p:nvPr/>
        </p:nvSpPr>
        <p:spPr>
          <a:xfrm>
            <a:off x="7334250" y="1962150"/>
            <a:ext cx="1733550" cy="47625"/>
          </a:xfrm>
          <a:prstGeom prst="rect">
            <a:avLst/>
          </a:prstGeom>
          <a:solidFill>
            <a:srgbClr val="B2832F"/>
          </a:solidFill>
          <a:ln w="0">
            <a:solidFill>
              <a:srgbClr val="B2832F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E8748F7-A178-4F95-BA8A-45E7749632B6}"/>
              </a:ext>
            </a:extLst>
          </p:cNvPr>
          <p:cNvSpPr>
            <a:spLocks noGrp="1"/>
          </p:cNvSpPr>
          <p:nvPr/>
        </p:nvSpPr>
        <p:spPr>
          <a:xfrm>
            <a:off x="7448550" y="2095500"/>
            <a:ext cx="1504950" cy="209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内容生产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EFF8E45-8B85-4643-B4AC-280DF5923646}"/>
              </a:ext>
            </a:extLst>
          </p:cNvPr>
          <p:cNvSpPr>
            <a:spLocks noGrp="1"/>
          </p:cNvSpPr>
          <p:nvPr/>
        </p:nvSpPr>
        <p:spPr>
          <a:xfrm>
            <a:off x="7448550" y="2352675"/>
            <a:ext cx="1504950" cy="7429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作者更新章节</a:t>
            </a:r>
          </a:p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编辑审核 / 版权管理</a:t>
            </a: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AD0017A3-6355-4895-8DCC-2DC7B1410607}"/>
              </a:ext>
            </a:extLst>
          </p:cNvPr>
          <p:cNvSpPr>
            <a:spLocks noGrp="1"/>
          </p:cNvSpPr>
          <p:nvPr/>
        </p:nvSpPr>
        <p:spPr>
          <a:xfrm>
            <a:off x="9124950" y="2438400"/>
            <a:ext cx="381000" cy="190500"/>
          </a:xfrm>
          <a:prstGeom prst="rightArrow">
            <a:avLst/>
          </a:prstGeom>
          <a:solidFill>
            <a:srgbClr val="D8D1C4"/>
          </a:solidFill>
          <a:ln w="0">
            <a:solidFill>
              <a:srgbClr val="D8D1C4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4F92563-51DF-47C0-929E-3352FA8D5CE4}"/>
              </a:ext>
            </a:extLst>
          </p:cNvPr>
          <p:cNvSpPr>
            <a:spLocks noGrp="1"/>
          </p:cNvSpPr>
          <p:nvPr/>
        </p:nvSpPr>
        <p:spPr>
          <a:xfrm>
            <a:off x="9544050" y="1962150"/>
            <a:ext cx="1733550" cy="12001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5A08932-6540-4974-8755-337EEAB9C206}"/>
              </a:ext>
            </a:extLst>
          </p:cNvPr>
          <p:cNvSpPr>
            <a:spLocks noGrp="1"/>
          </p:cNvSpPr>
          <p:nvPr/>
        </p:nvSpPr>
        <p:spPr>
          <a:xfrm>
            <a:off x="9544050" y="1962150"/>
            <a:ext cx="1733550" cy="47625"/>
          </a:xfrm>
          <a:prstGeom prst="rect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5E4E255-7A3C-45B2-BE32-23AE691DD151}"/>
              </a:ext>
            </a:extLst>
          </p:cNvPr>
          <p:cNvSpPr>
            <a:spLocks noGrp="1"/>
          </p:cNvSpPr>
          <p:nvPr/>
        </p:nvSpPr>
        <p:spPr>
          <a:xfrm>
            <a:off x="9658350" y="2095500"/>
            <a:ext cx="1504950" cy="209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商业闭环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98D9395-FC1B-402A-A18D-13C20F442845}"/>
              </a:ext>
            </a:extLst>
          </p:cNvPr>
          <p:cNvSpPr>
            <a:spLocks noGrp="1"/>
          </p:cNvSpPr>
          <p:nvPr/>
        </p:nvSpPr>
        <p:spPr>
          <a:xfrm>
            <a:off x="9658350" y="2352675"/>
            <a:ext cx="1504950" cy="7429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广告展示 / 点击</a:t>
            </a:r>
          </a:p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运营活动 / IP 数据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0E1A03E-1C97-461F-879B-F530FA6ED376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3143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52400" tIns="133350" rIns="152400" bIns="13335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事务数据</a:t>
            </a:r>
          </a:p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用户表、书籍表、章节表、书架表、阅读进度表、评论表、广告曝光记录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1F569E6-5137-4708-9680-6C08CFF115CB}"/>
              </a:ext>
            </a:extLst>
          </p:cNvPr>
          <p:cNvSpPr>
            <a:spLocks noGrp="1"/>
          </p:cNvSpPr>
          <p:nvPr/>
        </p:nvSpPr>
        <p:spPr>
          <a:xfrm>
            <a:off x="4495800" y="4095750"/>
            <a:ext cx="3143250" cy="1047750"/>
          </a:xfrm>
          <a:prstGeom prst="rect">
            <a:avLst/>
          </a:prstGeom>
          <a:solidFill>
            <a:srgbClr val="E7F0EE"/>
          </a:solidFill>
          <a:ln w="9525">
            <a:solidFill>
              <a:srgbClr val="D8D1C4"/>
            </a:solidFill>
          </a:ln>
        </p:spPr>
        <p:txBody>
          <a:bodyPr lIns="152400" tIns="133350" rIns="152400" bIns="13335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行为日志</a:t>
            </a:r>
          </a:p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曝光日志、点击日志、阅读时长、翻页、搜索词、推荐位、设备与地区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C1B04DF-CB10-4D27-BF80-68CFE1D2DE7A}"/>
              </a:ext>
            </a:extLst>
          </p:cNvPr>
          <p:cNvSpPr>
            <a:spLocks noGrp="1"/>
          </p:cNvSpPr>
          <p:nvPr/>
        </p:nvSpPr>
        <p:spPr>
          <a:xfrm>
            <a:off x="8115300" y="4095750"/>
            <a:ext cx="3143250" cy="1047750"/>
          </a:xfrm>
          <a:prstGeom prst="rect">
            <a:avLst/>
          </a:prstGeom>
          <a:solidFill>
            <a:srgbClr val="FBEDE8"/>
          </a:solidFill>
          <a:ln w="9525">
            <a:solidFill>
              <a:srgbClr val="D8D1C4"/>
            </a:solidFill>
          </a:ln>
        </p:spPr>
        <p:txBody>
          <a:bodyPr lIns="152400" tIns="133350" rIns="152400" bIns="13335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分析目标</a:t>
            </a:r>
          </a:p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留存率、完读率、追更率、广告 CTR、推荐效果、作品热度、异常刷量</a:t>
            </a:r>
          </a:p>
        </p:txBody>
      </p:sp>
    </p:spTree>
    <p:extLst>
      <p:ext uri="{BB962C8B-B14F-4D97-AF65-F5344CB8AC3E}">
        <p14:creationId xmlns:p14="http://schemas.microsoft.com/office/powerpoint/2010/main" val="361843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73A30DDB-4F7B-4F7B-A761-501E829F38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7EF88C-17B8-4415-A935-A3BAC512A9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85D4F"/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404329-7A6B-4F57-88E4-612E69E83B24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93345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Architecture: course analysis based on common large-scale online-reading/content-platform patterns.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CC268A-F376-4971-BEFC-2DA4D80E0599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609600" cy="2667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r">
              <a:defRPr sz="975">
                <a:solidFill>
                  <a:srgbClr val="5C6670"/>
                </a:solidFill>
                <a:latin typeface="Segoe UI"/>
                <a:ea typeface="Segoe UI"/>
                <a:cs typeface="Segoe UI"/>
              </a:defRPr>
            </a:pPr>
            <a:r>
              <a:rPr sz="975">
                <a:solidFill>
                  <a:srgbClr val="5C6670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223A661-0817-4523-A373-AC0433C41027}"/>
              </a:ext>
            </a:extLst>
          </p:cNvPr>
          <p:cNvSpPr>
            <a:spLocks noGrp="1"/>
          </p:cNvSpPr>
          <p:nvPr/>
        </p:nvSpPr>
        <p:spPr>
          <a:xfrm>
            <a:off x="485775" y="533400"/>
            <a:ext cx="76200" cy="76200"/>
          </a:xfrm>
          <a:prstGeom prst="ellipse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7C7974-649B-447B-9058-ACFCC77BA9E9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2000250" cy="228600"/>
          </a:xfrm>
          <a:prstGeom prst="rect">
            <a:avLst/>
          </a:prstGeom>
          <a:noFill/>
        </p:spPr>
        <p:txBody>
          <a:bodyPr lIns="76200" tIns="38100" rIns="76200" bIns="38100" anchor="ctr"/>
          <a:lstStyle/>
          <a:p>
            <a:pPr algn="l">
              <a:defRPr sz="900">
                <a:solidFill>
                  <a:srgbClr val="B83D3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83D34"/>
                </a:solidFill>
                <a:latin typeface="Segoe UI"/>
                <a:ea typeface="Segoe UI"/>
                <a:cs typeface="Segoe UI"/>
              </a:rPr>
              <a:t>OLTP ARCHITECTURE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4FD96C-E75D-4CC1-9B88-8D16D3A6AB0B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9906000" cy="4953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4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核心业务系统需要把阅读体验、数据一致性和高并发访问拆开治理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545C1C26-13EC-4735-9DF0-A2B0C4531526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11077575" cy="9525"/>
          </a:xfrm>
          <a:prstGeom prst="line">
            <a:avLst/>
          </a:prstGeom>
          <a:noFill/>
          <a:ln w="9525">
            <a:solidFill>
              <a:srgbClr val="D8D1C4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86160F-AE54-4985-97FE-50687E056BD7}"/>
              </a:ext>
            </a:extLst>
          </p:cNvPr>
          <p:cNvSpPr>
            <a:spLocks noGrp="1"/>
          </p:cNvSpPr>
          <p:nvPr/>
        </p:nvSpPr>
        <p:spPr>
          <a:xfrm>
            <a:off x="628650" y="1524000"/>
            <a:ext cx="10763250" cy="552450"/>
          </a:xfrm>
          <a:prstGeom prst="rect">
            <a:avLst/>
          </a:prstGeom>
          <a:solidFill>
            <a:srgbClr val="FBEDE8"/>
          </a:solidFill>
          <a:ln w="9525">
            <a:solidFill>
              <a:srgbClr val="D8D1C4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D16F49-F290-4153-88C5-6A0FEE127ABE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1143000" cy="2476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0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用户入口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82985E-C8E5-4E5A-B08F-751FAF82DA37}"/>
              </a:ext>
            </a:extLst>
          </p:cNvPr>
          <p:cNvSpPr>
            <a:spLocks noGrp="1"/>
          </p:cNvSpPr>
          <p:nvPr/>
        </p:nvSpPr>
        <p:spPr>
          <a:xfrm>
            <a:off x="628650" y="2190750"/>
            <a:ext cx="10763250" cy="5524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8CED382-7DDF-47F2-9414-44AEE7CCD730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1143000" cy="2476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0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接入层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D2E76F-99DF-4782-840F-66EA924F4B50}"/>
              </a:ext>
            </a:extLst>
          </p:cNvPr>
          <p:cNvSpPr>
            <a:spLocks noGrp="1"/>
          </p:cNvSpPr>
          <p:nvPr/>
        </p:nvSpPr>
        <p:spPr>
          <a:xfrm>
            <a:off x="628650" y="2933699"/>
            <a:ext cx="1076325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5EA8A5-ED9C-459D-BEBF-238ECCD64A5C}"/>
              </a:ext>
            </a:extLst>
          </p:cNvPr>
          <p:cNvSpPr>
            <a:spLocks noGrp="1"/>
          </p:cNvSpPr>
          <p:nvPr/>
        </p:nvSpPr>
        <p:spPr>
          <a:xfrm>
            <a:off x="781050" y="3076575"/>
            <a:ext cx="1143000" cy="2476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0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业务服务层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46C1086-CFC0-4893-80BB-18DFF42C8E30}"/>
              </a:ext>
            </a:extLst>
          </p:cNvPr>
          <p:cNvSpPr>
            <a:spLocks noGrp="1"/>
          </p:cNvSpPr>
          <p:nvPr/>
        </p:nvSpPr>
        <p:spPr>
          <a:xfrm>
            <a:off x="628650" y="4114800"/>
            <a:ext cx="10763250" cy="666750"/>
          </a:xfrm>
          <a:prstGeom prst="rect">
            <a:avLst/>
          </a:prstGeom>
          <a:solidFill>
            <a:srgbClr val="E7F0EE"/>
          </a:solidFill>
          <a:ln w="9525">
            <a:solidFill>
              <a:srgbClr val="D8D1C4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8D13689-FE72-45B4-AD2C-FCF75CE2374C}"/>
              </a:ext>
            </a:extLst>
          </p:cNvPr>
          <p:cNvSpPr>
            <a:spLocks noGrp="1"/>
          </p:cNvSpPr>
          <p:nvPr/>
        </p:nvSpPr>
        <p:spPr>
          <a:xfrm>
            <a:off x="781050" y="4257675"/>
            <a:ext cx="1143000" cy="2476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0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基础中间件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27B1B18-7C28-4D4B-A546-E29C75BFEDCA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10763250" cy="742950"/>
          </a:xfrm>
          <a:prstGeom prst="rect">
            <a:avLst/>
          </a:prstGeom>
          <a:solidFill>
            <a:srgbClr val="EEF2F7"/>
          </a:solidFill>
          <a:ln w="9525">
            <a:solidFill>
              <a:srgbClr val="D8D1C4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B81A455-A1A2-4F16-B9A9-CEA668DE2659}"/>
              </a:ext>
            </a:extLst>
          </p:cNvPr>
          <p:cNvSpPr>
            <a:spLocks noGrp="1"/>
          </p:cNvSpPr>
          <p:nvPr/>
        </p:nvSpPr>
        <p:spPr>
          <a:xfrm>
            <a:off x="781050" y="5153025"/>
            <a:ext cx="1143000" cy="2476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0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数据与内容存储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1D8B06-6275-47D6-90B9-1680A391DFDB}"/>
              </a:ext>
            </a:extLst>
          </p:cNvPr>
          <p:cNvSpPr>
            <a:spLocks noGrp="1"/>
          </p:cNvSpPr>
          <p:nvPr/>
        </p:nvSpPr>
        <p:spPr>
          <a:xfrm>
            <a:off x="2190750" y="1657350"/>
            <a:ext cx="8953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App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13CDF8-447F-4DBF-B3D6-BD143EB08F82}"/>
              </a:ext>
            </a:extLst>
          </p:cNvPr>
          <p:cNvSpPr>
            <a:spLocks noGrp="1"/>
          </p:cNvSpPr>
          <p:nvPr/>
        </p:nvSpPr>
        <p:spPr>
          <a:xfrm>
            <a:off x="3333750" y="1657350"/>
            <a:ext cx="8953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Web/H5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A0BE9E0-8A91-44DA-AFF3-47C9B31EA35E}"/>
              </a:ext>
            </a:extLst>
          </p:cNvPr>
          <p:cNvSpPr>
            <a:spLocks noGrp="1"/>
          </p:cNvSpPr>
          <p:nvPr/>
        </p:nvSpPr>
        <p:spPr>
          <a:xfrm>
            <a:off x="4476750" y="1657350"/>
            <a:ext cx="8953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运营后台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68C388-9AFB-407E-8E10-59A7FE010138}"/>
              </a:ext>
            </a:extLst>
          </p:cNvPr>
          <p:cNvSpPr>
            <a:spLocks noGrp="1"/>
          </p:cNvSpPr>
          <p:nvPr/>
        </p:nvSpPr>
        <p:spPr>
          <a:xfrm>
            <a:off x="5619750" y="1657350"/>
            <a:ext cx="8953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作者后台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EEA3C45-AA2F-457A-9F14-40CF82BCADB7}"/>
              </a:ext>
            </a:extLst>
          </p:cNvPr>
          <p:cNvSpPr>
            <a:spLocks noGrp="1"/>
          </p:cNvSpPr>
          <p:nvPr/>
        </p:nvSpPr>
        <p:spPr>
          <a:xfrm>
            <a:off x="2333625" y="2305050"/>
            <a:ext cx="5095875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12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CDN / WAF / 负载均衡 / API 网关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9A4CF8-70B6-4510-990F-A25A46C2F18E}"/>
              </a:ext>
            </a:extLst>
          </p:cNvPr>
          <p:cNvSpPr>
            <a:spLocks noGrp="1"/>
          </p:cNvSpPr>
          <p:nvPr/>
        </p:nvSpPr>
        <p:spPr>
          <a:xfrm>
            <a:off x="7667625" y="2305050"/>
            <a:ext cx="314325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12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认证鉴权 / 限流降级 / 灰度发布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4988F50-10DA-4ECE-8278-0D254F689284}"/>
              </a:ext>
            </a:extLst>
          </p:cNvPr>
          <p:cNvSpPr>
            <a:spLocks noGrp="1"/>
          </p:cNvSpPr>
          <p:nvPr/>
        </p:nvSpPr>
        <p:spPr>
          <a:xfrm>
            <a:off x="2171700" y="3028950"/>
            <a:ext cx="1333500" cy="3238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用户服务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77A251E-E264-4C27-A708-64388DB43064}"/>
              </a:ext>
            </a:extLst>
          </p:cNvPr>
          <p:cNvSpPr>
            <a:spLocks noGrp="1"/>
          </p:cNvSpPr>
          <p:nvPr/>
        </p:nvSpPr>
        <p:spPr>
          <a:xfrm>
            <a:off x="3981450" y="3028950"/>
            <a:ext cx="13335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书籍章节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5DFE36A-4351-436D-B017-BBB49791921A}"/>
              </a:ext>
            </a:extLst>
          </p:cNvPr>
          <p:cNvSpPr>
            <a:spLocks noGrp="1"/>
          </p:cNvSpPr>
          <p:nvPr/>
        </p:nvSpPr>
        <p:spPr>
          <a:xfrm>
            <a:off x="5791200" y="3028950"/>
            <a:ext cx="1333500" cy="3238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书架进度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6A672B1-15F6-4F1A-83B1-EDB8CA575546}"/>
              </a:ext>
            </a:extLst>
          </p:cNvPr>
          <p:cNvSpPr>
            <a:spLocks noGrp="1"/>
          </p:cNvSpPr>
          <p:nvPr/>
        </p:nvSpPr>
        <p:spPr>
          <a:xfrm>
            <a:off x="7600950" y="3028950"/>
            <a:ext cx="13335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搜索服务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BF6A68C-4FCD-4503-AAE5-CC6F5D27747A}"/>
              </a:ext>
            </a:extLst>
          </p:cNvPr>
          <p:cNvSpPr>
            <a:spLocks noGrp="1"/>
          </p:cNvSpPr>
          <p:nvPr/>
        </p:nvSpPr>
        <p:spPr>
          <a:xfrm>
            <a:off x="2171700" y="3505200"/>
            <a:ext cx="1333500" cy="3238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评论互动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74FF89A-8B2D-4797-BF92-A04B724F4C47}"/>
              </a:ext>
            </a:extLst>
          </p:cNvPr>
          <p:cNvSpPr>
            <a:spLocks noGrp="1"/>
          </p:cNvSpPr>
          <p:nvPr/>
        </p:nvSpPr>
        <p:spPr>
          <a:xfrm>
            <a:off x="3981450" y="3505200"/>
            <a:ext cx="13335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广告服务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A1B9E8C-433F-4560-B4C2-0D529850DBFA}"/>
              </a:ext>
            </a:extLst>
          </p:cNvPr>
          <p:cNvSpPr>
            <a:spLocks noGrp="1"/>
          </p:cNvSpPr>
          <p:nvPr/>
        </p:nvSpPr>
        <p:spPr>
          <a:xfrm>
            <a:off x="5791200" y="3505200"/>
            <a:ext cx="1333500" cy="3238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作者/审核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78CCD4-EC91-4A98-93F6-775D3ED919E1}"/>
              </a:ext>
            </a:extLst>
          </p:cNvPr>
          <p:cNvSpPr>
            <a:spLocks noGrp="1"/>
          </p:cNvSpPr>
          <p:nvPr/>
        </p:nvSpPr>
        <p:spPr>
          <a:xfrm>
            <a:off x="7600950" y="3505200"/>
            <a:ext cx="13335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推荐接口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3A78A86-77B9-49CA-8170-84A6D462749C}"/>
              </a:ext>
            </a:extLst>
          </p:cNvPr>
          <p:cNvSpPr>
            <a:spLocks noGrp="1"/>
          </p:cNvSpPr>
          <p:nvPr/>
        </p:nvSpPr>
        <p:spPr>
          <a:xfrm>
            <a:off x="2333625" y="4248150"/>
            <a:ext cx="1619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85D4F"/>
            </a:solidFill>
          </a:ln>
        </p:spPr>
        <p:txBody>
          <a:bodyPr lIns="114300" tIns="95250" rIns="114300" bIns="95250" anchor="ctr"/>
          <a:lstStyle/>
          <a:p>
            <a:pPr algn="ctr">
              <a:defRPr sz="1050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rPr>
              <a:t>Redis 缓存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2ADCB55-BFF4-49B6-A1EF-0B4468B70B97}"/>
              </a:ext>
            </a:extLst>
          </p:cNvPr>
          <p:cNvSpPr>
            <a:spLocks noGrp="1"/>
          </p:cNvSpPr>
          <p:nvPr/>
        </p:nvSpPr>
        <p:spPr>
          <a:xfrm>
            <a:off x="4619625" y="4248150"/>
            <a:ext cx="1619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287D79"/>
            </a:solidFill>
          </a:ln>
        </p:spPr>
        <p:txBody>
          <a:bodyPr lIns="114300" tIns="95250" rIns="114300" bIns="95250" anchor="ctr"/>
          <a:lstStyle/>
          <a:p>
            <a:pPr algn="ctr">
              <a:defRPr sz="1050">
                <a:solidFill>
                  <a:srgbClr val="287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87D79"/>
                </a:solidFill>
                <a:latin typeface="Microsoft YaHei"/>
                <a:ea typeface="Microsoft YaHei"/>
                <a:cs typeface="Microsoft YaHei"/>
              </a:rPr>
              <a:t>MQ/Kafka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5DB73BE-976F-4077-83A2-90E39840343D}"/>
              </a:ext>
            </a:extLst>
          </p:cNvPr>
          <p:cNvSpPr>
            <a:spLocks noGrp="1"/>
          </p:cNvSpPr>
          <p:nvPr/>
        </p:nvSpPr>
        <p:spPr>
          <a:xfrm>
            <a:off x="6905625" y="4248150"/>
            <a:ext cx="1619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315C97"/>
            </a:solidFill>
          </a:ln>
        </p:spPr>
        <p:txBody>
          <a:bodyPr lIns="114300" tIns="95250" rIns="114300" bIns="95250" anchor="ctr"/>
          <a:lstStyle/>
          <a:p>
            <a:pPr algn="ctr">
              <a:defRPr sz="1050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rPr>
              <a:t>ElasticSearch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64552A7-4ADD-4CF1-ADCF-4E88F46E49F5}"/>
              </a:ext>
            </a:extLst>
          </p:cNvPr>
          <p:cNvSpPr>
            <a:spLocks noGrp="1"/>
          </p:cNvSpPr>
          <p:nvPr/>
        </p:nvSpPr>
        <p:spPr>
          <a:xfrm>
            <a:off x="9191625" y="4248150"/>
            <a:ext cx="1619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B2832F"/>
            </a:solidFill>
          </a:ln>
        </p:spPr>
        <p:txBody>
          <a:bodyPr lIns="114300" tIns="95250" rIns="114300" bIns="95250" anchor="ctr"/>
          <a:lstStyle/>
          <a:p>
            <a:pPr algn="ctr">
              <a:defRPr sz="1050">
                <a:solidFill>
                  <a:srgbClr val="B283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2832F"/>
                </a:solidFill>
                <a:latin typeface="Microsoft YaHei"/>
                <a:ea typeface="Microsoft YaHei"/>
                <a:cs typeface="Microsoft YaHei"/>
              </a:rPr>
              <a:t>配置/监控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C19369E-9D05-491D-8316-F269586CC614}"/>
              </a:ext>
            </a:extLst>
          </p:cNvPr>
          <p:cNvSpPr>
            <a:spLocks noGrp="1"/>
          </p:cNvSpPr>
          <p:nvPr/>
        </p:nvSpPr>
        <p:spPr>
          <a:xfrm>
            <a:off x="2114550" y="5124450"/>
            <a:ext cx="171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1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MySQL/Sharding</a:t>
            </a:r>
          </a:p>
          <a:p>
            <a:pPr algn="ctr">
              <a:defRPr sz="101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业务事务库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DCED8F3-3E1D-4DC4-831B-B4AE773F3931}"/>
              </a:ext>
            </a:extLst>
          </p:cNvPr>
          <p:cNvSpPr>
            <a:spLocks noGrp="1"/>
          </p:cNvSpPr>
          <p:nvPr/>
        </p:nvSpPr>
        <p:spPr>
          <a:xfrm>
            <a:off x="4305300" y="5124450"/>
            <a:ext cx="171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1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Object Storage</a:t>
            </a:r>
          </a:p>
          <a:p>
            <a:pPr algn="ctr">
              <a:defRPr sz="101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图片/封面/静态资源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00C358E-862D-425D-8872-E05B849F3BBD}"/>
              </a:ext>
            </a:extLst>
          </p:cNvPr>
          <p:cNvSpPr>
            <a:spLocks noGrp="1"/>
          </p:cNvSpPr>
          <p:nvPr/>
        </p:nvSpPr>
        <p:spPr>
          <a:xfrm>
            <a:off x="6496050" y="5124450"/>
            <a:ext cx="171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1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Content Store</a:t>
            </a:r>
          </a:p>
          <a:p>
            <a:pPr algn="ctr">
              <a:defRPr sz="101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章节文本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B63BE2C-7E65-40F1-B830-C87A5F0A2630}"/>
              </a:ext>
            </a:extLst>
          </p:cNvPr>
          <p:cNvSpPr>
            <a:spLocks noGrp="1"/>
          </p:cNvSpPr>
          <p:nvPr/>
        </p:nvSpPr>
        <p:spPr>
          <a:xfrm>
            <a:off x="8686800" y="5124450"/>
            <a:ext cx="171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1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Log Store</a:t>
            </a:r>
          </a:p>
          <a:p>
            <a:pPr algn="ctr">
              <a:defRPr sz="101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行为日志暂存</a:t>
            </a:r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D1E1EF6D-858C-4FE0-A277-A343340C97EF}"/>
              </a:ext>
            </a:extLst>
          </p:cNvPr>
          <p:cNvSpPr>
            <a:spLocks noGrp="1"/>
          </p:cNvSpPr>
          <p:nvPr/>
        </p:nvSpPr>
        <p:spPr>
          <a:xfrm>
            <a:off x="5905500" y="1952625"/>
            <a:ext cx="495300" cy="190500"/>
          </a:xfrm>
          <a:prstGeom prst="rightArrow">
            <a:avLst/>
          </a:prstGeom>
          <a:solidFill>
            <a:srgbClr val="D8D1C4"/>
          </a:solidFill>
          <a:ln w="0">
            <a:solidFill>
              <a:srgbClr val="D8D1C4"/>
            </a:solidFill>
          </a:ln>
        </p:spPr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A0F2D709-BEFF-469F-ADB9-9958CE389605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495300" cy="190500"/>
          </a:xfrm>
          <a:prstGeom prst="rightArrow">
            <a:avLst/>
          </a:prstGeom>
          <a:solidFill>
            <a:srgbClr val="D8D1C4"/>
          </a:solidFill>
          <a:ln w="0">
            <a:solidFill>
              <a:srgbClr val="D8D1C4"/>
            </a:solidFill>
          </a:ln>
        </p:spPr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65D98558-06FA-4AD3-A5B9-1EC8A3FB05A7}"/>
              </a:ext>
            </a:extLst>
          </p:cNvPr>
          <p:cNvSpPr>
            <a:spLocks noGrp="1"/>
          </p:cNvSpPr>
          <p:nvPr/>
        </p:nvSpPr>
        <p:spPr>
          <a:xfrm>
            <a:off x="5905500" y="3867150"/>
            <a:ext cx="495300" cy="190500"/>
          </a:xfrm>
          <a:prstGeom prst="rightArrow">
            <a:avLst/>
          </a:prstGeom>
          <a:solidFill>
            <a:srgbClr val="D8D1C4"/>
          </a:solidFill>
          <a:ln w="0">
            <a:solidFill>
              <a:srgbClr val="D8D1C4"/>
            </a:solidFill>
          </a:ln>
        </p:spPr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EB402EFD-759A-4D3D-9C1A-8B8D84CE78A0}"/>
              </a:ext>
            </a:extLst>
          </p:cNvPr>
          <p:cNvSpPr>
            <a:spLocks noGrp="1"/>
          </p:cNvSpPr>
          <p:nvPr/>
        </p:nvSpPr>
        <p:spPr>
          <a:xfrm>
            <a:off x="5905500" y="4724400"/>
            <a:ext cx="495300" cy="190500"/>
          </a:xfrm>
          <a:prstGeom prst="rightArrow">
            <a:avLst/>
          </a:prstGeom>
          <a:solidFill>
            <a:srgbClr val="D8D1C4"/>
          </a:solidFill>
          <a:ln w="0">
            <a:solidFill>
              <a:srgbClr val="D8D1C4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EADE0F3-0706-420D-A2B8-9E7616BC48DA}"/>
              </a:ext>
            </a:extLst>
          </p:cNvPr>
          <p:cNvSpPr>
            <a:spLocks noGrp="1"/>
          </p:cNvSpPr>
          <p:nvPr/>
        </p:nvSpPr>
        <p:spPr>
          <a:xfrm>
            <a:off x="800100" y="5829300"/>
            <a:ext cx="11811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E85D4F"/>
            </a:solidFill>
          </a:ln>
        </p:spPr>
        <p:txBody>
          <a:bodyPr lIns="57150" tIns="38100" rIns="57150" bIns="38100" anchor="ctr"/>
          <a:lstStyle/>
          <a:p>
            <a:pPr algn="ctr">
              <a:defRPr sz="975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rPr>
              <a:t>实时响应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55F2E36-0967-4406-962F-F87BF316107E}"/>
              </a:ext>
            </a:extLst>
          </p:cNvPr>
          <p:cNvSpPr>
            <a:spLocks noGrp="1"/>
          </p:cNvSpPr>
          <p:nvPr/>
        </p:nvSpPr>
        <p:spPr>
          <a:xfrm>
            <a:off x="2171700" y="5829300"/>
            <a:ext cx="11811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315C97"/>
            </a:solidFill>
          </a:ln>
        </p:spPr>
        <p:txBody>
          <a:bodyPr lIns="57150" tIns="38100" rIns="57150" bIns="38100" anchor="ctr"/>
          <a:lstStyle/>
          <a:p>
            <a:pPr algn="ctr">
              <a:defRPr sz="975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rPr>
              <a:t>事务一致性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6357810-FD42-4CC1-9FFD-2587FA804971}"/>
              </a:ext>
            </a:extLst>
          </p:cNvPr>
          <p:cNvSpPr>
            <a:spLocks noGrp="1"/>
          </p:cNvSpPr>
          <p:nvPr/>
        </p:nvSpPr>
        <p:spPr>
          <a:xfrm>
            <a:off x="3543300" y="5829300"/>
            <a:ext cx="11811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287D79"/>
            </a:solidFill>
          </a:ln>
        </p:spPr>
        <p:txBody>
          <a:bodyPr lIns="57150" tIns="38100" rIns="57150" bIns="38100" anchor="ctr"/>
          <a:lstStyle/>
          <a:p>
            <a:pPr algn="ctr">
              <a:defRPr sz="975">
                <a:solidFill>
                  <a:srgbClr val="287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87D79"/>
                </a:solidFill>
                <a:latin typeface="Microsoft YaHei"/>
                <a:ea typeface="Microsoft YaHei"/>
                <a:cs typeface="Microsoft YaHei"/>
              </a:rPr>
              <a:t>可扩展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51613B4-96A8-4D74-B30C-A61ECCB11686}"/>
              </a:ext>
            </a:extLst>
          </p:cNvPr>
          <p:cNvSpPr>
            <a:spLocks noGrp="1"/>
          </p:cNvSpPr>
          <p:nvPr/>
        </p:nvSpPr>
        <p:spPr>
          <a:xfrm>
            <a:off x="4914900" y="5829300"/>
            <a:ext cx="11811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B2832F"/>
            </a:solidFill>
          </a:ln>
        </p:spPr>
        <p:txBody>
          <a:bodyPr lIns="57150" tIns="38100" rIns="57150" bIns="38100" anchor="ctr"/>
          <a:lstStyle/>
          <a:p>
            <a:pPr algn="ctr">
              <a:defRPr sz="975">
                <a:solidFill>
                  <a:srgbClr val="B283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2832F"/>
                </a:solidFill>
                <a:latin typeface="Microsoft YaHei"/>
                <a:ea typeface="Microsoft YaHei"/>
                <a:cs typeface="Microsoft YaHei"/>
              </a:rPr>
              <a:t>可观测</a:t>
            </a:r>
          </a:p>
        </p:txBody>
      </p:sp>
    </p:spTree>
    <p:extLst>
      <p:ext uri="{BB962C8B-B14F-4D97-AF65-F5344CB8AC3E}">
        <p14:creationId xmlns:p14="http://schemas.microsoft.com/office/powerpoint/2010/main" val="1950314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9B331CAF-E888-439C-9EA5-ACD2A46DE3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A8F09F-C254-497C-AE87-246BEAF8B5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85D4F"/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D16D92-3988-462A-BCFE-3E6283278E04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93345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Architecture: course analysis based on common OLTP high-concurrency design patterns.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CCAA23-DD96-459B-BD2F-4A2221BE949E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609600" cy="2667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r">
              <a:defRPr sz="975">
                <a:solidFill>
                  <a:srgbClr val="5C6670"/>
                </a:solidFill>
                <a:latin typeface="Segoe UI"/>
                <a:ea typeface="Segoe UI"/>
                <a:cs typeface="Segoe UI"/>
              </a:defRPr>
            </a:pPr>
            <a:r>
              <a:rPr sz="975">
                <a:solidFill>
                  <a:srgbClr val="5C6670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E9C6A81-1E56-432F-AA62-5589FC9CC124}"/>
              </a:ext>
            </a:extLst>
          </p:cNvPr>
          <p:cNvSpPr>
            <a:spLocks noGrp="1"/>
          </p:cNvSpPr>
          <p:nvPr/>
        </p:nvSpPr>
        <p:spPr>
          <a:xfrm>
            <a:off x="485775" y="533400"/>
            <a:ext cx="76200" cy="76200"/>
          </a:xfrm>
          <a:prstGeom prst="ellipse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F55F10-CF67-4D4E-A5EA-4E94C8BBDB1F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2000250" cy="228600"/>
          </a:xfrm>
          <a:prstGeom prst="rect">
            <a:avLst/>
          </a:prstGeom>
          <a:noFill/>
        </p:spPr>
        <p:txBody>
          <a:bodyPr lIns="76200" tIns="38100" rIns="76200" bIns="38100" anchor="ctr"/>
          <a:lstStyle/>
          <a:p>
            <a:pPr algn="l">
              <a:defRPr sz="900">
                <a:solidFill>
                  <a:srgbClr val="B83D3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83D34"/>
                </a:solidFill>
                <a:latin typeface="Segoe UI"/>
                <a:ea typeface="Segoe UI"/>
                <a:cs typeface="Segoe UI"/>
              </a:rPr>
              <a:t>LOAD BEARING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65D9E7-8C40-4065-BAAC-AA2BCB0836C2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9906000" cy="4953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4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OLTP 能承载大规模业务量，关键在于把压力分层消化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A67B55D2-57F0-4C26-9518-CC7CAD51DFD8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11077575" cy="9525"/>
          </a:xfrm>
          <a:prstGeom prst="line">
            <a:avLst/>
          </a:prstGeom>
          <a:noFill/>
          <a:ln w="9525">
            <a:solidFill>
              <a:srgbClr val="D8D1C4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3E760B-D4F9-4742-9FCD-B1D8163DA9C5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1809750" cy="361950"/>
          </a:xfrm>
          <a:prstGeom prst="rect">
            <a:avLst/>
          </a:prstGeom>
          <a:solidFill>
            <a:srgbClr val="1E2732"/>
          </a:solidFill>
          <a:ln w="9525">
            <a:solidFill>
              <a:srgbClr val="1E2732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压力来源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73B28D6-2A59-4946-B6BD-3FA699F949ED}"/>
              </a:ext>
            </a:extLst>
          </p:cNvPr>
          <p:cNvSpPr>
            <a:spLocks noGrp="1"/>
          </p:cNvSpPr>
          <p:nvPr/>
        </p:nvSpPr>
        <p:spPr>
          <a:xfrm>
            <a:off x="2495550" y="1600200"/>
            <a:ext cx="3714750" cy="361950"/>
          </a:xfrm>
          <a:prstGeom prst="rect">
            <a:avLst/>
          </a:prstGeom>
          <a:solidFill>
            <a:srgbClr val="1E2732"/>
          </a:solidFill>
          <a:ln w="9525">
            <a:solidFill>
              <a:srgbClr val="1E2732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业务表现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138668-A7CF-49F7-886F-808003A3AE9E}"/>
              </a:ext>
            </a:extLst>
          </p:cNvPr>
          <p:cNvSpPr>
            <a:spLocks noGrp="1"/>
          </p:cNvSpPr>
          <p:nvPr/>
        </p:nvSpPr>
        <p:spPr>
          <a:xfrm>
            <a:off x="6210300" y="1600200"/>
            <a:ext cx="5334000" cy="361950"/>
          </a:xfrm>
          <a:prstGeom prst="rect">
            <a:avLst/>
          </a:prstGeom>
          <a:solidFill>
            <a:srgbClr val="1E2732"/>
          </a:solidFill>
          <a:ln w="9525">
            <a:solidFill>
              <a:srgbClr val="1E2732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系统设施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69CBEC-FC62-4C5A-9A65-D3781F37C5F8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1809750" cy="6667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rPr>
              <a:t>并发读高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D50C48-70BE-43EB-B36B-9C2DD5835EF5}"/>
              </a:ext>
            </a:extLst>
          </p:cNvPr>
          <p:cNvSpPr>
            <a:spLocks noGrp="1"/>
          </p:cNvSpPr>
          <p:nvPr/>
        </p:nvSpPr>
        <p:spPr>
          <a:xfrm>
            <a:off x="2495550" y="1962150"/>
            <a:ext cx="3714750" cy="6667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大量用户同时打开章节、榜单、书籍详情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3D6D5FA-9460-4B7F-BD9F-410936B9A0D5}"/>
              </a:ext>
            </a:extLst>
          </p:cNvPr>
          <p:cNvSpPr>
            <a:spLocks noGrp="1"/>
          </p:cNvSpPr>
          <p:nvPr/>
        </p:nvSpPr>
        <p:spPr>
          <a:xfrm>
            <a:off x="6210300" y="1962150"/>
            <a:ext cx="5334000" cy="6667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CDN + Redis 缓存热门章节/书籍信息；读写分离降低数据库压力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BF17F3-5B51-4717-9567-2B3CE461058B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1809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287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87D79"/>
                </a:solidFill>
                <a:latin typeface="Microsoft YaHei"/>
                <a:ea typeface="Microsoft YaHei"/>
                <a:cs typeface="Microsoft YaHei"/>
              </a:rPr>
              <a:t>写入频繁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C121B0-BF18-4963-A35E-C6BB91F8CC5E}"/>
              </a:ext>
            </a:extLst>
          </p:cNvPr>
          <p:cNvSpPr>
            <a:spLocks noGrp="1"/>
          </p:cNvSpPr>
          <p:nvPr/>
        </p:nvSpPr>
        <p:spPr>
          <a:xfrm>
            <a:off x="2495550" y="2705100"/>
            <a:ext cx="3714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阅读进度、书架、评论、曝光日志持续产生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0B3B44-24F5-419E-80D5-935EB7CB44C2}"/>
              </a:ext>
            </a:extLst>
          </p:cNvPr>
          <p:cNvSpPr>
            <a:spLocks noGrp="1"/>
          </p:cNvSpPr>
          <p:nvPr/>
        </p:nvSpPr>
        <p:spPr>
          <a:xfrm>
            <a:off x="6210300" y="2705100"/>
            <a:ext cx="5334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核心事务同步写入；非核心通知/日志用消息队列异步化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CC10B8B-323F-49CE-80C7-53763D3AF25C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809750" cy="6667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rPr>
              <a:t>活动高峰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D59224E-A47E-4C5E-BAFD-1D9DD6C0BA63}"/>
              </a:ext>
            </a:extLst>
          </p:cNvPr>
          <p:cNvSpPr>
            <a:spLocks noGrp="1"/>
          </p:cNvSpPr>
          <p:nvPr/>
        </p:nvSpPr>
        <p:spPr>
          <a:xfrm>
            <a:off x="2495550" y="3448050"/>
            <a:ext cx="3714750" cy="6667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榜单、运营活动、爆款书籍会造成瞬时流量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A7BDEE-87CE-4CE0-B03A-A20D17953055}"/>
              </a:ext>
            </a:extLst>
          </p:cNvPr>
          <p:cNvSpPr>
            <a:spLocks noGrp="1"/>
          </p:cNvSpPr>
          <p:nvPr/>
        </p:nvSpPr>
        <p:spPr>
          <a:xfrm>
            <a:off x="6210300" y="3448050"/>
            <a:ext cx="5334000" cy="6667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限流、降级、熔断、弹性扩容，优先保护阅读与登录链路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4BCFBA7-06EE-4A9C-928B-F6680EC188BF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1809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B283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2832F"/>
                </a:solidFill>
                <a:latin typeface="Microsoft YaHei"/>
                <a:ea typeface="Microsoft YaHei"/>
                <a:cs typeface="Microsoft YaHei"/>
              </a:rPr>
              <a:t>数据规模大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3DA7A83-6C65-4291-B69F-43E4EE9252EF}"/>
              </a:ext>
            </a:extLst>
          </p:cNvPr>
          <p:cNvSpPr>
            <a:spLocks noGrp="1"/>
          </p:cNvSpPr>
          <p:nvPr/>
        </p:nvSpPr>
        <p:spPr>
          <a:xfrm>
            <a:off x="2495550" y="4191000"/>
            <a:ext cx="3714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用户、章节、评论、日志长期增长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85A877D-CA29-4BE8-8EF0-F27D4AF1E1A0}"/>
              </a:ext>
            </a:extLst>
          </p:cNvPr>
          <p:cNvSpPr>
            <a:spLocks noGrp="1"/>
          </p:cNvSpPr>
          <p:nvPr/>
        </p:nvSpPr>
        <p:spPr>
          <a:xfrm>
            <a:off x="6210300" y="4191000"/>
            <a:ext cx="5334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分库分表、冷热分层、对象存储、搜索索引与归档策略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93E28DB-E1F3-47A8-91F2-F8BD65D8ED43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1809750" cy="6667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rPr>
              <a:t>服务不可中断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89AF91D-107C-4CA0-92E1-FE7CD5B4E36E}"/>
              </a:ext>
            </a:extLst>
          </p:cNvPr>
          <p:cNvSpPr>
            <a:spLocks noGrp="1"/>
          </p:cNvSpPr>
          <p:nvPr/>
        </p:nvSpPr>
        <p:spPr>
          <a:xfrm>
            <a:off x="2495550" y="4933950"/>
            <a:ext cx="3714750" cy="6667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阅读产品对稳定性和响应速度敏感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548A5C6-D29E-4BBA-BD98-95E7021F6EF7}"/>
              </a:ext>
            </a:extLst>
          </p:cNvPr>
          <p:cNvSpPr>
            <a:spLocks noGrp="1"/>
          </p:cNvSpPr>
          <p:nvPr/>
        </p:nvSpPr>
        <p:spPr>
          <a:xfrm>
            <a:off x="6210300" y="4933950"/>
            <a:ext cx="5334000" cy="6667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多实例部署、健康检查、灰度发布、监控告警、故障回滚</a:t>
            </a:r>
          </a:p>
        </p:txBody>
      </p:sp>
    </p:spTree>
    <p:extLst>
      <p:ext uri="{BB962C8B-B14F-4D97-AF65-F5344CB8AC3E}">
        <p14:creationId xmlns:p14="http://schemas.microsoft.com/office/powerpoint/2010/main" val="1706530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5F41ECCE-5451-469E-8EF9-5D610031C1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250021-5E3D-4010-A51D-B034FCAFB6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85D4F"/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49E57F-6FDD-45FB-9F51-8F7DA245005A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93345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Entity map: course analysis based on common online-reading OLTP data model.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0D0999-72CD-466C-8789-B4979EDA2E66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609600" cy="2667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r">
              <a:defRPr sz="975">
                <a:solidFill>
                  <a:srgbClr val="5C6670"/>
                </a:solidFill>
                <a:latin typeface="Segoe UI"/>
                <a:ea typeface="Segoe UI"/>
                <a:cs typeface="Segoe UI"/>
              </a:defRPr>
            </a:pPr>
            <a:r>
              <a:rPr sz="975">
                <a:solidFill>
                  <a:srgbClr val="5C6670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2134F43-A629-4C9B-9BCA-FE43EB830BCD}"/>
              </a:ext>
            </a:extLst>
          </p:cNvPr>
          <p:cNvSpPr>
            <a:spLocks noGrp="1"/>
          </p:cNvSpPr>
          <p:nvPr/>
        </p:nvSpPr>
        <p:spPr>
          <a:xfrm>
            <a:off x="485775" y="533400"/>
            <a:ext cx="76200" cy="76200"/>
          </a:xfrm>
          <a:prstGeom prst="ellipse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10FE6D-6602-408D-9086-60CF0EBB7A60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2000250" cy="228600"/>
          </a:xfrm>
          <a:prstGeom prst="rect">
            <a:avLst/>
          </a:prstGeom>
          <a:noFill/>
        </p:spPr>
        <p:txBody>
          <a:bodyPr lIns="76200" tIns="38100" rIns="76200" bIns="38100" anchor="ctr"/>
          <a:lstStyle/>
          <a:p>
            <a:pPr algn="l">
              <a:defRPr sz="900">
                <a:solidFill>
                  <a:srgbClr val="B83D3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83D34"/>
                </a:solidFill>
                <a:latin typeface="Segoe UI"/>
                <a:ea typeface="Segoe UI"/>
                <a:cs typeface="Segoe UI"/>
              </a:rPr>
              <a:t>DATA MODEL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928DAD-1CD5-4A85-8FC1-CFF673051F42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9906000" cy="4953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4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业务数据库保存“当前状态”，日志系统记录“行为过程”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FE88F6D6-9D39-4266-B55C-A3BAE8267DC9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11077575" cy="9525"/>
          </a:xfrm>
          <a:prstGeom prst="line">
            <a:avLst/>
          </a:prstGeom>
          <a:noFill/>
          <a:ln w="9525">
            <a:solidFill>
              <a:srgbClr val="D8D1C4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6A6CE66-0AAA-4F42-B77E-ECB67EDCC169}"/>
              </a:ext>
            </a:extLst>
          </p:cNvPr>
          <p:cNvSpPr>
            <a:spLocks noGrp="1"/>
          </p:cNvSpPr>
          <p:nvPr/>
        </p:nvSpPr>
        <p:spPr>
          <a:xfrm>
            <a:off x="5124450" y="2800350"/>
            <a:ext cx="990600" cy="685800"/>
          </a:xfrm>
          <a:prstGeom prst="rect">
            <a:avLst/>
          </a:prstGeom>
          <a:solidFill>
            <a:srgbClr val="1E2732"/>
          </a:solidFill>
          <a:ln w="9525">
            <a:solidFill>
              <a:srgbClr val="1E2732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User</a:t>
            </a:r>
          </a:p>
          <a:p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60551749-52A6-421B-A78F-8BECE4D2C842}"/>
              </a:ext>
            </a:extLst>
          </p:cNvPr>
          <p:cNvSpPr>
            <a:spLocks noGrp="1"/>
          </p:cNvSpPr>
          <p:nvPr/>
        </p:nvSpPr>
        <p:spPr>
          <a:xfrm>
            <a:off x="3790950" y="2524124"/>
            <a:ext cx="1333500" cy="390525"/>
          </a:xfrm>
          <a:prstGeom prst="line">
            <a:avLst/>
          </a:prstGeom>
          <a:noFill/>
          <a:ln w="14288">
            <a:solidFill>
              <a:srgbClr val="D8D1C4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5FB2ED-EAB0-4CC5-ADF1-64886C758094}"/>
              </a:ext>
            </a:extLst>
          </p:cNvPr>
          <p:cNvSpPr>
            <a:spLocks noGrp="1"/>
          </p:cNvSpPr>
          <p:nvPr/>
        </p:nvSpPr>
        <p:spPr>
          <a:xfrm>
            <a:off x="2571750" y="1866900"/>
            <a:ext cx="12192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E85D4F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Book</a:t>
            </a:r>
          </a:p>
          <a:p>
            <a:pPr algn="ctr">
              <a:def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作品</a:t>
            </a:r>
            <a:endParaRPr sz="1350" b="1" dirty="0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E752961-D513-4E90-A4EC-6D7A296E27B3}"/>
              </a:ext>
            </a:extLst>
          </p:cNvPr>
          <p:cNvSpPr>
            <a:spLocks noGrp="1"/>
          </p:cNvSpPr>
          <p:nvPr/>
        </p:nvSpPr>
        <p:spPr>
          <a:xfrm>
            <a:off x="5105399" y="2190748"/>
            <a:ext cx="445655" cy="609602"/>
          </a:xfrm>
          <a:prstGeom prst="line">
            <a:avLst/>
          </a:prstGeom>
          <a:noFill/>
          <a:ln w="14288">
            <a:solidFill>
              <a:srgbClr val="D8D1C4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9D54586-A93C-4B40-B23F-27A73F901402}"/>
              </a:ext>
            </a:extLst>
          </p:cNvPr>
          <p:cNvSpPr>
            <a:spLocks noGrp="1"/>
          </p:cNvSpPr>
          <p:nvPr/>
        </p:nvSpPr>
        <p:spPr>
          <a:xfrm>
            <a:off x="4514850" y="1523999"/>
            <a:ext cx="12192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2832F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Chapter</a:t>
            </a:r>
          </a:p>
          <a:p>
            <a:pPr algn="ctr">
              <a:def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章节</a:t>
            </a:r>
            <a:endParaRPr sz="1350" b="1" dirty="0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438407B5-C4B5-4783-86C0-36C54FA8CE10}"/>
              </a:ext>
            </a:extLst>
          </p:cNvPr>
          <p:cNvSpPr>
            <a:spLocks noGrp="1"/>
          </p:cNvSpPr>
          <p:nvPr/>
        </p:nvSpPr>
        <p:spPr>
          <a:xfrm flipV="1">
            <a:off x="6134100" y="2343150"/>
            <a:ext cx="1219200" cy="457200"/>
          </a:xfrm>
          <a:prstGeom prst="line">
            <a:avLst/>
          </a:prstGeom>
          <a:noFill/>
          <a:ln w="14288">
            <a:solidFill>
              <a:srgbClr val="D8D1C4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8085777-F40A-4376-B8DA-01F806F913FA}"/>
              </a:ext>
            </a:extLst>
          </p:cNvPr>
          <p:cNvSpPr>
            <a:spLocks noGrp="1"/>
          </p:cNvSpPr>
          <p:nvPr/>
        </p:nvSpPr>
        <p:spPr>
          <a:xfrm>
            <a:off x="7334250" y="1695450"/>
            <a:ext cx="12192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287D79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Bookshelf</a:t>
            </a:r>
          </a:p>
          <a:p>
            <a:pPr algn="ctr">
              <a:def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书架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75B01542-F929-40D9-9A3D-7B47D0F5CF8B}"/>
              </a:ext>
            </a:extLst>
          </p:cNvPr>
          <p:cNvSpPr>
            <a:spLocks noGrp="1"/>
          </p:cNvSpPr>
          <p:nvPr/>
        </p:nvSpPr>
        <p:spPr>
          <a:xfrm>
            <a:off x="6134100" y="3143248"/>
            <a:ext cx="2419350" cy="95251"/>
          </a:xfrm>
          <a:prstGeom prst="line">
            <a:avLst/>
          </a:prstGeom>
          <a:noFill/>
          <a:ln w="14288">
            <a:solidFill>
              <a:srgbClr val="D8D1C4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9F75FE1-5BD8-4D55-BA8B-AB4028E44563}"/>
              </a:ext>
            </a:extLst>
          </p:cNvPr>
          <p:cNvSpPr>
            <a:spLocks noGrp="1"/>
          </p:cNvSpPr>
          <p:nvPr/>
        </p:nvSpPr>
        <p:spPr>
          <a:xfrm>
            <a:off x="8553450" y="2862262"/>
            <a:ext cx="12192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315C97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ReadProgress</a:t>
            </a:r>
            <a:endParaRPr sz="1350" b="1" dirty="0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阅读进度</a:t>
            </a:r>
            <a:endParaRPr sz="1350" b="1" dirty="0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3CC0723B-77B5-4E30-A6CB-CF8A7F2E6407}"/>
              </a:ext>
            </a:extLst>
          </p:cNvPr>
          <p:cNvSpPr>
            <a:spLocks noGrp="1"/>
          </p:cNvSpPr>
          <p:nvPr/>
        </p:nvSpPr>
        <p:spPr>
          <a:xfrm>
            <a:off x="6096000" y="3467100"/>
            <a:ext cx="1714500" cy="704850"/>
          </a:xfrm>
          <a:prstGeom prst="line">
            <a:avLst/>
          </a:prstGeom>
          <a:noFill/>
          <a:ln w="14288">
            <a:solidFill>
              <a:srgbClr val="D8D1C4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FA8CFF5-7484-44C9-A081-F3F618600CC4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12192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E85D4F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Comment</a:t>
            </a:r>
          </a:p>
          <a:p>
            <a:pPr algn="ctr">
              <a:def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评论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F4B9CD48-2E67-4820-B1FA-7888A65EE05D}"/>
              </a:ext>
            </a:extLst>
          </p:cNvPr>
          <p:cNvSpPr>
            <a:spLocks noGrp="1"/>
          </p:cNvSpPr>
          <p:nvPr/>
        </p:nvSpPr>
        <p:spPr>
          <a:xfrm>
            <a:off x="5734050" y="3486150"/>
            <a:ext cx="209550" cy="1238250"/>
          </a:xfrm>
          <a:prstGeom prst="line">
            <a:avLst/>
          </a:prstGeom>
          <a:noFill/>
          <a:ln w="14288">
            <a:solidFill>
              <a:srgbClr val="D8D1C4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3E2DE10-ADF7-4A32-9987-BAAD747213F4}"/>
              </a:ext>
            </a:extLst>
          </p:cNvPr>
          <p:cNvSpPr>
            <a:spLocks noGrp="1"/>
          </p:cNvSpPr>
          <p:nvPr/>
        </p:nvSpPr>
        <p:spPr>
          <a:xfrm>
            <a:off x="5334000" y="4400550"/>
            <a:ext cx="12192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287D79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SearchLog</a:t>
            </a:r>
          </a:p>
          <a:p>
            <a:pPr algn="ctr">
              <a:def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搜索日志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6B055B09-FFF8-41D6-B0E6-4C761EA56343}"/>
              </a:ext>
            </a:extLst>
          </p:cNvPr>
          <p:cNvSpPr>
            <a:spLocks noGrp="1"/>
          </p:cNvSpPr>
          <p:nvPr/>
        </p:nvSpPr>
        <p:spPr>
          <a:xfrm flipV="1">
            <a:off x="4362450" y="3486150"/>
            <a:ext cx="762000" cy="685800"/>
          </a:xfrm>
          <a:prstGeom prst="line">
            <a:avLst/>
          </a:prstGeom>
          <a:noFill/>
          <a:ln w="14288">
            <a:solidFill>
              <a:srgbClr val="D8D1C4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F84AB0D-1526-4AB2-9A8F-972E5C348C6F}"/>
              </a:ext>
            </a:extLst>
          </p:cNvPr>
          <p:cNvSpPr>
            <a:spLocks noGrp="1"/>
          </p:cNvSpPr>
          <p:nvPr/>
        </p:nvSpPr>
        <p:spPr>
          <a:xfrm>
            <a:off x="3143250" y="4171950"/>
            <a:ext cx="12192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2832F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AdEvent</a:t>
            </a:r>
          </a:p>
          <a:p>
            <a:pPr algn="ctr">
              <a:def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广告曝光/点击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C245B193-817D-4419-90F8-8AD608D9052F}"/>
              </a:ext>
            </a:extLst>
          </p:cNvPr>
          <p:cNvSpPr>
            <a:spLocks noGrp="1"/>
          </p:cNvSpPr>
          <p:nvPr/>
        </p:nvSpPr>
        <p:spPr>
          <a:xfrm flipV="1">
            <a:off x="3600450" y="3257549"/>
            <a:ext cx="1524000" cy="9525"/>
          </a:xfrm>
          <a:prstGeom prst="line">
            <a:avLst/>
          </a:prstGeom>
          <a:noFill/>
          <a:ln w="14288">
            <a:solidFill>
              <a:srgbClr val="D8D1C4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1CC70D-5390-4C5C-A795-0E64761DC485}"/>
              </a:ext>
            </a:extLst>
          </p:cNvPr>
          <p:cNvSpPr>
            <a:spLocks noGrp="1"/>
          </p:cNvSpPr>
          <p:nvPr/>
        </p:nvSpPr>
        <p:spPr>
          <a:xfrm>
            <a:off x="2381250" y="2952750"/>
            <a:ext cx="12192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315C97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Author</a:t>
            </a:r>
          </a:p>
          <a:p>
            <a:pPr algn="ctr">
              <a:def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作者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DB2CC2D-0CA7-4813-AFA8-62AB31F6BAF7}"/>
              </a:ext>
            </a:extLst>
          </p:cNvPr>
          <p:cNvSpPr>
            <a:spLocks noGrp="1"/>
          </p:cNvSpPr>
          <p:nvPr/>
        </p:nvSpPr>
        <p:spPr>
          <a:xfrm>
            <a:off x="800100" y="5257800"/>
            <a:ext cx="42862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t"/>
          <a:lstStyle/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事务表</a:t>
            </a:r>
          </a:p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强调当前状态与一致性：用户信息、书架、阅读进度、章节发布状态。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9630BA0-DA76-4483-BF55-EB5E06ABD0F5}"/>
              </a:ext>
            </a:extLst>
          </p:cNvPr>
          <p:cNvSpPr>
            <a:spLocks noGrp="1"/>
          </p:cNvSpPr>
          <p:nvPr/>
        </p:nvSpPr>
        <p:spPr>
          <a:xfrm>
            <a:off x="5924550" y="5257800"/>
            <a:ext cx="4286250" cy="704850"/>
          </a:xfrm>
          <a:prstGeom prst="rect">
            <a:avLst/>
          </a:prstGeom>
          <a:solidFill>
            <a:srgbClr val="E7F0EE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t"/>
          <a:lstStyle/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日志表/事件流</a:t>
            </a:r>
          </a:p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强调过程记录与可分析性：曝光、点击、停留、翻页、搜索、广告事件。</a:t>
            </a:r>
          </a:p>
        </p:txBody>
      </p:sp>
    </p:spTree>
    <p:extLst>
      <p:ext uri="{BB962C8B-B14F-4D97-AF65-F5344CB8AC3E}">
        <p14:creationId xmlns:p14="http://schemas.microsoft.com/office/powerpoint/2010/main" val="1927693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C9F23708-F238-4BBC-99A9-E9E0CE3079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6C42F9-E157-4635-B073-C727E0BB15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85D4F"/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483B28-D7D9-42D8-B869-5BAE527566C8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93345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Architecture: course analysis. Component roles based on common big-data platform practice.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447C7D-0D1E-4376-B246-EB1B017ED6B0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609600" cy="2667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r">
              <a:defRPr sz="975">
                <a:solidFill>
                  <a:srgbClr val="5C6670"/>
                </a:solidFill>
                <a:latin typeface="Segoe UI"/>
                <a:ea typeface="Segoe UI"/>
                <a:cs typeface="Segoe UI"/>
              </a:defRPr>
            </a:pPr>
            <a:r>
              <a:rPr sz="975">
                <a:solidFill>
                  <a:srgbClr val="5C6670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B880738-0AC0-48BB-A78D-ECB3BDCC71FC}"/>
              </a:ext>
            </a:extLst>
          </p:cNvPr>
          <p:cNvSpPr>
            <a:spLocks noGrp="1"/>
          </p:cNvSpPr>
          <p:nvPr/>
        </p:nvSpPr>
        <p:spPr>
          <a:xfrm>
            <a:off x="485775" y="533400"/>
            <a:ext cx="76200" cy="76200"/>
          </a:xfrm>
          <a:prstGeom prst="ellipse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64F271-3621-47B1-8663-962F8D007B1C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2000250" cy="228600"/>
          </a:xfrm>
          <a:prstGeom prst="rect">
            <a:avLst/>
          </a:prstGeom>
          <a:noFill/>
        </p:spPr>
        <p:txBody>
          <a:bodyPr lIns="76200" tIns="38100" rIns="76200" bIns="38100" anchor="ctr"/>
          <a:lstStyle/>
          <a:p>
            <a:pPr algn="l">
              <a:defRPr sz="900">
                <a:solidFill>
                  <a:srgbClr val="B83D3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83D34"/>
                </a:solidFill>
                <a:latin typeface="Segoe UI"/>
                <a:ea typeface="Segoe UI"/>
                <a:cs typeface="Segoe UI"/>
              </a:rPr>
              <a:t>DATA FLOW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AAF9EC-B5C5-4A76-A13C-C01ECFCBB403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9906000" cy="4953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4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OLTP 与大数据平台的关系：业务事实和行为事件进入分析链路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A26A9A99-8815-40B6-963D-738B47BD9EEE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11077575" cy="9525"/>
          </a:xfrm>
          <a:prstGeom prst="line">
            <a:avLst/>
          </a:prstGeom>
          <a:noFill/>
          <a:ln w="9525">
            <a:solidFill>
              <a:srgbClr val="D8D1C4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4EA059-39B3-4CEC-A606-34C2160FD8B5}"/>
              </a:ext>
            </a:extLst>
          </p:cNvPr>
          <p:cNvSpPr>
            <a:spLocks noGrp="1"/>
          </p:cNvSpPr>
          <p:nvPr/>
        </p:nvSpPr>
        <p:spPr>
          <a:xfrm>
            <a:off x="590550" y="1962150"/>
            <a:ext cx="18097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24AA84-B8FC-4BA0-B969-F5B97D658F06}"/>
              </a:ext>
            </a:extLst>
          </p:cNvPr>
          <p:cNvSpPr>
            <a:spLocks noGrp="1"/>
          </p:cNvSpPr>
          <p:nvPr/>
        </p:nvSpPr>
        <p:spPr>
          <a:xfrm>
            <a:off x="590550" y="1962150"/>
            <a:ext cx="1809750" cy="47625"/>
          </a:xfrm>
          <a:prstGeom prst="rect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ADA907-DD94-44E9-9041-AC19E6EA9703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1581150" cy="209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OLTP 业务系统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238362-9DB7-4578-B6BB-85384F781822}"/>
              </a:ext>
            </a:extLst>
          </p:cNvPr>
          <p:cNvSpPr>
            <a:spLocks noGrp="1"/>
          </p:cNvSpPr>
          <p:nvPr/>
        </p:nvSpPr>
        <p:spPr>
          <a:xfrm>
            <a:off x="704850" y="2352675"/>
            <a:ext cx="1581150" cy="7429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用户、书籍、章节、书架、评论、广告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0D710ADA-AC3E-4161-98DD-F51E5BB6EB09}"/>
              </a:ext>
            </a:extLst>
          </p:cNvPr>
          <p:cNvSpPr>
            <a:spLocks noGrp="1"/>
          </p:cNvSpPr>
          <p:nvPr/>
        </p:nvSpPr>
        <p:spPr>
          <a:xfrm>
            <a:off x="2447925" y="2438400"/>
            <a:ext cx="361950" cy="190500"/>
          </a:xfrm>
          <a:prstGeom prst="rightArrow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13A920-09F1-45C7-ABF5-0DDD356E68A6}"/>
              </a:ext>
            </a:extLst>
          </p:cNvPr>
          <p:cNvSpPr>
            <a:spLocks noGrp="1"/>
          </p:cNvSpPr>
          <p:nvPr/>
        </p:nvSpPr>
        <p:spPr>
          <a:xfrm>
            <a:off x="2857500" y="1962150"/>
            <a:ext cx="18097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034D50-DAED-4A2E-BBE5-1CB1A2216DB1}"/>
              </a:ext>
            </a:extLst>
          </p:cNvPr>
          <p:cNvSpPr>
            <a:spLocks noGrp="1"/>
          </p:cNvSpPr>
          <p:nvPr/>
        </p:nvSpPr>
        <p:spPr>
          <a:xfrm>
            <a:off x="2857500" y="1962150"/>
            <a:ext cx="1809750" cy="47625"/>
          </a:xfrm>
          <a:prstGeom prst="rect">
            <a:avLst/>
          </a:prstGeom>
          <a:solidFill>
            <a:srgbClr val="287D79"/>
          </a:solidFill>
          <a:ln w="0">
            <a:solidFill>
              <a:srgbClr val="287D79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48E0D0-B576-47B5-BA9D-0E89AC1A11AD}"/>
              </a:ext>
            </a:extLst>
          </p:cNvPr>
          <p:cNvSpPr>
            <a:spLocks noGrp="1"/>
          </p:cNvSpPr>
          <p:nvPr/>
        </p:nvSpPr>
        <p:spPr>
          <a:xfrm>
            <a:off x="2971800" y="2095500"/>
            <a:ext cx="1581150" cy="209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数据采集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571BF3-AD86-4CB1-A429-5301D28C89FB}"/>
              </a:ext>
            </a:extLst>
          </p:cNvPr>
          <p:cNvSpPr>
            <a:spLocks noGrp="1"/>
          </p:cNvSpPr>
          <p:nvPr/>
        </p:nvSpPr>
        <p:spPr>
          <a:xfrm>
            <a:off x="2971800" y="2352675"/>
            <a:ext cx="1581150" cy="7429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CDC / DataX / Kafka / 埋点 SDK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4D3EE341-4521-49C2-9CB3-C6D6671BA0E0}"/>
              </a:ext>
            </a:extLst>
          </p:cNvPr>
          <p:cNvSpPr>
            <a:spLocks noGrp="1"/>
          </p:cNvSpPr>
          <p:nvPr/>
        </p:nvSpPr>
        <p:spPr>
          <a:xfrm>
            <a:off x="4714875" y="2438400"/>
            <a:ext cx="361950" cy="190500"/>
          </a:xfrm>
          <a:prstGeom prst="rightArrow">
            <a:avLst/>
          </a:prstGeom>
          <a:solidFill>
            <a:srgbClr val="287D79"/>
          </a:solidFill>
          <a:ln w="0">
            <a:solidFill>
              <a:srgbClr val="287D79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AC008FA-15FB-4460-B524-C725E7FFA61F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18097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378D869-D885-49A1-A706-395763A9011B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1809750" cy="47625"/>
          </a:xfrm>
          <a:prstGeom prst="rect">
            <a:avLst/>
          </a:prstGeom>
          <a:solidFill>
            <a:srgbClr val="315C97"/>
          </a:solidFill>
          <a:ln w="0">
            <a:solidFill>
              <a:srgbClr val="315C97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F738E95-BFCD-4E80-9A58-C4803CC64F4E}"/>
              </a:ext>
            </a:extLst>
          </p:cNvPr>
          <p:cNvSpPr>
            <a:spLocks noGrp="1"/>
          </p:cNvSpPr>
          <p:nvPr/>
        </p:nvSpPr>
        <p:spPr>
          <a:xfrm>
            <a:off x="5238750" y="2095500"/>
            <a:ext cx="1581150" cy="209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存储与建模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DDB8AB-EC4C-4B6F-85FD-220522EC0B1C}"/>
              </a:ext>
            </a:extLst>
          </p:cNvPr>
          <p:cNvSpPr>
            <a:spLocks noGrp="1"/>
          </p:cNvSpPr>
          <p:nvPr/>
        </p:nvSpPr>
        <p:spPr>
          <a:xfrm>
            <a:off x="5238750" y="2352675"/>
            <a:ext cx="1581150" cy="7429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HDFS / Hive</a:t>
            </a:r>
          </a:p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ODS-DWD-DWS-ADS</a:t>
            </a: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15777CB9-90E3-4FD3-A200-DDA9DD813BF3}"/>
              </a:ext>
            </a:extLst>
          </p:cNvPr>
          <p:cNvSpPr>
            <a:spLocks noGrp="1"/>
          </p:cNvSpPr>
          <p:nvPr/>
        </p:nvSpPr>
        <p:spPr>
          <a:xfrm>
            <a:off x="6981825" y="2438400"/>
            <a:ext cx="361950" cy="190500"/>
          </a:xfrm>
          <a:prstGeom prst="rightArrow">
            <a:avLst/>
          </a:prstGeom>
          <a:solidFill>
            <a:srgbClr val="315C97"/>
          </a:solidFill>
          <a:ln w="0">
            <a:solidFill>
              <a:srgbClr val="315C97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4617E68-9BE4-453D-A508-3323ED31BE0C}"/>
              </a:ext>
            </a:extLst>
          </p:cNvPr>
          <p:cNvSpPr>
            <a:spLocks noGrp="1"/>
          </p:cNvSpPr>
          <p:nvPr/>
        </p:nvSpPr>
        <p:spPr>
          <a:xfrm>
            <a:off x="7391400" y="1962150"/>
            <a:ext cx="18097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DD62110-89B6-43DC-983B-4A3F422214BA}"/>
              </a:ext>
            </a:extLst>
          </p:cNvPr>
          <p:cNvSpPr>
            <a:spLocks noGrp="1"/>
          </p:cNvSpPr>
          <p:nvPr/>
        </p:nvSpPr>
        <p:spPr>
          <a:xfrm>
            <a:off x="7391400" y="1962150"/>
            <a:ext cx="1809750" cy="47625"/>
          </a:xfrm>
          <a:prstGeom prst="rect">
            <a:avLst/>
          </a:prstGeom>
          <a:solidFill>
            <a:srgbClr val="B2832F"/>
          </a:solidFill>
          <a:ln w="0">
            <a:solidFill>
              <a:srgbClr val="B2832F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82077A6-C897-4976-888A-E03495CD6B3B}"/>
              </a:ext>
            </a:extLst>
          </p:cNvPr>
          <p:cNvSpPr>
            <a:spLocks noGrp="1"/>
          </p:cNvSpPr>
          <p:nvPr/>
        </p:nvSpPr>
        <p:spPr>
          <a:xfrm>
            <a:off x="7505700" y="2095500"/>
            <a:ext cx="1581150" cy="209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计算处理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D8C64D-1C5F-42C5-BF87-4B92CFD27528}"/>
              </a:ext>
            </a:extLst>
          </p:cNvPr>
          <p:cNvSpPr>
            <a:spLocks noGrp="1"/>
          </p:cNvSpPr>
          <p:nvPr/>
        </p:nvSpPr>
        <p:spPr>
          <a:xfrm>
            <a:off x="7505700" y="2352675"/>
            <a:ext cx="1581150" cy="7429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Flink 实时计算</a:t>
            </a:r>
          </a:p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Spark 离线计算</a:t>
            </a: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EA927063-9A20-457B-8410-7CF741E56041}"/>
              </a:ext>
            </a:extLst>
          </p:cNvPr>
          <p:cNvSpPr>
            <a:spLocks noGrp="1"/>
          </p:cNvSpPr>
          <p:nvPr/>
        </p:nvSpPr>
        <p:spPr>
          <a:xfrm>
            <a:off x="9248775" y="2438400"/>
            <a:ext cx="361950" cy="190500"/>
          </a:xfrm>
          <a:prstGeom prst="rightArrow">
            <a:avLst/>
          </a:prstGeom>
          <a:solidFill>
            <a:srgbClr val="B2832F"/>
          </a:solidFill>
          <a:ln w="0">
            <a:solidFill>
              <a:srgbClr val="B2832F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0E4730A-5B60-4F5A-BF96-9E8FD8F14EDA}"/>
              </a:ext>
            </a:extLst>
          </p:cNvPr>
          <p:cNvSpPr>
            <a:spLocks noGrp="1"/>
          </p:cNvSpPr>
          <p:nvPr/>
        </p:nvSpPr>
        <p:spPr>
          <a:xfrm>
            <a:off x="9658350" y="1962150"/>
            <a:ext cx="18097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F3F1A94-E732-4E10-80AF-F9C6906A3429}"/>
              </a:ext>
            </a:extLst>
          </p:cNvPr>
          <p:cNvSpPr>
            <a:spLocks noGrp="1"/>
          </p:cNvSpPr>
          <p:nvPr/>
        </p:nvSpPr>
        <p:spPr>
          <a:xfrm>
            <a:off x="9658350" y="1962150"/>
            <a:ext cx="1809750" cy="47625"/>
          </a:xfrm>
          <a:prstGeom prst="rect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9C31588-8D12-438F-945F-ED34E34AE26A}"/>
              </a:ext>
            </a:extLst>
          </p:cNvPr>
          <p:cNvSpPr>
            <a:spLocks noGrp="1"/>
          </p:cNvSpPr>
          <p:nvPr/>
        </p:nvSpPr>
        <p:spPr>
          <a:xfrm>
            <a:off x="9772650" y="2095500"/>
            <a:ext cx="1581150" cy="209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数据服务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FBB8FDC-CBD6-4527-B1BB-9B69F017A5D3}"/>
              </a:ext>
            </a:extLst>
          </p:cNvPr>
          <p:cNvSpPr>
            <a:spLocks noGrp="1"/>
          </p:cNvSpPr>
          <p:nvPr/>
        </p:nvSpPr>
        <p:spPr>
          <a:xfrm>
            <a:off x="9772650" y="2352675"/>
            <a:ext cx="1581150" cy="7429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Doris/ClickHouse</a:t>
            </a:r>
          </a:p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Superset / 推荐 / 风控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626E5D0-014C-44A4-A11E-AA876240FD1D}"/>
              </a:ext>
            </a:extLst>
          </p:cNvPr>
          <p:cNvSpPr>
            <a:spLocks noGrp="1"/>
          </p:cNvSpPr>
          <p:nvPr/>
        </p:nvSpPr>
        <p:spPr>
          <a:xfrm>
            <a:off x="1047750" y="3905250"/>
            <a:ext cx="2476500" cy="838200"/>
          </a:xfrm>
          <a:prstGeom prst="rect">
            <a:avLst/>
          </a:prstGeom>
          <a:solidFill>
            <a:srgbClr val="FFFDF8"/>
          </a:solidFill>
          <a:ln w="9525">
            <a:solidFill>
              <a:srgbClr val="315C97"/>
            </a:solidFill>
          </a:ln>
        </p:spPr>
        <p:txBody>
          <a:bodyPr lIns="133350" tIns="114300" rIns="133350" bIns="114300" anchor="t"/>
          <a:lstStyle/>
          <a:p>
            <a:pPr algn="l">
              <a:defRPr sz="116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业务库变更</a:t>
            </a:r>
          </a:p>
          <a:p>
            <a:pPr algn="l">
              <a:defRPr sz="116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订单式事实：用户、书架、章节、评论状态变化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C866459-DDAD-4EF6-A9D3-463143628125}"/>
              </a:ext>
            </a:extLst>
          </p:cNvPr>
          <p:cNvSpPr>
            <a:spLocks noGrp="1"/>
          </p:cNvSpPr>
          <p:nvPr/>
        </p:nvSpPr>
        <p:spPr>
          <a:xfrm>
            <a:off x="4095750" y="3905250"/>
            <a:ext cx="2476500" cy="838200"/>
          </a:xfrm>
          <a:prstGeom prst="rect">
            <a:avLst/>
          </a:prstGeom>
          <a:solidFill>
            <a:srgbClr val="FFFDF8"/>
          </a:solidFill>
          <a:ln w="9525">
            <a:solidFill>
              <a:srgbClr val="287D79"/>
            </a:solidFill>
          </a:ln>
        </p:spPr>
        <p:txBody>
          <a:bodyPr lIns="133350" tIns="114300" rIns="133350" bIns="114300" anchor="t"/>
          <a:lstStyle/>
          <a:p>
            <a:pPr algn="l">
              <a:defRPr sz="116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用户行为日志</a:t>
            </a:r>
          </a:p>
          <a:p>
            <a:pPr algn="l">
              <a:defRPr sz="116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点击、曝光、阅读时长、搜索词、广告事件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980FBF3-645F-473C-AA04-D191DE970A3F}"/>
              </a:ext>
            </a:extLst>
          </p:cNvPr>
          <p:cNvSpPr>
            <a:spLocks noGrp="1"/>
          </p:cNvSpPr>
          <p:nvPr/>
        </p:nvSpPr>
        <p:spPr>
          <a:xfrm>
            <a:off x="7143750" y="3905250"/>
            <a:ext cx="2476500" cy="838200"/>
          </a:xfrm>
          <a:prstGeom prst="rect">
            <a:avLst/>
          </a:prstGeom>
          <a:solidFill>
            <a:srgbClr val="FFFDF8"/>
          </a:solidFill>
          <a:ln w="9525">
            <a:solidFill>
              <a:srgbClr val="E85D4F"/>
            </a:solidFill>
          </a:ln>
        </p:spPr>
        <p:txBody>
          <a:bodyPr lIns="133350" tIns="114300" rIns="133350" bIns="114300" anchor="t"/>
          <a:lstStyle/>
          <a:p>
            <a:pPr algn="l">
              <a:defRPr sz="116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计算结果回流</a:t>
            </a:r>
          </a:p>
          <a:p>
            <a:pPr algn="l">
              <a:defRPr sz="116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用户画像、推荐特征、作品热度、风控标签</a:t>
            </a:r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89FEBF19-AF22-4CF5-95F5-33A398C2577B}"/>
              </a:ext>
            </a:extLst>
          </p:cNvPr>
          <p:cNvSpPr>
            <a:spLocks noGrp="1"/>
          </p:cNvSpPr>
          <p:nvPr/>
        </p:nvSpPr>
        <p:spPr>
          <a:xfrm>
            <a:off x="3562350" y="4229100"/>
            <a:ext cx="400050" cy="190500"/>
          </a:xfrm>
          <a:prstGeom prst="rightArrow">
            <a:avLst/>
          </a:prstGeom>
          <a:solidFill>
            <a:srgbClr val="D8D1C4"/>
          </a:solidFill>
          <a:ln w="0">
            <a:solidFill>
              <a:srgbClr val="D8D1C4"/>
            </a:solidFill>
          </a:ln>
        </p:spPr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ECF3BC92-4365-4131-B69B-BB63C1037792}"/>
              </a:ext>
            </a:extLst>
          </p:cNvPr>
          <p:cNvSpPr>
            <a:spLocks noGrp="1"/>
          </p:cNvSpPr>
          <p:nvPr/>
        </p:nvSpPr>
        <p:spPr>
          <a:xfrm>
            <a:off x="6610350" y="4229100"/>
            <a:ext cx="400050" cy="190500"/>
          </a:xfrm>
          <a:prstGeom prst="rightArrow">
            <a:avLst/>
          </a:prstGeom>
          <a:solidFill>
            <a:srgbClr val="D8D1C4"/>
          </a:solidFill>
          <a:ln w="0">
            <a:solidFill>
              <a:srgbClr val="D8D1C4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AC7D2E1-F7B7-4D2E-B57C-73B34582ED80}"/>
              </a:ext>
            </a:extLst>
          </p:cNvPr>
          <p:cNvSpPr>
            <a:spLocks noGrp="1"/>
          </p:cNvSpPr>
          <p:nvPr/>
        </p:nvSpPr>
        <p:spPr>
          <a:xfrm>
            <a:off x="1257300" y="5334000"/>
            <a:ext cx="9639300" cy="514350"/>
          </a:xfrm>
          <a:prstGeom prst="rect">
            <a:avLst/>
          </a:prstGeom>
          <a:solidFill>
            <a:srgbClr val="1E2732"/>
          </a:solidFill>
          <a:ln w="9525">
            <a:solidFill>
              <a:srgbClr val="1E2732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核心理解：OLTP 不是被大数据平台替代，而是作为数据源；大数据平台把实时业务数据沉淀为可分析、可反馈的决策资产。</a:t>
            </a:r>
          </a:p>
        </p:txBody>
      </p:sp>
    </p:spTree>
    <p:extLst>
      <p:ext uri="{BB962C8B-B14F-4D97-AF65-F5344CB8AC3E}">
        <p14:creationId xmlns:p14="http://schemas.microsoft.com/office/powerpoint/2010/main" val="1509439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09F4BDF5-F4E5-424F-B64D-67B0734B63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EB6437-277D-4386-8DD9-5254C8C4FC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85D4F"/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CE0D15-1E23-41FB-AC66-215548E872AA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93345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Component role summary based on common Apache/open-source data-platform practice.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6AA0E8-D3B0-4B25-BA1F-AB7DC5BCE683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609600" cy="2667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r">
              <a:defRPr sz="975">
                <a:solidFill>
                  <a:srgbClr val="5C6670"/>
                </a:solidFill>
                <a:latin typeface="Segoe UI"/>
                <a:ea typeface="Segoe UI"/>
                <a:cs typeface="Segoe UI"/>
              </a:defRPr>
            </a:pPr>
            <a:r>
              <a:rPr sz="975">
                <a:solidFill>
                  <a:srgbClr val="5C6670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BC970E3-9FC1-45EE-9094-FCA841306AB5}"/>
              </a:ext>
            </a:extLst>
          </p:cNvPr>
          <p:cNvSpPr>
            <a:spLocks noGrp="1"/>
          </p:cNvSpPr>
          <p:nvPr/>
        </p:nvSpPr>
        <p:spPr>
          <a:xfrm>
            <a:off x="485775" y="533400"/>
            <a:ext cx="76200" cy="76200"/>
          </a:xfrm>
          <a:prstGeom prst="ellipse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3AB885-97D0-4E22-89D3-80232E2343D9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2000250" cy="228600"/>
          </a:xfrm>
          <a:prstGeom prst="rect">
            <a:avLst/>
          </a:prstGeom>
          <a:noFill/>
        </p:spPr>
        <p:txBody>
          <a:bodyPr lIns="76200" tIns="38100" rIns="76200" bIns="38100" anchor="ctr"/>
          <a:lstStyle/>
          <a:p>
            <a:pPr algn="l">
              <a:defRPr sz="900">
                <a:solidFill>
                  <a:srgbClr val="B83D3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83D34"/>
                </a:solidFill>
                <a:latin typeface="Segoe UI"/>
                <a:ea typeface="Segoe UI"/>
                <a:cs typeface="Segoe UI"/>
              </a:rPr>
              <a:t>COMPONENT ROLES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23A645-6A9D-4DA3-A19A-99656DE0E63C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9906000" cy="4953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4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这些组件不是数据库插件，而是部署在服务器</a:t>
            </a:r>
            <a:r>
              <a:rPr sz="2400" b="1" dirty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2400" b="1" dirty="0" err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集群上的独立系统</a:t>
            </a:r>
            <a:endParaRPr sz="2400" b="1" dirty="0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616BD314-9CE6-44E1-B899-C32886D49512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11077575" cy="9525"/>
          </a:xfrm>
          <a:prstGeom prst="line">
            <a:avLst/>
          </a:prstGeom>
          <a:noFill/>
          <a:ln w="9525">
            <a:solidFill>
              <a:srgbClr val="D8D1C4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26D145-FCA8-49DE-9DC4-687E61EF2EA6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524000" cy="323850"/>
          </a:xfrm>
          <a:prstGeom prst="rect">
            <a:avLst/>
          </a:prstGeom>
          <a:solidFill>
            <a:srgbClr val="1E2732"/>
          </a:solidFill>
          <a:ln w="9525">
            <a:solidFill>
              <a:srgbClr val="1E2732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7573D3-9CDB-4892-961A-12C4A2D0D4AD}"/>
              </a:ext>
            </a:extLst>
          </p:cNvPr>
          <p:cNvSpPr>
            <a:spLocks noGrp="1"/>
          </p:cNvSpPr>
          <p:nvPr/>
        </p:nvSpPr>
        <p:spPr>
          <a:xfrm>
            <a:off x="2133600" y="1466850"/>
            <a:ext cx="2190750" cy="323850"/>
          </a:xfrm>
          <a:prstGeom prst="rect">
            <a:avLst/>
          </a:prstGeom>
          <a:solidFill>
            <a:srgbClr val="1E2732"/>
          </a:solidFill>
          <a:ln w="9525">
            <a:solidFill>
              <a:srgbClr val="1E2732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主要功能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DE3993-0701-4A1C-9650-1B83BF78EEEA}"/>
              </a:ext>
            </a:extLst>
          </p:cNvPr>
          <p:cNvSpPr>
            <a:spLocks noGrp="1"/>
          </p:cNvSpPr>
          <p:nvPr/>
        </p:nvSpPr>
        <p:spPr>
          <a:xfrm>
            <a:off x="4324350" y="1466850"/>
            <a:ext cx="6953250" cy="323850"/>
          </a:xfrm>
          <a:prstGeom prst="rect">
            <a:avLst/>
          </a:prstGeom>
          <a:solidFill>
            <a:srgbClr val="1E2732"/>
          </a:solidFill>
          <a:ln w="9525">
            <a:solidFill>
              <a:srgbClr val="1E2732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在番茄小说类平台中的使用方式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077102-EE63-4D3D-B45B-451FA96367D2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1524000" cy="38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rPr>
              <a:t>Kafka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D6AD33-F90C-467D-9973-53C7315B6342}"/>
              </a:ext>
            </a:extLst>
          </p:cNvPr>
          <p:cNvSpPr>
            <a:spLocks noGrp="1"/>
          </p:cNvSpPr>
          <p:nvPr/>
        </p:nvSpPr>
        <p:spPr>
          <a:xfrm>
            <a:off x="2133600" y="1790700"/>
            <a:ext cx="2190750" cy="38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消息队列/事件流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A7379C2-6CF3-47EE-A970-C519EF106D69}"/>
              </a:ext>
            </a:extLst>
          </p:cNvPr>
          <p:cNvSpPr>
            <a:spLocks noGrp="1"/>
          </p:cNvSpPr>
          <p:nvPr/>
        </p:nvSpPr>
        <p:spPr>
          <a:xfrm>
            <a:off x="4324350" y="1790700"/>
            <a:ext cx="6953250" cy="38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承接阅读日志、广告事件、业务变更，削峰填谷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2068C7-B427-4F2D-839B-2A66F3F89FFB}"/>
              </a:ext>
            </a:extLst>
          </p:cNvPr>
          <p:cNvSpPr>
            <a:spLocks noGrp="1"/>
          </p:cNvSpPr>
          <p:nvPr/>
        </p:nvSpPr>
        <p:spPr>
          <a:xfrm>
            <a:off x="609600" y="2200275"/>
            <a:ext cx="1524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287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87D79"/>
                </a:solidFill>
                <a:latin typeface="Microsoft YaHei"/>
                <a:ea typeface="Microsoft YaHei"/>
                <a:cs typeface="Microsoft YaHei"/>
              </a:rPr>
              <a:t>Flink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2E577A-7D9D-4524-BA90-B4626E5DFE65}"/>
              </a:ext>
            </a:extLst>
          </p:cNvPr>
          <p:cNvSpPr>
            <a:spLocks noGrp="1"/>
          </p:cNvSpPr>
          <p:nvPr/>
        </p:nvSpPr>
        <p:spPr>
          <a:xfrm>
            <a:off x="2133600" y="2200275"/>
            <a:ext cx="2190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实时流计算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A647A94-B470-4EC2-9BD4-53A71C699F1C}"/>
              </a:ext>
            </a:extLst>
          </p:cNvPr>
          <p:cNvSpPr>
            <a:spLocks noGrp="1"/>
          </p:cNvSpPr>
          <p:nvPr/>
        </p:nvSpPr>
        <p:spPr>
          <a:xfrm>
            <a:off x="4324350" y="2200275"/>
            <a:ext cx="6953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实时统计在线阅读、广告 CTR、异常刷量、推荐特征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EB2601E-CFF2-461B-9DE1-899BA938BA34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1524000" cy="38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rPr>
              <a:t>Spark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CF2B626-6DAF-499E-AE1A-0EC27E24081A}"/>
              </a:ext>
            </a:extLst>
          </p:cNvPr>
          <p:cNvSpPr>
            <a:spLocks noGrp="1"/>
          </p:cNvSpPr>
          <p:nvPr/>
        </p:nvSpPr>
        <p:spPr>
          <a:xfrm>
            <a:off x="2133600" y="2609850"/>
            <a:ext cx="2190750" cy="38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离线批处理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03A30C2-3551-4444-B520-16DD19FD13F4}"/>
              </a:ext>
            </a:extLst>
          </p:cNvPr>
          <p:cNvSpPr>
            <a:spLocks noGrp="1"/>
          </p:cNvSpPr>
          <p:nvPr/>
        </p:nvSpPr>
        <p:spPr>
          <a:xfrm>
            <a:off x="4324350" y="2609850"/>
            <a:ext cx="6953250" cy="38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每日计算留存、完读率、作者/作品画像和历史宽表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8B0305C-75F7-4DB4-8428-5A07BC4B1C52}"/>
              </a:ext>
            </a:extLst>
          </p:cNvPr>
          <p:cNvSpPr>
            <a:spLocks noGrp="1"/>
          </p:cNvSpPr>
          <p:nvPr/>
        </p:nvSpPr>
        <p:spPr>
          <a:xfrm>
            <a:off x="609600" y="3019425"/>
            <a:ext cx="1524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B283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B2832F"/>
                </a:solidFill>
                <a:latin typeface="Microsoft YaHei"/>
                <a:ea typeface="Microsoft YaHei"/>
                <a:cs typeface="Microsoft YaHei"/>
              </a:rPr>
              <a:t>Hive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23435E2-6ACB-459A-93DC-E1460770F4CB}"/>
              </a:ext>
            </a:extLst>
          </p:cNvPr>
          <p:cNvSpPr>
            <a:spLocks noGrp="1"/>
          </p:cNvSpPr>
          <p:nvPr/>
        </p:nvSpPr>
        <p:spPr>
          <a:xfrm>
            <a:off x="2133600" y="3019425"/>
            <a:ext cx="2190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数据仓库 SQL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9B175EA-1C24-43C5-9BA7-49AE07AA7214}"/>
              </a:ext>
            </a:extLst>
          </p:cNvPr>
          <p:cNvSpPr>
            <a:spLocks noGrp="1"/>
          </p:cNvSpPr>
          <p:nvPr/>
        </p:nvSpPr>
        <p:spPr>
          <a:xfrm>
            <a:off x="4324350" y="3019425"/>
            <a:ext cx="6953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把 HDFS 上的数据组织成表，支持数仓分层查询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DE03EBF-85EF-44C6-9757-58A3B4A1095E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1524000" cy="38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rPr>
              <a:t>HDFS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DC36A69-1966-4018-8F24-088B64E7E529}"/>
              </a:ext>
            </a:extLst>
          </p:cNvPr>
          <p:cNvSpPr>
            <a:spLocks noGrp="1"/>
          </p:cNvSpPr>
          <p:nvPr/>
        </p:nvSpPr>
        <p:spPr>
          <a:xfrm>
            <a:off x="2133600" y="3429000"/>
            <a:ext cx="2190750" cy="38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分布式存储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DD504F-EA75-448A-A7F2-98CF98086FC2}"/>
              </a:ext>
            </a:extLst>
          </p:cNvPr>
          <p:cNvSpPr>
            <a:spLocks noGrp="1"/>
          </p:cNvSpPr>
          <p:nvPr/>
        </p:nvSpPr>
        <p:spPr>
          <a:xfrm>
            <a:off x="4324350" y="3429000"/>
            <a:ext cx="6953250" cy="38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存放海量原始日志、离线明细表和历史快照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EF91765-FF7C-4B88-80A1-CBAC8E3CE082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1524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287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87D79"/>
                </a:solidFill>
                <a:latin typeface="Microsoft YaHei"/>
                <a:ea typeface="Microsoft YaHei"/>
                <a:cs typeface="Microsoft YaHei"/>
              </a:rPr>
              <a:t>ClickHouse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8361969-A214-4FF1-9125-392142A9F058}"/>
              </a:ext>
            </a:extLst>
          </p:cNvPr>
          <p:cNvSpPr>
            <a:spLocks noGrp="1"/>
          </p:cNvSpPr>
          <p:nvPr/>
        </p:nvSpPr>
        <p:spPr>
          <a:xfrm>
            <a:off x="2133600" y="3838575"/>
            <a:ext cx="2190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高性能 OLAP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BCE209C-F231-4074-A42D-E51AE4B6CDA1}"/>
              </a:ext>
            </a:extLst>
          </p:cNvPr>
          <p:cNvSpPr>
            <a:spLocks noGrp="1"/>
          </p:cNvSpPr>
          <p:nvPr/>
        </p:nvSpPr>
        <p:spPr>
          <a:xfrm>
            <a:off x="4324350" y="3838575"/>
            <a:ext cx="6953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低延迟查询多维指标、运营分析和明细钻取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537907-FA4B-43DC-89B3-5BD6A91FF5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1524000" cy="38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rPr>
              <a:t>Doris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AC6EA7F-C348-478C-92B8-498DB79A0613}"/>
              </a:ext>
            </a:extLst>
          </p:cNvPr>
          <p:cNvSpPr>
            <a:spLocks noGrp="1"/>
          </p:cNvSpPr>
          <p:nvPr/>
        </p:nvSpPr>
        <p:spPr>
          <a:xfrm>
            <a:off x="2133600" y="4248150"/>
            <a:ext cx="2190750" cy="38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实时数仓/OLAP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76FBC92-8B30-486A-B8DF-21DDA3448115}"/>
              </a:ext>
            </a:extLst>
          </p:cNvPr>
          <p:cNvSpPr>
            <a:spLocks noGrp="1"/>
          </p:cNvSpPr>
          <p:nvPr/>
        </p:nvSpPr>
        <p:spPr>
          <a:xfrm>
            <a:off x="4324350" y="4248150"/>
            <a:ext cx="6953250" cy="38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承接实时/离线数据，面向 BI 和数据服务查询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C609FB3-4F0A-4EA1-AB61-58C05615D0D5}"/>
              </a:ext>
            </a:extLst>
          </p:cNvPr>
          <p:cNvSpPr>
            <a:spLocks noGrp="1"/>
          </p:cNvSpPr>
          <p:nvPr/>
        </p:nvSpPr>
        <p:spPr>
          <a:xfrm>
            <a:off x="609600" y="4657725"/>
            <a:ext cx="1524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B283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B2832F"/>
                </a:solidFill>
                <a:latin typeface="Microsoft YaHei"/>
                <a:ea typeface="Microsoft YaHei"/>
                <a:cs typeface="Microsoft YaHei"/>
              </a:rPr>
              <a:t>Airflow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0F13470-A847-4432-9F1D-B32D3C42313D}"/>
              </a:ext>
            </a:extLst>
          </p:cNvPr>
          <p:cNvSpPr>
            <a:spLocks noGrp="1"/>
          </p:cNvSpPr>
          <p:nvPr/>
        </p:nvSpPr>
        <p:spPr>
          <a:xfrm>
            <a:off x="2133600" y="4657725"/>
            <a:ext cx="2190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任务调度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DC744E8-E59C-443B-8EB7-6DC12CEA0493}"/>
              </a:ext>
            </a:extLst>
          </p:cNvPr>
          <p:cNvSpPr>
            <a:spLocks noGrp="1"/>
          </p:cNvSpPr>
          <p:nvPr/>
        </p:nvSpPr>
        <p:spPr>
          <a:xfrm>
            <a:off x="4324350" y="4657725"/>
            <a:ext cx="6953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定时编排同步、清洗、建模、报表生成任务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32AA5CA-6F2D-4FA8-ACDC-963DF50B6DE3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1524000" cy="38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rPr>
              <a:t>DataX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9F2C9AE-AA06-433B-8CEF-6B91986079EA}"/>
              </a:ext>
            </a:extLst>
          </p:cNvPr>
          <p:cNvSpPr>
            <a:spLocks noGrp="1"/>
          </p:cNvSpPr>
          <p:nvPr/>
        </p:nvSpPr>
        <p:spPr>
          <a:xfrm>
            <a:off x="2133600" y="5067300"/>
            <a:ext cx="2190750" cy="38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数据同步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0C46798-AC9C-4870-B36E-ADBD3ECE6F21}"/>
              </a:ext>
            </a:extLst>
          </p:cNvPr>
          <p:cNvSpPr>
            <a:spLocks noGrp="1"/>
          </p:cNvSpPr>
          <p:nvPr/>
        </p:nvSpPr>
        <p:spPr>
          <a:xfrm>
            <a:off x="4324350" y="5067300"/>
            <a:ext cx="6953250" cy="38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从 MySQL 等业务库批量同步到 Hive/Doris 等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B4F21AC-4A9A-4866-8589-7E5EA3B39EF3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1524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287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87D79"/>
                </a:solidFill>
                <a:latin typeface="Microsoft YaHei"/>
                <a:ea typeface="Microsoft YaHei"/>
                <a:cs typeface="Microsoft YaHei"/>
              </a:rPr>
              <a:t>Superset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9E811BD-912E-4AE1-B0AB-E3908D061C65}"/>
              </a:ext>
            </a:extLst>
          </p:cNvPr>
          <p:cNvSpPr>
            <a:spLocks noGrp="1"/>
          </p:cNvSpPr>
          <p:nvPr/>
        </p:nvSpPr>
        <p:spPr>
          <a:xfrm>
            <a:off x="2133600" y="5476875"/>
            <a:ext cx="2190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BI 可视化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E4D6C12-B69A-45D1-BA32-725100F299A4}"/>
              </a:ext>
            </a:extLst>
          </p:cNvPr>
          <p:cNvSpPr>
            <a:spLocks noGrp="1"/>
          </p:cNvSpPr>
          <p:nvPr/>
        </p:nvSpPr>
        <p:spPr>
          <a:xfrm>
            <a:off x="4324350" y="5476875"/>
            <a:ext cx="6953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把指标做成运营看板、课程报告图表或管理驾驶舱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C711482-E2B5-475C-BF5F-5E1B344E0BAE}"/>
              </a:ext>
            </a:extLst>
          </p:cNvPr>
          <p:cNvSpPr>
            <a:spLocks noGrp="1"/>
          </p:cNvSpPr>
          <p:nvPr/>
        </p:nvSpPr>
        <p:spPr>
          <a:xfrm>
            <a:off x="876300" y="6019800"/>
            <a:ext cx="10096500" cy="2667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00">
                <a:solidFill>
                  <a:srgbClr val="B83D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83D34"/>
                </a:solidFill>
                <a:latin typeface="Microsoft YaHei"/>
                <a:ea typeface="Microsoft YaHei"/>
                <a:cs typeface="Microsoft YaHei"/>
              </a:rPr>
              <a:t>部署形态：通常是物理机/虚拟机/Docker/Kubernetes/云托管服务上的集群，通过网络与业务系统通信。</a:t>
            </a:r>
          </a:p>
        </p:txBody>
      </p:sp>
    </p:spTree>
    <p:extLst>
      <p:ext uri="{BB962C8B-B14F-4D97-AF65-F5344CB8AC3E}">
        <p14:creationId xmlns:p14="http://schemas.microsoft.com/office/powerpoint/2010/main" val="91532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3CB61C49-4434-4CD9-8585-83704797DC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5C2DF6-81F2-4148-8596-BE8C63A051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85D4F"/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9895BA-6A03-405B-85D1-95D998776782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93345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Warehouse layering: ODS/DWD/DWS/ADS design adapted to online-reading business.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CCB141-F826-4211-8D76-E86FA36968F9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609600" cy="2667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r">
              <a:defRPr sz="975">
                <a:solidFill>
                  <a:srgbClr val="5C6670"/>
                </a:solidFill>
                <a:latin typeface="Segoe UI"/>
                <a:ea typeface="Segoe UI"/>
                <a:cs typeface="Segoe UI"/>
              </a:defRPr>
            </a:pPr>
            <a:r>
              <a:rPr sz="975">
                <a:solidFill>
                  <a:srgbClr val="5C6670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C65EA91-5668-4900-B0A6-E109266EDFD9}"/>
              </a:ext>
            </a:extLst>
          </p:cNvPr>
          <p:cNvSpPr>
            <a:spLocks noGrp="1"/>
          </p:cNvSpPr>
          <p:nvPr/>
        </p:nvSpPr>
        <p:spPr>
          <a:xfrm>
            <a:off x="485775" y="533400"/>
            <a:ext cx="76200" cy="76200"/>
          </a:xfrm>
          <a:prstGeom prst="ellipse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2E4548-4343-4516-A329-54589649F97B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2000250" cy="228600"/>
          </a:xfrm>
          <a:prstGeom prst="rect">
            <a:avLst/>
          </a:prstGeom>
          <a:noFill/>
        </p:spPr>
        <p:txBody>
          <a:bodyPr lIns="76200" tIns="38100" rIns="76200" bIns="38100" anchor="ctr"/>
          <a:lstStyle/>
          <a:p>
            <a:pPr algn="l">
              <a:defRPr sz="900">
                <a:solidFill>
                  <a:srgbClr val="B83D3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83D34"/>
                </a:solidFill>
                <a:latin typeface="Segoe UI"/>
                <a:ea typeface="Segoe UI"/>
                <a:cs typeface="Segoe UI"/>
              </a:rPr>
              <a:t>WAREHOUSE LAYERS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AC7DEB-1C03-43C3-B747-26D8F4838EC3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9906000" cy="4953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4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数据仓库分层把杂乱日志转成可复用、可解释的分析资产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F88225CB-4F37-4892-AECD-A8C89DEBA0E3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11077575" cy="9525"/>
          </a:xfrm>
          <a:prstGeom prst="line">
            <a:avLst/>
          </a:prstGeom>
          <a:noFill/>
          <a:ln w="9525">
            <a:solidFill>
              <a:srgbClr val="D8D1C4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0969C6-84ED-47CD-836F-8B1631B17084}"/>
              </a:ext>
            </a:extLst>
          </p:cNvPr>
          <p:cNvSpPr>
            <a:spLocks noGrp="1"/>
          </p:cNvSpPr>
          <p:nvPr/>
        </p:nvSpPr>
        <p:spPr>
          <a:xfrm>
            <a:off x="857250" y="1581150"/>
            <a:ext cx="2000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ctr">
              <a:defRPr sz="142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ODS 原始层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AB1EDC-EA93-4BD8-89A6-A76D543C79E9}"/>
              </a:ext>
            </a:extLst>
          </p:cNvPr>
          <p:cNvSpPr>
            <a:spLocks noGrp="1"/>
          </p:cNvSpPr>
          <p:nvPr/>
        </p:nvSpPr>
        <p:spPr>
          <a:xfrm>
            <a:off x="3429000" y="1581150"/>
            <a:ext cx="5810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保留源数据</a:t>
            </a:r>
          </a:p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原始用户、书籍、章节、评论、广告日志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53E42C1C-CF5F-47F9-B027-50C787F1B674}"/>
              </a:ext>
            </a:extLst>
          </p:cNvPr>
          <p:cNvSpPr>
            <a:spLocks noGrp="1"/>
          </p:cNvSpPr>
          <p:nvPr/>
        </p:nvSpPr>
        <p:spPr>
          <a:xfrm>
            <a:off x="1857375" y="2247900"/>
            <a:ext cx="9525" cy="323850"/>
          </a:xfrm>
          <a:prstGeom prst="line">
            <a:avLst/>
          </a:prstGeom>
          <a:noFill/>
          <a:ln w="19050">
            <a:solidFill>
              <a:srgbClr val="D8D1C4"/>
            </a:solidFill>
          </a:ln>
        </p:spPr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0AE6EE1F-FFF2-40D7-9085-67EE5ABB9747}"/>
              </a:ext>
            </a:extLst>
          </p:cNvPr>
          <p:cNvSpPr>
            <a:spLocks noGrp="1"/>
          </p:cNvSpPr>
          <p:nvPr/>
        </p:nvSpPr>
        <p:spPr>
          <a:xfrm>
            <a:off x="1781175" y="2514600"/>
            <a:ext cx="152400" cy="133350"/>
          </a:xfrm>
          <a:prstGeom prst="triangle">
            <a:avLst/>
          </a:prstGeom>
          <a:solidFill>
            <a:srgbClr val="D8D1C4"/>
          </a:solidFill>
          <a:ln w="0">
            <a:solidFill>
              <a:srgbClr val="D8D1C4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A089BB-B68A-4F15-8B14-BE42BBD858F6}"/>
              </a:ext>
            </a:extLst>
          </p:cNvPr>
          <p:cNvSpPr>
            <a:spLocks noGrp="1"/>
          </p:cNvSpPr>
          <p:nvPr/>
        </p:nvSpPr>
        <p:spPr>
          <a:xfrm>
            <a:off x="857250" y="2686050"/>
            <a:ext cx="2000250" cy="647700"/>
          </a:xfrm>
          <a:prstGeom prst="rect">
            <a:avLst/>
          </a:prstGeom>
          <a:solidFill>
            <a:srgbClr val="FFFDF8"/>
          </a:solidFill>
          <a:ln w="9525">
            <a:solidFill>
              <a:srgbClr val="287D79"/>
            </a:solidFill>
          </a:ln>
        </p:spPr>
        <p:txBody>
          <a:bodyPr lIns="114300" tIns="95250" rIns="114300" bIns="95250" anchor="ctr"/>
          <a:lstStyle/>
          <a:p>
            <a:pPr algn="ctr">
              <a:defRPr sz="1425">
                <a:solidFill>
                  <a:srgbClr val="287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87D79"/>
                </a:solidFill>
                <a:latin typeface="Microsoft YaHei"/>
                <a:ea typeface="Microsoft YaHei"/>
                <a:cs typeface="Microsoft YaHei"/>
              </a:rPr>
              <a:t>DWD 明细层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FA8766-F892-41EB-977D-68553BEDBF10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5810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清洗规范化</a:t>
            </a:r>
          </a:p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阅读明细、曝光明细、搜索明细、评论明细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746B34AA-1F25-4752-BCAB-5BA2E1AE4DD5}"/>
              </a:ext>
            </a:extLst>
          </p:cNvPr>
          <p:cNvSpPr>
            <a:spLocks noGrp="1"/>
          </p:cNvSpPr>
          <p:nvPr/>
        </p:nvSpPr>
        <p:spPr>
          <a:xfrm>
            <a:off x="1857375" y="3352800"/>
            <a:ext cx="9525" cy="323850"/>
          </a:xfrm>
          <a:prstGeom prst="line">
            <a:avLst/>
          </a:prstGeom>
          <a:noFill/>
          <a:ln w="19050">
            <a:solidFill>
              <a:srgbClr val="D8D1C4"/>
            </a:solidFill>
          </a:ln>
        </p:spPr>
      </p:sp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A3A15E5C-9C66-42DE-B8BB-9A7473E5B561}"/>
              </a:ext>
            </a:extLst>
          </p:cNvPr>
          <p:cNvSpPr>
            <a:spLocks noGrp="1"/>
          </p:cNvSpPr>
          <p:nvPr/>
        </p:nvSpPr>
        <p:spPr>
          <a:xfrm>
            <a:off x="1781175" y="3619500"/>
            <a:ext cx="152400" cy="133350"/>
          </a:xfrm>
          <a:prstGeom prst="triangle">
            <a:avLst/>
          </a:prstGeom>
          <a:solidFill>
            <a:srgbClr val="D8D1C4"/>
          </a:solidFill>
          <a:ln w="0">
            <a:solidFill>
              <a:srgbClr val="D8D1C4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C6A2D8-4E2B-4392-A5C4-D91FE54F82E4}"/>
              </a:ext>
            </a:extLst>
          </p:cNvPr>
          <p:cNvSpPr>
            <a:spLocks noGrp="1"/>
          </p:cNvSpPr>
          <p:nvPr/>
        </p:nvSpPr>
        <p:spPr>
          <a:xfrm>
            <a:off x="857250" y="3790950"/>
            <a:ext cx="2000250" cy="647700"/>
          </a:xfrm>
          <a:prstGeom prst="rect">
            <a:avLst/>
          </a:prstGeom>
          <a:solidFill>
            <a:srgbClr val="FFFDF8"/>
          </a:solidFill>
          <a:ln w="9525">
            <a:solidFill>
              <a:srgbClr val="315C97"/>
            </a:solidFill>
          </a:ln>
        </p:spPr>
        <p:txBody>
          <a:bodyPr lIns="114300" tIns="95250" rIns="114300" bIns="95250" anchor="ctr"/>
          <a:lstStyle/>
          <a:p>
            <a:pPr algn="ctr">
              <a:defRPr sz="1425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rPr>
              <a:t>DWS 汇总层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6BDDBCB-DAA0-4A21-BDBF-169DF5889986}"/>
              </a:ext>
            </a:extLst>
          </p:cNvPr>
          <p:cNvSpPr>
            <a:spLocks noGrp="1"/>
          </p:cNvSpPr>
          <p:nvPr/>
        </p:nvSpPr>
        <p:spPr>
          <a:xfrm>
            <a:off x="3429000" y="3790950"/>
            <a:ext cx="5810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按主题聚合</a:t>
            </a:r>
          </a:p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用户主题、作品主题、作者主题、广告主题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BA159D7A-85FA-475E-BB3A-926676CAF187}"/>
              </a:ext>
            </a:extLst>
          </p:cNvPr>
          <p:cNvSpPr>
            <a:spLocks noGrp="1"/>
          </p:cNvSpPr>
          <p:nvPr/>
        </p:nvSpPr>
        <p:spPr>
          <a:xfrm>
            <a:off x="1857375" y="4457700"/>
            <a:ext cx="9525" cy="323850"/>
          </a:xfrm>
          <a:prstGeom prst="line">
            <a:avLst/>
          </a:prstGeom>
          <a:noFill/>
          <a:ln w="19050">
            <a:solidFill>
              <a:srgbClr val="D8D1C4"/>
            </a:solidFill>
          </a:ln>
        </p:spPr>
      </p:sp>
      <p:sp>
        <p:nvSpPr>
          <p:cNvPr id="20" name="等腰三角形 19">
            <a:extLst>
              <a:ext uri="{FF2B5EF4-FFF2-40B4-BE49-F238E27FC236}">
                <a16:creationId xmlns:a16="http://schemas.microsoft.com/office/drawing/2014/main" id="{9AEE9CC5-6DD4-4C3D-BFED-E0E987014503}"/>
              </a:ext>
            </a:extLst>
          </p:cNvPr>
          <p:cNvSpPr>
            <a:spLocks noGrp="1"/>
          </p:cNvSpPr>
          <p:nvPr/>
        </p:nvSpPr>
        <p:spPr>
          <a:xfrm>
            <a:off x="1781175" y="4724400"/>
            <a:ext cx="152400" cy="133350"/>
          </a:xfrm>
          <a:prstGeom prst="triangle">
            <a:avLst/>
          </a:prstGeom>
          <a:solidFill>
            <a:srgbClr val="D8D1C4"/>
          </a:solidFill>
          <a:ln w="0">
            <a:solidFill>
              <a:srgbClr val="D8D1C4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1F3B99A-03B7-4324-985A-486A051DBFF0}"/>
              </a:ext>
            </a:extLst>
          </p:cNvPr>
          <p:cNvSpPr>
            <a:spLocks noGrp="1"/>
          </p:cNvSpPr>
          <p:nvPr/>
        </p:nvSpPr>
        <p:spPr>
          <a:xfrm>
            <a:off x="857250" y="4895850"/>
            <a:ext cx="2000250" cy="647700"/>
          </a:xfrm>
          <a:prstGeom prst="rect">
            <a:avLst/>
          </a:prstGeom>
          <a:solidFill>
            <a:srgbClr val="FFFDF8"/>
          </a:solidFill>
          <a:ln w="9525">
            <a:solidFill>
              <a:srgbClr val="E85D4F"/>
            </a:solidFill>
          </a:ln>
        </p:spPr>
        <p:txBody>
          <a:bodyPr lIns="114300" tIns="95250" rIns="114300" bIns="95250" anchor="ctr"/>
          <a:lstStyle/>
          <a:p>
            <a:pPr algn="ctr">
              <a:defRPr sz="1425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rPr>
              <a:t>ADS 应用层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8EEE32C-EF44-4860-BD9F-9891FABB1873}"/>
              </a:ext>
            </a:extLst>
          </p:cNvPr>
          <p:cNvSpPr>
            <a:spLocks noGrp="1"/>
          </p:cNvSpPr>
          <p:nvPr/>
        </p:nvSpPr>
        <p:spPr>
          <a:xfrm>
            <a:off x="3429000" y="4895850"/>
            <a:ext cx="5810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面向报表/算法</a:t>
            </a:r>
          </a:p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留存看板、作品榜单、推荐特征、风控标签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7FFBCE9-3195-44C0-B089-EEB4F631F6E5}"/>
              </a:ext>
            </a:extLst>
          </p:cNvPr>
          <p:cNvSpPr>
            <a:spLocks noGrp="1"/>
          </p:cNvSpPr>
          <p:nvPr/>
        </p:nvSpPr>
        <p:spPr>
          <a:xfrm>
            <a:off x="9620250" y="1657350"/>
            <a:ext cx="1714500" cy="4000500"/>
          </a:xfrm>
          <a:prstGeom prst="rect">
            <a:avLst/>
          </a:prstGeom>
          <a:solidFill>
            <a:srgbClr val="1E2732"/>
          </a:solidFill>
          <a:ln w="9525">
            <a:solidFill>
              <a:srgbClr val="1E2732"/>
            </a:solidFill>
          </a:ln>
        </p:spPr>
        <p:txBody>
          <a:bodyPr lIns="133350" tIns="152400" rIns="133350" bIns="152400" anchor="t"/>
          <a:lstStyle/>
          <a:p>
            <a:pPr algn="l">
              <a:defRPr sz="1163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例子</a:t>
            </a:r>
          </a:p>
          <a:p>
            <a:pPr algn="l">
              <a:defRPr sz="1163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原始日志：用户 A 在 20:31 打开推荐位上的小说 X 第 12 章</a:t>
            </a:r>
          </a:p>
          <a:p>
            <a:pPr algn="l">
              <a:defRPr sz="1163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DWD：标准化为阅读事件明细，补齐用户、作品、渠道、设备维度</a:t>
            </a:r>
          </a:p>
          <a:p>
            <a:pPr algn="l">
              <a:defRPr sz="1163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DWS：统计作品 X 当日阅读人数、平均停留、完读率</a:t>
            </a:r>
          </a:p>
          <a:p>
            <a:pPr algn="l">
              <a:defRPr sz="1163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ADS：输出作品热度榜、推荐特征、运营日报</a:t>
            </a:r>
          </a:p>
        </p:txBody>
      </p:sp>
    </p:spTree>
    <p:extLst>
      <p:ext uri="{BB962C8B-B14F-4D97-AF65-F5344CB8AC3E}">
        <p14:creationId xmlns:p14="http://schemas.microsoft.com/office/powerpoint/2010/main" val="640305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6FC3339F-D36C-4219-8C95-5609C7234E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0716401-2451-4984-8E49-81B55B62BB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85D4F"/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9D6E69-3ECF-4B76-868D-CF1A1E32DD60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93345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Decision needs: course analysis based on online-reading platform stakeholder workflows.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20729C-DFA2-4100-944B-F2E90ABA0DF6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609600" cy="2667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r">
              <a:defRPr sz="975">
                <a:solidFill>
                  <a:srgbClr val="5C6670"/>
                </a:solidFill>
                <a:latin typeface="Segoe UI"/>
                <a:ea typeface="Segoe UI"/>
                <a:cs typeface="Segoe UI"/>
              </a:defRPr>
            </a:pPr>
            <a:r>
              <a:rPr sz="975">
                <a:solidFill>
                  <a:srgbClr val="5C6670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AD99D8A-E5B1-4929-B787-88B8E83E2CFD}"/>
              </a:ext>
            </a:extLst>
          </p:cNvPr>
          <p:cNvSpPr>
            <a:spLocks noGrp="1"/>
          </p:cNvSpPr>
          <p:nvPr/>
        </p:nvSpPr>
        <p:spPr>
          <a:xfrm>
            <a:off x="485775" y="533400"/>
            <a:ext cx="76200" cy="76200"/>
          </a:xfrm>
          <a:prstGeom prst="ellipse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239BA9-40C3-4E38-BF53-EA8F66154695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2000250" cy="228600"/>
          </a:xfrm>
          <a:prstGeom prst="rect">
            <a:avLst/>
          </a:prstGeom>
          <a:noFill/>
        </p:spPr>
        <p:txBody>
          <a:bodyPr lIns="76200" tIns="38100" rIns="76200" bIns="38100" anchor="ctr"/>
          <a:lstStyle/>
          <a:p>
            <a:pPr algn="l">
              <a:defRPr sz="900">
                <a:solidFill>
                  <a:srgbClr val="B83D3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83D34"/>
                </a:solidFill>
                <a:latin typeface="Segoe UI"/>
                <a:ea typeface="Segoe UI"/>
                <a:cs typeface="Segoe UI"/>
              </a:rPr>
              <a:t>DECISION SUPPORT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A5223F-73A3-460E-86B2-005CFBA27D2C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9906000" cy="4953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4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大数据平台的定位是服务运营、推荐、广告、内容和风控决策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8C4B7CBF-DFAA-43F1-B86C-0C0AA8D27B06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11077575" cy="9525"/>
          </a:xfrm>
          <a:prstGeom prst="line">
            <a:avLst/>
          </a:prstGeom>
          <a:noFill/>
          <a:ln w="9525">
            <a:solidFill>
              <a:srgbClr val="D8D1C4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53808A-28A6-4386-9FF5-048A3F317033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31051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ED091A-9614-4308-B81C-0F439ADF003B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3105150" cy="66675"/>
          </a:xfrm>
          <a:prstGeom prst="rect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8C6F1C-F6B9-49B9-9C94-AB0A6E029ABB}"/>
              </a:ext>
            </a:extLst>
          </p:cNvPr>
          <p:cNvSpPr>
            <a:spLocks noGrp="1"/>
          </p:cNvSpPr>
          <p:nvPr/>
        </p:nvSpPr>
        <p:spPr>
          <a:xfrm>
            <a:off x="914400" y="1866900"/>
            <a:ext cx="2381250" cy="2476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575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rPr>
              <a:t>产品/运营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B628B1-44F5-4D6E-B0F2-B2F9618FEB56}"/>
              </a:ext>
            </a:extLst>
          </p:cNvPr>
          <p:cNvSpPr>
            <a:spLocks noGrp="1"/>
          </p:cNvSpPr>
          <p:nvPr/>
        </p:nvSpPr>
        <p:spPr>
          <a:xfrm>
            <a:off x="914400" y="2209800"/>
            <a:ext cx="2667000" cy="5524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DAU、留存率、阅读时长、追更率、频道转化、活动效果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59DEFF-CCBD-4BCD-821A-AA9B5C9843E7}"/>
              </a:ext>
            </a:extLst>
          </p:cNvPr>
          <p:cNvSpPr>
            <a:spLocks noGrp="1"/>
          </p:cNvSpPr>
          <p:nvPr/>
        </p:nvSpPr>
        <p:spPr>
          <a:xfrm>
            <a:off x="4362450" y="1657350"/>
            <a:ext cx="31051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9721B74-5558-4887-99A5-CA49FD99C49F}"/>
              </a:ext>
            </a:extLst>
          </p:cNvPr>
          <p:cNvSpPr>
            <a:spLocks noGrp="1"/>
          </p:cNvSpPr>
          <p:nvPr/>
        </p:nvSpPr>
        <p:spPr>
          <a:xfrm>
            <a:off x="4362450" y="1657350"/>
            <a:ext cx="3105150" cy="66675"/>
          </a:xfrm>
          <a:prstGeom prst="rect">
            <a:avLst/>
          </a:prstGeom>
          <a:solidFill>
            <a:srgbClr val="287D79"/>
          </a:solidFill>
          <a:ln w="0">
            <a:solidFill>
              <a:srgbClr val="287D79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4E5013-AC64-44C2-BF8F-6DBBDEC33272}"/>
              </a:ext>
            </a:extLst>
          </p:cNvPr>
          <p:cNvSpPr>
            <a:spLocks noGrp="1"/>
          </p:cNvSpPr>
          <p:nvPr/>
        </p:nvSpPr>
        <p:spPr>
          <a:xfrm>
            <a:off x="4533900" y="1866900"/>
            <a:ext cx="2381250" cy="2476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575">
                <a:solidFill>
                  <a:srgbClr val="287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87D79"/>
                </a:solidFill>
                <a:latin typeface="Microsoft YaHei"/>
                <a:ea typeface="Microsoft YaHei"/>
                <a:cs typeface="Microsoft YaHei"/>
              </a:rPr>
              <a:t>推荐/算法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26DA51B-37A0-47C9-876D-CBCAE379FFB3}"/>
              </a:ext>
            </a:extLst>
          </p:cNvPr>
          <p:cNvSpPr>
            <a:spLocks noGrp="1"/>
          </p:cNvSpPr>
          <p:nvPr/>
        </p:nvSpPr>
        <p:spPr>
          <a:xfrm>
            <a:off x="4533900" y="2209800"/>
            <a:ext cx="2667000" cy="5524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用户画像、作品画像、实时特征、点击率、完读率、A/B 实验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87EA82-A096-4797-BC54-C3905B62A7DE}"/>
              </a:ext>
            </a:extLst>
          </p:cNvPr>
          <p:cNvSpPr>
            <a:spLocks noGrp="1"/>
          </p:cNvSpPr>
          <p:nvPr/>
        </p:nvSpPr>
        <p:spPr>
          <a:xfrm>
            <a:off x="7981950" y="1657350"/>
            <a:ext cx="31051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3D438FE-A115-40FC-AF0A-AD79C14BEFDD}"/>
              </a:ext>
            </a:extLst>
          </p:cNvPr>
          <p:cNvSpPr>
            <a:spLocks noGrp="1"/>
          </p:cNvSpPr>
          <p:nvPr/>
        </p:nvSpPr>
        <p:spPr>
          <a:xfrm>
            <a:off x="7981950" y="1657350"/>
            <a:ext cx="3105150" cy="66675"/>
          </a:xfrm>
          <a:prstGeom prst="rect">
            <a:avLst/>
          </a:prstGeom>
          <a:solidFill>
            <a:srgbClr val="B2832F"/>
          </a:solidFill>
          <a:ln w="0">
            <a:solidFill>
              <a:srgbClr val="B2832F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5B15565-C1F6-466F-9BED-09F447871AB7}"/>
              </a:ext>
            </a:extLst>
          </p:cNvPr>
          <p:cNvSpPr>
            <a:spLocks noGrp="1"/>
          </p:cNvSpPr>
          <p:nvPr/>
        </p:nvSpPr>
        <p:spPr>
          <a:xfrm>
            <a:off x="8153400" y="1866900"/>
            <a:ext cx="2381250" cy="2476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575">
                <a:solidFill>
                  <a:srgbClr val="B283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2832F"/>
                </a:solidFill>
                <a:latin typeface="Microsoft YaHei"/>
                <a:ea typeface="Microsoft YaHei"/>
                <a:cs typeface="Microsoft YaHei"/>
              </a:rPr>
              <a:t>广告商业化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55882E-3987-4FD0-882F-AB794C5F56D4}"/>
              </a:ext>
            </a:extLst>
          </p:cNvPr>
          <p:cNvSpPr>
            <a:spLocks noGrp="1"/>
          </p:cNvSpPr>
          <p:nvPr/>
        </p:nvSpPr>
        <p:spPr>
          <a:xfrm>
            <a:off x="8153400" y="2209800"/>
            <a:ext cx="2667000" cy="5524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广告曝光、点击率、填充率、eCPM、激励广告完成率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4935DC3-8FD4-47D0-ACFD-898C205B5C6C}"/>
              </a:ext>
            </a:extLst>
          </p:cNvPr>
          <p:cNvSpPr>
            <a:spLocks noGrp="1"/>
          </p:cNvSpPr>
          <p:nvPr/>
        </p:nvSpPr>
        <p:spPr>
          <a:xfrm>
            <a:off x="742950" y="3390900"/>
            <a:ext cx="31051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54653D5-6883-4224-8728-98BBB4D834B2}"/>
              </a:ext>
            </a:extLst>
          </p:cNvPr>
          <p:cNvSpPr>
            <a:spLocks noGrp="1"/>
          </p:cNvSpPr>
          <p:nvPr/>
        </p:nvSpPr>
        <p:spPr>
          <a:xfrm>
            <a:off x="742950" y="3390900"/>
            <a:ext cx="3105150" cy="66675"/>
          </a:xfrm>
          <a:prstGeom prst="rect">
            <a:avLst/>
          </a:prstGeom>
          <a:solidFill>
            <a:srgbClr val="315C97"/>
          </a:solidFill>
          <a:ln w="0">
            <a:solidFill>
              <a:srgbClr val="315C97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F711344-A90E-414A-B6CA-3E519B93578F}"/>
              </a:ext>
            </a:extLst>
          </p:cNvPr>
          <p:cNvSpPr>
            <a:spLocks noGrp="1"/>
          </p:cNvSpPr>
          <p:nvPr/>
        </p:nvSpPr>
        <p:spPr>
          <a:xfrm>
            <a:off x="914400" y="3600450"/>
            <a:ext cx="2381250" cy="2476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575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rPr>
              <a:t>内容/作者运营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203DCC5-B85F-4782-B978-C0D3B84D5206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2667000" cy="5524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热销题材、作品生命周期、章节更新效果、作者收益表现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BB9B89E-2E78-4D1C-883E-7C4087309F54}"/>
              </a:ext>
            </a:extLst>
          </p:cNvPr>
          <p:cNvSpPr>
            <a:spLocks noGrp="1"/>
          </p:cNvSpPr>
          <p:nvPr/>
        </p:nvSpPr>
        <p:spPr>
          <a:xfrm>
            <a:off x="4362450" y="3390900"/>
            <a:ext cx="31051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D59B0A-2F5A-42FA-8A0A-079C3F7B19BD}"/>
              </a:ext>
            </a:extLst>
          </p:cNvPr>
          <p:cNvSpPr>
            <a:spLocks noGrp="1"/>
          </p:cNvSpPr>
          <p:nvPr/>
        </p:nvSpPr>
        <p:spPr>
          <a:xfrm>
            <a:off x="4362450" y="3390900"/>
            <a:ext cx="3105150" cy="66675"/>
          </a:xfrm>
          <a:prstGeom prst="rect">
            <a:avLst/>
          </a:prstGeom>
          <a:solidFill>
            <a:srgbClr val="B83D34"/>
          </a:solidFill>
          <a:ln w="0">
            <a:solidFill>
              <a:srgbClr val="B83D34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FB86411-A5F9-476C-A99D-1D4305C43ADE}"/>
              </a:ext>
            </a:extLst>
          </p:cNvPr>
          <p:cNvSpPr>
            <a:spLocks noGrp="1"/>
          </p:cNvSpPr>
          <p:nvPr/>
        </p:nvSpPr>
        <p:spPr>
          <a:xfrm>
            <a:off x="4533900" y="3600450"/>
            <a:ext cx="2381250" cy="2476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575">
                <a:solidFill>
                  <a:srgbClr val="B83D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83D34"/>
                </a:solidFill>
                <a:latin typeface="Microsoft YaHei"/>
                <a:ea typeface="Microsoft YaHei"/>
                <a:cs typeface="Microsoft YaHei"/>
              </a:rPr>
              <a:t>风险/审核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F84527C-6088-41F9-83DF-B81429D8B914}"/>
              </a:ext>
            </a:extLst>
          </p:cNvPr>
          <p:cNvSpPr>
            <a:spLocks noGrp="1"/>
          </p:cNvSpPr>
          <p:nvPr/>
        </p:nvSpPr>
        <p:spPr>
          <a:xfrm>
            <a:off x="4533900" y="3943350"/>
            <a:ext cx="2667000" cy="5524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异常刷量、异常评论、违规内容、账号设备风险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C812281-C5AC-46E4-988D-10AAE6C879CD}"/>
              </a:ext>
            </a:extLst>
          </p:cNvPr>
          <p:cNvSpPr>
            <a:spLocks noGrp="1"/>
          </p:cNvSpPr>
          <p:nvPr/>
        </p:nvSpPr>
        <p:spPr>
          <a:xfrm>
            <a:off x="7981950" y="3390900"/>
            <a:ext cx="3105150" cy="1276350"/>
          </a:xfrm>
          <a:prstGeom prst="rect">
            <a:avLst/>
          </a:prstGeom>
          <a:solidFill>
            <a:srgbClr val="F1EEE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2723AC9-A6DD-449D-89E8-F3BD4C82852C}"/>
              </a:ext>
            </a:extLst>
          </p:cNvPr>
          <p:cNvSpPr>
            <a:spLocks noGrp="1"/>
          </p:cNvSpPr>
          <p:nvPr/>
        </p:nvSpPr>
        <p:spPr>
          <a:xfrm>
            <a:off x="7981950" y="3390900"/>
            <a:ext cx="3105150" cy="66675"/>
          </a:xfrm>
          <a:prstGeom prst="rect">
            <a:avLst/>
          </a:prstGeom>
          <a:solidFill>
            <a:srgbClr val="1E2732"/>
          </a:solidFill>
          <a:ln w="0">
            <a:solidFill>
              <a:srgbClr val="1E2732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C360AF1-A6B6-4E54-BD29-0348853DEB6D}"/>
              </a:ext>
            </a:extLst>
          </p:cNvPr>
          <p:cNvSpPr>
            <a:spLocks noGrp="1"/>
          </p:cNvSpPr>
          <p:nvPr/>
        </p:nvSpPr>
        <p:spPr>
          <a:xfrm>
            <a:off x="8153400" y="3600450"/>
            <a:ext cx="2381250" cy="2476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575">
                <a:solidFill>
                  <a:srgbClr val="1E27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732"/>
                </a:solidFill>
                <a:latin typeface="Microsoft YaHei"/>
                <a:ea typeface="Microsoft YaHei"/>
                <a:cs typeface="Microsoft YaHei"/>
              </a:rPr>
              <a:t>管理层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A2B6782-9242-47AC-B517-6271D677543C}"/>
              </a:ext>
            </a:extLst>
          </p:cNvPr>
          <p:cNvSpPr>
            <a:spLocks noGrp="1"/>
          </p:cNvSpPr>
          <p:nvPr/>
        </p:nvSpPr>
        <p:spPr>
          <a:xfrm>
            <a:off x="8153400" y="3943350"/>
            <a:ext cx="2667000" cy="5524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增长趋势、收入贡献、内容供给、成本与效率指标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6905873-7BE8-4859-8240-2FF54226DADB}"/>
              </a:ext>
            </a:extLst>
          </p:cNvPr>
          <p:cNvSpPr>
            <a:spLocks noGrp="1"/>
          </p:cNvSpPr>
          <p:nvPr/>
        </p:nvSpPr>
        <p:spPr>
          <a:xfrm>
            <a:off x="1428750" y="5314950"/>
            <a:ext cx="9334500" cy="495300"/>
          </a:xfrm>
          <a:prstGeom prst="rect">
            <a:avLst/>
          </a:prstGeom>
          <a:solidFill>
            <a:srgbClr val="1E2732"/>
          </a:solidFill>
          <a:ln w="9525">
            <a:solidFill>
              <a:srgbClr val="1E2732"/>
            </a:solidFill>
          </a:ln>
        </p:spPr>
        <p:txBody>
          <a:bodyPr lIns="114300" tIns="95250" rIns="114300" bIns="95250" anchor="ctr"/>
          <a:lstStyle/>
          <a:p>
            <a:pPr algn="ctr">
              <a:defRPr sz="14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这些需求都不适合直接压在业务数据库上长期跑大查询，因此需要独立的数据仓库/大数据平台。</a:t>
            </a:r>
          </a:p>
        </p:txBody>
      </p:sp>
    </p:spTree>
    <p:extLst>
      <p:ext uri="{BB962C8B-B14F-4D97-AF65-F5344CB8AC3E}">
        <p14:creationId xmlns:p14="http://schemas.microsoft.com/office/powerpoint/2010/main" val="275533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4141D4FC-FFC7-4061-BF1B-F721CE8A4E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EDF9A1-E1F6-4205-9E3D-D11AB6A014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85D4F"/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2F2809-9947-4348-B6F0-17B7B811E4DC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93345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Conclusion based on the preceding architecture and data-flow analysis.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FCB043-CEA1-43EB-B444-15126C0343D8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609600" cy="2667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r">
              <a:defRPr sz="975">
                <a:solidFill>
                  <a:srgbClr val="5C6670"/>
                </a:solidFill>
                <a:latin typeface="Segoe UI"/>
                <a:ea typeface="Segoe UI"/>
                <a:cs typeface="Segoe UI"/>
              </a:defRPr>
            </a:pPr>
            <a:r>
              <a:rPr sz="975">
                <a:solidFill>
                  <a:srgbClr val="5C6670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44F3910-36BE-4967-B32E-71798EAD8AA2}"/>
              </a:ext>
            </a:extLst>
          </p:cNvPr>
          <p:cNvSpPr>
            <a:spLocks noGrp="1"/>
          </p:cNvSpPr>
          <p:nvPr/>
        </p:nvSpPr>
        <p:spPr>
          <a:xfrm>
            <a:off x="485775" y="533400"/>
            <a:ext cx="76200" cy="76200"/>
          </a:xfrm>
          <a:prstGeom prst="ellipse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D1F22E-345E-47B9-B900-9246409D55E1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2000250" cy="228600"/>
          </a:xfrm>
          <a:prstGeom prst="rect">
            <a:avLst/>
          </a:prstGeom>
          <a:noFill/>
        </p:spPr>
        <p:txBody>
          <a:bodyPr lIns="76200" tIns="38100" rIns="76200" bIns="38100" anchor="ctr"/>
          <a:lstStyle/>
          <a:p>
            <a:pPr algn="l">
              <a:defRPr sz="900">
                <a:solidFill>
                  <a:srgbClr val="B83D3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83D34"/>
                </a:solidFill>
                <a:latin typeface="Segoe UI"/>
                <a:ea typeface="Segoe UI"/>
                <a:cs typeface="Segoe UI"/>
              </a:rPr>
              <a:t>POSITIONING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70A71C-B52D-4897-8F23-AF01602815D0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9906000" cy="4953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4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OLTP 保障业务实时发生，大数据平台让业务持续变聪明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FCC6D6B6-01E9-425D-88B0-BCA292A50BB6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11077575" cy="9525"/>
          </a:xfrm>
          <a:prstGeom prst="line">
            <a:avLst/>
          </a:prstGeom>
          <a:noFill/>
          <a:ln w="9525">
            <a:solidFill>
              <a:srgbClr val="D8D1C4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FBBD6C-54DD-455F-9B58-6901A7AD4067}"/>
              </a:ext>
            </a:extLst>
          </p:cNvPr>
          <p:cNvSpPr>
            <a:spLocks noGrp="1"/>
          </p:cNvSpPr>
          <p:nvPr/>
        </p:nvSpPr>
        <p:spPr>
          <a:xfrm>
            <a:off x="876300" y="1962150"/>
            <a:ext cx="2381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1A2127-63F9-4F0F-AC23-287B87CF4B24}"/>
              </a:ext>
            </a:extLst>
          </p:cNvPr>
          <p:cNvSpPr>
            <a:spLocks noGrp="1"/>
          </p:cNvSpPr>
          <p:nvPr/>
        </p:nvSpPr>
        <p:spPr>
          <a:xfrm>
            <a:off x="876300" y="1962150"/>
            <a:ext cx="2381250" cy="47625"/>
          </a:xfrm>
          <a:prstGeom prst="rect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3A7B10-D6F9-48B5-8EBF-24773E4DC9E3}"/>
              </a:ext>
            </a:extLst>
          </p:cNvPr>
          <p:cNvSpPr>
            <a:spLocks noGrp="1"/>
          </p:cNvSpPr>
          <p:nvPr/>
        </p:nvSpPr>
        <p:spPr>
          <a:xfrm>
            <a:off x="990600" y="2095500"/>
            <a:ext cx="2152650" cy="209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用户实时体验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449566-6400-4B5C-9EAB-DE97432AF960}"/>
              </a:ext>
            </a:extLst>
          </p:cNvPr>
          <p:cNvSpPr>
            <a:spLocks noGrp="1"/>
          </p:cNvSpPr>
          <p:nvPr/>
        </p:nvSpPr>
        <p:spPr>
          <a:xfrm>
            <a:off x="990600" y="2352675"/>
            <a:ext cx="2152650" cy="590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打开章节、搜索、加入书架、评论、广告展示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E92608F-8BFB-4A18-8269-6633677D3C66}"/>
              </a:ext>
            </a:extLst>
          </p:cNvPr>
          <p:cNvSpPr>
            <a:spLocks noGrp="1"/>
          </p:cNvSpPr>
          <p:nvPr/>
        </p:nvSpPr>
        <p:spPr>
          <a:xfrm>
            <a:off x="3905250" y="1962150"/>
            <a:ext cx="2381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DD454E6-4ED0-4459-9098-6DC1EF45B367}"/>
              </a:ext>
            </a:extLst>
          </p:cNvPr>
          <p:cNvSpPr>
            <a:spLocks noGrp="1"/>
          </p:cNvSpPr>
          <p:nvPr/>
        </p:nvSpPr>
        <p:spPr>
          <a:xfrm>
            <a:off x="3905250" y="1962150"/>
            <a:ext cx="2381250" cy="47625"/>
          </a:xfrm>
          <a:prstGeom prst="rect">
            <a:avLst/>
          </a:prstGeom>
          <a:solidFill>
            <a:srgbClr val="315C97"/>
          </a:solidFill>
          <a:ln w="0">
            <a:solidFill>
              <a:srgbClr val="315C97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1F3249-75D9-4224-9DB6-6BADF2424E22}"/>
              </a:ext>
            </a:extLst>
          </p:cNvPr>
          <p:cNvSpPr>
            <a:spLocks noGrp="1"/>
          </p:cNvSpPr>
          <p:nvPr/>
        </p:nvSpPr>
        <p:spPr>
          <a:xfrm>
            <a:off x="4019550" y="2095500"/>
            <a:ext cx="2152650" cy="209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OLTP 业务系统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E15E71C-2842-4B37-80B9-E8D9CAE00F12}"/>
              </a:ext>
            </a:extLst>
          </p:cNvPr>
          <p:cNvSpPr>
            <a:spLocks noGrp="1"/>
          </p:cNvSpPr>
          <p:nvPr/>
        </p:nvSpPr>
        <p:spPr>
          <a:xfrm>
            <a:off x="4019550" y="2352675"/>
            <a:ext cx="2152650" cy="590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低延迟、事务一致性、高可用、可扩展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5F02F3C-246E-49B7-A2D3-883321E22610}"/>
              </a:ext>
            </a:extLst>
          </p:cNvPr>
          <p:cNvSpPr>
            <a:spLocks noGrp="1"/>
          </p:cNvSpPr>
          <p:nvPr/>
        </p:nvSpPr>
        <p:spPr>
          <a:xfrm>
            <a:off x="6934200" y="1962150"/>
            <a:ext cx="2381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9A70C8F-0544-46F5-B708-FE384BF7835E}"/>
              </a:ext>
            </a:extLst>
          </p:cNvPr>
          <p:cNvSpPr>
            <a:spLocks noGrp="1"/>
          </p:cNvSpPr>
          <p:nvPr/>
        </p:nvSpPr>
        <p:spPr>
          <a:xfrm>
            <a:off x="6934200" y="1962150"/>
            <a:ext cx="2381250" cy="47625"/>
          </a:xfrm>
          <a:prstGeom prst="rect">
            <a:avLst/>
          </a:prstGeom>
          <a:solidFill>
            <a:srgbClr val="287D79"/>
          </a:solidFill>
          <a:ln w="0">
            <a:solidFill>
              <a:srgbClr val="287D79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C2E8476-508A-4AD5-9AAE-430B6573247E}"/>
              </a:ext>
            </a:extLst>
          </p:cNvPr>
          <p:cNvSpPr>
            <a:spLocks noGrp="1"/>
          </p:cNvSpPr>
          <p:nvPr/>
        </p:nvSpPr>
        <p:spPr>
          <a:xfrm>
            <a:off x="7048500" y="2095500"/>
            <a:ext cx="2152650" cy="209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大数据平台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5AD0AB7-CFE7-4F0A-B6C1-FCCAC15C8574}"/>
              </a:ext>
            </a:extLst>
          </p:cNvPr>
          <p:cNvSpPr>
            <a:spLocks noGrp="1"/>
          </p:cNvSpPr>
          <p:nvPr/>
        </p:nvSpPr>
        <p:spPr>
          <a:xfrm>
            <a:off x="7048500" y="2352675"/>
            <a:ext cx="2152650" cy="590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采集、存储、计算、建模、服务、可视化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5A884AE-7858-46C3-AF6D-AEA1B81640E9}"/>
              </a:ext>
            </a:extLst>
          </p:cNvPr>
          <p:cNvSpPr>
            <a:spLocks noGrp="1"/>
          </p:cNvSpPr>
          <p:nvPr/>
        </p:nvSpPr>
        <p:spPr>
          <a:xfrm>
            <a:off x="3905250" y="4057650"/>
            <a:ext cx="2381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474C9DD-00CF-4A78-B05B-637830B3518E}"/>
              </a:ext>
            </a:extLst>
          </p:cNvPr>
          <p:cNvSpPr>
            <a:spLocks noGrp="1"/>
          </p:cNvSpPr>
          <p:nvPr/>
        </p:nvSpPr>
        <p:spPr>
          <a:xfrm>
            <a:off x="3905250" y="4057650"/>
            <a:ext cx="2381250" cy="47625"/>
          </a:xfrm>
          <a:prstGeom prst="rect">
            <a:avLst/>
          </a:prstGeom>
          <a:solidFill>
            <a:srgbClr val="B2832F"/>
          </a:solidFill>
          <a:ln w="0">
            <a:solidFill>
              <a:srgbClr val="B2832F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C8C49D0-543C-4203-A019-BCFC8332BF8D}"/>
              </a:ext>
            </a:extLst>
          </p:cNvPr>
          <p:cNvSpPr>
            <a:spLocks noGrp="1"/>
          </p:cNvSpPr>
          <p:nvPr/>
        </p:nvSpPr>
        <p:spPr>
          <a:xfrm>
            <a:off x="4019550" y="4191000"/>
            <a:ext cx="2152650" cy="209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业务决策反馈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8D83AD1-0E7A-4E61-922B-5EED65F9AF2C}"/>
              </a:ext>
            </a:extLst>
          </p:cNvPr>
          <p:cNvSpPr>
            <a:spLocks noGrp="1"/>
          </p:cNvSpPr>
          <p:nvPr/>
        </p:nvSpPr>
        <p:spPr>
          <a:xfrm>
            <a:off x="4019550" y="4448175"/>
            <a:ext cx="2152650" cy="59055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推荐优化、内容运营、广告策略、风控审核</a:t>
            </a:r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B70B4373-0CBE-4595-A6CB-4E3BFC91A908}"/>
              </a:ext>
            </a:extLst>
          </p:cNvPr>
          <p:cNvSpPr>
            <a:spLocks noGrp="1"/>
          </p:cNvSpPr>
          <p:nvPr/>
        </p:nvSpPr>
        <p:spPr>
          <a:xfrm>
            <a:off x="3333750" y="2400300"/>
            <a:ext cx="476250" cy="190500"/>
          </a:xfrm>
          <a:prstGeom prst="rightArrow">
            <a:avLst/>
          </a:prstGeom>
          <a:solidFill>
            <a:srgbClr val="D8D1C4"/>
          </a:solidFill>
          <a:ln w="0">
            <a:solidFill>
              <a:srgbClr val="D8D1C4"/>
            </a:solidFill>
          </a:ln>
        </p:spPr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1710B795-2B3C-43B2-9AED-386B09097416}"/>
              </a:ext>
            </a:extLst>
          </p:cNvPr>
          <p:cNvSpPr>
            <a:spLocks noGrp="1"/>
          </p:cNvSpPr>
          <p:nvPr/>
        </p:nvSpPr>
        <p:spPr>
          <a:xfrm>
            <a:off x="6362700" y="2400300"/>
            <a:ext cx="476250" cy="190500"/>
          </a:xfrm>
          <a:prstGeom prst="rightArrow">
            <a:avLst/>
          </a:prstGeom>
          <a:solidFill>
            <a:srgbClr val="D8D1C4"/>
          </a:solidFill>
          <a:ln w="0">
            <a:solidFill>
              <a:srgbClr val="D8D1C4"/>
            </a:solidFill>
          </a:ln>
        </p:spPr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11D19C12-6799-4CCF-BEFC-66F8BD3E23FE}"/>
              </a:ext>
            </a:extLst>
          </p:cNvPr>
          <p:cNvSpPr>
            <a:spLocks noGrp="1"/>
          </p:cNvSpPr>
          <p:nvPr/>
        </p:nvSpPr>
        <p:spPr>
          <a:xfrm>
            <a:off x="8143875" y="3009900"/>
            <a:ext cx="9525" cy="533400"/>
          </a:xfrm>
          <a:prstGeom prst="line">
            <a:avLst/>
          </a:prstGeom>
          <a:noFill/>
          <a:ln w="19050">
            <a:solidFill>
              <a:srgbClr val="D8D1C4"/>
            </a:solidFill>
          </a:ln>
        </p:spPr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8307A64E-97F8-4C81-88E6-1C051F669316}"/>
              </a:ext>
            </a:extLst>
          </p:cNvPr>
          <p:cNvSpPr>
            <a:spLocks noGrp="1"/>
          </p:cNvSpPr>
          <p:nvPr/>
        </p:nvSpPr>
        <p:spPr>
          <a:xfrm>
            <a:off x="5095875" y="3543300"/>
            <a:ext cx="3048000" cy="9525"/>
          </a:xfrm>
          <a:prstGeom prst="line">
            <a:avLst/>
          </a:prstGeom>
          <a:noFill/>
          <a:ln w="19050">
            <a:solidFill>
              <a:srgbClr val="D8D1C4"/>
            </a:solidFill>
          </a:ln>
        </p:spPr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983EB79E-6634-4B3B-9C2F-E8C51BC5F6AA}"/>
              </a:ext>
            </a:extLst>
          </p:cNvPr>
          <p:cNvSpPr>
            <a:spLocks noGrp="1"/>
          </p:cNvSpPr>
          <p:nvPr/>
        </p:nvSpPr>
        <p:spPr>
          <a:xfrm>
            <a:off x="5095875" y="3543300"/>
            <a:ext cx="9525" cy="514350"/>
          </a:xfrm>
          <a:prstGeom prst="line">
            <a:avLst/>
          </a:prstGeom>
          <a:noFill/>
          <a:ln w="19050">
            <a:solidFill>
              <a:srgbClr val="D8D1C4"/>
            </a:solidFill>
          </a:ln>
        </p:spPr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E8E138AE-7133-4587-A74D-82ECC5453638}"/>
              </a:ext>
            </a:extLst>
          </p:cNvPr>
          <p:cNvSpPr>
            <a:spLocks noGrp="1"/>
          </p:cNvSpPr>
          <p:nvPr/>
        </p:nvSpPr>
        <p:spPr>
          <a:xfrm>
            <a:off x="2343150" y="4572000"/>
            <a:ext cx="1562100" cy="9525"/>
          </a:xfrm>
          <a:prstGeom prst="line">
            <a:avLst/>
          </a:prstGeom>
          <a:noFill/>
          <a:ln w="19050">
            <a:solidFill>
              <a:srgbClr val="D8D1C4"/>
            </a:solidFill>
          </a:ln>
        </p:spPr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28BEB29C-50E7-4C4E-B6C1-65E1DA3B3576}"/>
              </a:ext>
            </a:extLst>
          </p:cNvPr>
          <p:cNvSpPr>
            <a:spLocks noGrp="1"/>
          </p:cNvSpPr>
          <p:nvPr/>
        </p:nvSpPr>
        <p:spPr>
          <a:xfrm>
            <a:off x="2343150" y="3028950"/>
            <a:ext cx="9525" cy="1543050"/>
          </a:xfrm>
          <a:prstGeom prst="line">
            <a:avLst/>
          </a:prstGeom>
          <a:noFill/>
          <a:ln w="19050">
            <a:solidFill>
              <a:srgbClr val="D8D1C4"/>
            </a:solidFill>
          </a:ln>
        </p:spPr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48D79CA8-39AD-42F2-917C-923D9C86053C}"/>
              </a:ext>
            </a:extLst>
          </p:cNvPr>
          <p:cNvSpPr>
            <a:spLocks noGrp="1"/>
          </p:cNvSpPr>
          <p:nvPr/>
        </p:nvSpPr>
        <p:spPr>
          <a:xfrm>
            <a:off x="2266950" y="2990850"/>
            <a:ext cx="152400" cy="133350"/>
          </a:xfrm>
          <a:prstGeom prst="triangle">
            <a:avLst/>
          </a:prstGeom>
          <a:solidFill>
            <a:srgbClr val="D8D1C4"/>
          </a:solidFill>
          <a:ln w="0">
            <a:solidFill>
              <a:srgbClr val="D8D1C4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9325280-1A88-4CC4-90FD-DA87C7026061}"/>
              </a:ext>
            </a:extLst>
          </p:cNvPr>
          <p:cNvSpPr>
            <a:spLocks noGrp="1"/>
          </p:cNvSpPr>
          <p:nvPr/>
        </p:nvSpPr>
        <p:spPr>
          <a:xfrm>
            <a:off x="1314450" y="5429250"/>
            <a:ext cx="9525000" cy="80010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90500" tIns="133350" rIns="190500" bIns="133350" anchor="t"/>
          <a:lstStyle/>
          <a:p>
            <a:pPr algn="l">
              <a:def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总结观点</a:t>
            </a:r>
          </a:p>
          <a:p>
            <a:pPr algn="l">
              <a:def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番茄小说类平台可以把 OLTP 看作“业务运行系统”，把大数据平台看作“业务理解系统”。前者确保用户每一次阅读和互动可用、快速、正确；后者把海量历史行为转化为推荐、运营、广告和风控决策。</a:t>
            </a:r>
          </a:p>
        </p:txBody>
      </p:sp>
    </p:spTree>
    <p:extLst>
      <p:ext uri="{BB962C8B-B14F-4D97-AF65-F5344CB8AC3E}">
        <p14:creationId xmlns:p14="http://schemas.microsoft.com/office/powerpoint/2010/main" val="14086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F3C0C6A7-8A3D-4AF0-98A5-44B9EEB6D4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0C4A2A-9305-44A6-B7CE-8386D7FD63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85D4F"/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422224-0242-4A03-A4DE-C93E1ACFC185}"/>
              </a:ext>
            </a:extLst>
          </p:cNvPr>
          <p:cNvSpPr>
            <a:spLocks noGrp="1"/>
          </p:cNvSpPr>
          <p:nvPr/>
        </p:nvSpPr>
        <p:spPr>
          <a:xfrm>
            <a:off x="419100" y="6496050"/>
            <a:ext cx="9334500" cy="2286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All links accessed around 2026-06-02 unless otherwise stated.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7FB60B-8256-4DE5-B1EE-E98ED3931115}"/>
              </a:ext>
            </a:extLst>
          </p:cNvPr>
          <p:cNvSpPr>
            <a:spLocks noGrp="1"/>
          </p:cNvSpPr>
          <p:nvPr/>
        </p:nvSpPr>
        <p:spPr>
          <a:xfrm>
            <a:off x="11315700" y="6438900"/>
            <a:ext cx="609600" cy="2667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r">
              <a:defRPr sz="975">
                <a:solidFill>
                  <a:srgbClr val="5C6670"/>
                </a:solidFill>
                <a:latin typeface="Segoe UI"/>
                <a:ea typeface="Segoe UI"/>
                <a:cs typeface="Segoe UI"/>
              </a:defRPr>
            </a:pPr>
            <a:r>
              <a:rPr sz="975">
                <a:solidFill>
                  <a:srgbClr val="5C6670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C9739A3-80C6-4C02-97A1-1A351217E151}"/>
              </a:ext>
            </a:extLst>
          </p:cNvPr>
          <p:cNvSpPr>
            <a:spLocks noGrp="1"/>
          </p:cNvSpPr>
          <p:nvPr/>
        </p:nvSpPr>
        <p:spPr>
          <a:xfrm>
            <a:off x="485775" y="533400"/>
            <a:ext cx="76200" cy="76200"/>
          </a:xfrm>
          <a:prstGeom prst="ellipse">
            <a:avLst/>
          </a:prstGeom>
          <a:solidFill>
            <a:srgbClr val="E85D4F"/>
          </a:solidFill>
          <a:ln w="0">
            <a:solidFill>
              <a:srgbClr val="E85D4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7D60A9-CD71-4930-A931-EE56B02E9D5D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2000250" cy="228600"/>
          </a:xfrm>
          <a:prstGeom prst="rect">
            <a:avLst/>
          </a:prstGeom>
          <a:noFill/>
        </p:spPr>
        <p:txBody>
          <a:bodyPr lIns="76200" tIns="38100" rIns="76200" bIns="38100" anchor="ctr"/>
          <a:lstStyle/>
          <a:p>
            <a:pPr algn="l">
              <a:defRPr sz="900">
                <a:solidFill>
                  <a:srgbClr val="B83D3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83D34"/>
                </a:solidFill>
                <a:latin typeface="Segoe UI"/>
                <a:ea typeface="Segoe UI"/>
                <a:cs typeface="Segoe UI"/>
              </a:rPr>
              <a:t>REFERENCES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C85C90-97C4-4668-9622-A751539818FF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9906000" cy="495300"/>
          </a:xfrm>
          <a:prstGeom prst="rect">
            <a:avLst/>
          </a:prstGeom>
          <a:noFill/>
        </p:spPr>
        <p:txBody>
          <a:bodyPr lIns="76200" tIns="38100" rIns="76200" bIns="38100" anchor="t"/>
          <a:lstStyle/>
          <a:p>
            <a:pPr algn="l">
              <a:defRPr sz="240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参考来源与限制说明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B81F861B-9B95-4060-827E-1EB3AF07D15B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11077575" cy="9525"/>
          </a:xfrm>
          <a:prstGeom prst="line">
            <a:avLst/>
          </a:prstGeom>
          <a:noFill/>
          <a:ln w="9525">
            <a:solidFill>
              <a:srgbClr val="D8D1C4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65594D-DDE1-4006-AEA4-787CDAABC4F7}"/>
              </a:ext>
            </a:extLst>
          </p:cNvPr>
          <p:cNvSpPr>
            <a:spLocks noGrp="1"/>
          </p:cNvSpPr>
          <p:nvPr/>
        </p:nvSpPr>
        <p:spPr>
          <a:xfrm>
            <a:off x="552450" y="1485900"/>
            <a:ext cx="2095500" cy="323850"/>
          </a:xfrm>
          <a:prstGeom prst="rect">
            <a:avLst/>
          </a:prstGeom>
          <a:solidFill>
            <a:srgbClr val="1E2732"/>
          </a:solidFill>
          <a:ln w="9525">
            <a:solidFill>
              <a:srgbClr val="1E2732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BA044E-9122-496C-B94F-A258A1476B56}"/>
              </a:ext>
            </a:extLst>
          </p:cNvPr>
          <p:cNvSpPr>
            <a:spLocks noGrp="1"/>
          </p:cNvSpPr>
          <p:nvPr/>
        </p:nvSpPr>
        <p:spPr>
          <a:xfrm>
            <a:off x="2647950" y="1485900"/>
            <a:ext cx="4762500" cy="323850"/>
          </a:xfrm>
          <a:prstGeom prst="rect">
            <a:avLst/>
          </a:prstGeom>
          <a:solidFill>
            <a:srgbClr val="1E2732"/>
          </a:solidFill>
          <a:ln w="9525">
            <a:solidFill>
              <a:srgbClr val="1E2732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链接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14C418-0566-43DC-BB23-7E831F9D50CD}"/>
              </a:ext>
            </a:extLst>
          </p:cNvPr>
          <p:cNvSpPr>
            <a:spLocks noGrp="1"/>
          </p:cNvSpPr>
          <p:nvPr/>
        </p:nvSpPr>
        <p:spPr>
          <a:xfrm>
            <a:off x="7410450" y="1485900"/>
            <a:ext cx="3905250" cy="323850"/>
          </a:xfrm>
          <a:prstGeom prst="rect">
            <a:avLst/>
          </a:prstGeom>
          <a:solidFill>
            <a:srgbClr val="1E2732"/>
          </a:solidFill>
          <a:ln w="9525">
            <a:solidFill>
              <a:srgbClr val="1E2732"/>
            </a:solidFill>
          </a:ln>
        </p:spPr>
        <p:txBody>
          <a:bodyPr lIns="114300" tIns="95250" rIns="114300" bIns="95250" anchor="ctr"/>
          <a:lstStyle/>
          <a:p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使用内容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2D0BA45-564E-4162-A827-1EC463E317B3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2095500" cy="4762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番茄小说官网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275D954-01CE-41AC-848C-EFE3184E7644}"/>
              </a:ext>
            </a:extLst>
          </p:cNvPr>
          <p:cNvSpPr>
            <a:spLocks noGrp="1"/>
          </p:cNvSpPr>
          <p:nvPr/>
        </p:nvSpPr>
        <p:spPr>
          <a:xfrm>
            <a:off x="2647950" y="1809750"/>
            <a:ext cx="4762500" cy="4762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840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rPr>
              <a:t>https://fanqienovel.com/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1EF704C-CD86-4701-92D2-02512A913CC9}"/>
              </a:ext>
            </a:extLst>
          </p:cNvPr>
          <p:cNvSpPr>
            <a:spLocks noGrp="1"/>
          </p:cNvSpPr>
          <p:nvPr/>
        </p:nvSpPr>
        <p:spPr>
          <a:xfrm>
            <a:off x="7410450" y="1809750"/>
            <a:ext cx="3905250" cy="4762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产品入口、作家专区、版权专区、广告链接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F0571DA-B725-45AF-BDE1-708EC59285A1}"/>
              </a:ext>
            </a:extLst>
          </p:cNvPr>
          <p:cNvSpPr>
            <a:spLocks noGrp="1"/>
          </p:cNvSpPr>
          <p:nvPr/>
        </p:nvSpPr>
        <p:spPr>
          <a:xfrm>
            <a:off x="552450" y="2324100"/>
            <a:ext cx="2095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中国社会科学网 / 2024 网络文学报告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5172F1A-F5B0-4C64-AA21-9EA2547F5D73}"/>
              </a:ext>
            </a:extLst>
          </p:cNvPr>
          <p:cNvSpPr>
            <a:spLocks noGrp="1"/>
          </p:cNvSpPr>
          <p:nvPr/>
        </p:nvSpPr>
        <p:spPr>
          <a:xfrm>
            <a:off x="2647950" y="2324100"/>
            <a:ext cx="4762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840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rPr>
              <a:t>https://www.cssn.cn/wx/tbch/202505/t20250513_5873701.shtml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5AE306F-C8CC-4411-9EC1-F7DD02F822B7}"/>
              </a:ext>
            </a:extLst>
          </p:cNvPr>
          <p:cNvSpPr>
            <a:spLocks noGrp="1"/>
          </p:cNvSpPr>
          <p:nvPr/>
        </p:nvSpPr>
        <p:spPr>
          <a:xfrm>
            <a:off x="7410450" y="2324100"/>
            <a:ext cx="3905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用户、作者、作品、市场规模数据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94291D1-7CAA-4AD2-8075-DE94292D3860}"/>
              </a:ext>
            </a:extLst>
          </p:cNvPr>
          <p:cNvSpPr>
            <a:spLocks noGrp="1"/>
          </p:cNvSpPr>
          <p:nvPr/>
        </p:nvSpPr>
        <p:spPr>
          <a:xfrm>
            <a:off x="552450" y="2838450"/>
            <a:ext cx="2095500" cy="4762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国家新闻出版署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A4D4358-8C1F-4F6F-81F1-84B712C1C347}"/>
              </a:ext>
            </a:extLst>
          </p:cNvPr>
          <p:cNvSpPr>
            <a:spLocks noGrp="1"/>
          </p:cNvSpPr>
          <p:nvPr/>
        </p:nvSpPr>
        <p:spPr>
          <a:xfrm>
            <a:off x="2647950" y="2838450"/>
            <a:ext cx="4762500" cy="4762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840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rPr>
              <a:t>https://www.nppa.gov.cn/xxfb/ywdt/202505/t20250512_894767.html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EDEBB71-3096-4CE6-81BD-F1500FED9D8E}"/>
              </a:ext>
            </a:extLst>
          </p:cNvPr>
          <p:cNvSpPr>
            <a:spLocks noGrp="1"/>
          </p:cNvSpPr>
          <p:nvPr/>
        </p:nvSpPr>
        <p:spPr>
          <a:xfrm>
            <a:off x="7410450" y="2838450"/>
            <a:ext cx="3905250" cy="4762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网络文学发展趋势与报告信息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883537-981B-4AD6-99EB-74AA86CFCD01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2095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新华社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91865D9-9750-4201-A19B-7D0E0DF6EC49}"/>
              </a:ext>
            </a:extLst>
          </p:cNvPr>
          <p:cNvSpPr>
            <a:spLocks noGrp="1"/>
          </p:cNvSpPr>
          <p:nvPr/>
        </p:nvSpPr>
        <p:spPr>
          <a:xfrm>
            <a:off x="2647950" y="3352800"/>
            <a:ext cx="4762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840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rPr>
              <a:t>https://www.xinhuanet.com/tech/20241212/7a3a29fb2cca4c4c96f7d7b71a6f9579/c.html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2D7B897-B1E7-4E80-8F85-D67467EC68A8}"/>
              </a:ext>
            </a:extLst>
          </p:cNvPr>
          <p:cNvSpPr>
            <a:spLocks noGrp="1"/>
          </p:cNvSpPr>
          <p:nvPr/>
        </p:nvSpPr>
        <p:spPr>
          <a:xfrm>
            <a:off x="7410450" y="3352800"/>
            <a:ext cx="3905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作者收入、奖金、扶持计划公开报道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2AA909A-BC24-4482-9017-2A5CCA700521}"/>
              </a:ext>
            </a:extLst>
          </p:cNvPr>
          <p:cNvSpPr>
            <a:spLocks noGrp="1"/>
          </p:cNvSpPr>
          <p:nvPr/>
        </p:nvSpPr>
        <p:spPr>
          <a:xfrm>
            <a:off x="552450" y="3867150"/>
            <a:ext cx="2095500" cy="4762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界面新闻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1134C69-828E-49AA-A81B-01FE63533863}"/>
              </a:ext>
            </a:extLst>
          </p:cNvPr>
          <p:cNvSpPr>
            <a:spLocks noGrp="1"/>
          </p:cNvSpPr>
          <p:nvPr/>
        </p:nvSpPr>
        <p:spPr>
          <a:xfrm>
            <a:off x="2647950" y="3867150"/>
            <a:ext cx="4762500" cy="4762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840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rPr>
              <a:t>https://www.jiemian.com/article/12111592.html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B10FC74-C8FF-4D82-A844-3BCA595DE68A}"/>
              </a:ext>
            </a:extLst>
          </p:cNvPr>
          <p:cNvSpPr>
            <a:spLocks noGrp="1"/>
          </p:cNvSpPr>
          <p:nvPr/>
        </p:nvSpPr>
        <p:spPr>
          <a:xfrm>
            <a:off x="7410450" y="3867150"/>
            <a:ext cx="3905250" cy="476250"/>
          </a:xfrm>
          <a:prstGeom prst="rect">
            <a:avLst/>
          </a:prstGeom>
          <a:solidFill>
            <a:srgbClr val="FFFDF8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年度榜单用户参与、签约作者公开数据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33D083B-FF64-4372-9663-66C816D976EF}"/>
              </a:ext>
            </a:extLst>
          </p:cNvPr>
          <p:cNvSpPr>
            <a:spLocks noGrp="1"/>
          </p:cNvSpPr>
          <p:nvPr/>
        </p:nvSpPr>
        <p:spPr>
          <a:xfrm>
            <a:off x="552450" y="4381500"/>
            <a:ext cx="2095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8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21CBR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0F13A23-2F72-44FE-BB55-357F4CD6A1E7}"/>
              </a:ext>
            </a:extLst>
          </p:cNvPr>
          <p:cNvSpPr>
            <a:spLocks noGrp="1"/>
          </p:cNvSpPr>
          <p:nvPr/>
        </p:nvSpPr>
        <p:spPr>
          <a:xfrm>
            <a:off x="2647950" y="4381500"/>
            <a:ext cx="4762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840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315C97"/>
                </a:solidFill>
                <a:latin typeface="Microsoft YaHei"/>
                <a:ea typeface="Microsoft YaHei"/>
                <a:cs typeface="Microsoft YaHei"/>
              </a:rPr>
              <a:t>https://www.21jingji.com/article/20241216/herald/32687e0b83091a610dbc5862d159a0a4.html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AE9260C-7F82-4503-8D3D-033DB26342E3}"/>
              </a:ext>
            </a:extLst>
          </p:cNvPr>
          <p:cNvSpPr>
            <a:spLocks noGrp="1"/>
          </p:cNvSpPr>
          <p:nvPr/>
        </p:nvSpPr>
        <p:spPr>
          <a:xfrm>
            <a:off x="7410450" y="4381500"/>
            <a:ext cx="3905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</a:ln>
        </p:spPr>
        <p:txBody>
          <a:bodyPr lIns="114300" tIns="95250" rIns="114300" bIns="95250" anchor="ctr"/>
          <a:lstStyle/>
          <a:p>
            <a:pPr algn="l">
              <a:def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MAU 规模参考、免费阅读商业模式报道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58F1021-30E9-4C82-8B73-E7EFE59F80DD}"/>
              </a:ext>
            </a:extLst>
          </p:cNvPr>
          <p:cNvSpPr>
            <a:spLocks noGrp="1"/>
          </p:cNvSpPr>
          <p:nvPr/>
        </p:nvSpPr>
        <p:spPr>
          <a:xfrm>
            <a:off x="914400" y="5562600"/>
            <a:ext cx="10287000" cy="628650"/>
          </a:xfrm>
          <a:prstGeom prst="rect">
            <a:avLst/>
          </a:prstGeom>
          <a:solidFill>
            <a:srgbClr val="FBEDE8"/>
          </a:solidFill>
          <a:ln w="9525">
            <a:solidFill>
              <a:srgbClr val="E85D4F"/>
            </a:solidFill>
          </a:ln>
        </p:spPr>
        <p:txBody>
          <a:bodyPr lIns="114300" tIns="95250" rIns="114300" bIns="95250" anchor="ctr"/>
          <a:lstStyle/>
          <a:p>
            <a:pPr algn="l">
              <a:def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限制说明：番茄小说没有公开完整内部 OLTP/大数据平台架构。本 PPT 的架构图用于课程分析，技术栈是大型在线阅读/内容平台的通用设计，不代表官方披露。</a:t>
            </a:r>
          </a:p>
        </p:txBody>
      </p:sp>
    </p:spTree>
    <p:extLst>
      <p:ext uri="{BB962C8B-B14F-4D97-AF65-F5344CB8AC3E}">
        <p14:creationId xmlns:p14="http://schemas.microsoft.com/office/powerpoint/2010/main" val="11904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1334</Words>
  <Application>Microsoft Office PowerPoint</Application>
  <DocSecurity>0</DocSecurity>
  <PresentationFormat>宽屏</PresentationFormat>
  <Paragraphs>331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Microsoft YaHei</vt:lpstr>
      <vt:lpstr>Calibri</vt:lpstr>
      <vt:lpstr>Segoe UI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仁伟 骆</cp:lastModifiedBy>
  <cp:revision>3</cp:revision>
  <dcterms:created xsi:type="dcterms:W3CDTF">2026-06-02T03:33:18Z</dcterms:created>
  <dcterms:modified xsi:type="dcterms:W3CDTF">2026-06-02T06:30:51Z</dcterms:modified>
</cp:coreProperties>
</file>