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4" d="100"/>
          <a:sy n="104" d="100"/>
        </p:scale>
        <p:origin x="6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AB88D1E1-D419-4323-9C9A-7D46FE624E80}"/>
              </a:ext>
            </a:extLst>
          </p:cNvPr>
          <p:cNvSpPr>
            <a:spLocks noGrp="1"/>
          </p:cNvSpPr>
          <p:nvPr/>
        </p:nvSpPr>
        <p:spPr>
          <a:xfrm>
            <a:off x="0" y="0"/>
            <a:ext cx="12192000" cy="6858000"/>
          </a:xfrm>
          <a:prstGeom prst="rect">
            <a:avLst/>
          </a:prstGeom>
          <a:solidFill>
            <a:srgbClr val="1E2732"/>
          </a:solidFill>
        </p:spPr>
      </p:sp>
      <p:sp>
        <p:nvSpPr>
          <p:cNvPr id="2" name="矩形 1">
            <a:extLst>
              <a:ext uri="{FF2B5EF4-FFF2-40B4-BE49-F238E27FC236}">
                <a16:creationId xmlns:a16="http://schemas.microsoft.com/office/drawing/2014/main" id="{35FD5CA8-3D24-4519-9F83-DDC72978BA17}"/>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9CAE1EA2-A49A-481C-847A-E15919E890BB}"/>
              </a:ext>
            </a:extLst>
          </p:cNvPr>
          <p:cNvSpPr>
            <a:spLocks noGrp="1"/>
          </p:cNvSpPr>
          <p:nvPr/>
        </p:nvSpPr>
        <p:spPr>
          <a:xfrm>
            <a:off x="514350" y="457200"/>
            <a:ext cx="5334000" cy="247650"/>
          </a:xfrm>
          <a:prstGeom prst="rect">
            <a:avLst/>
          </a:prstGeom>
          <a:noFill/>
        </p:spPr>
        <p:txBody>
          <a:bodyPr lIns="76200" tIns="38100" rIns="76200" bIns="38100" anchor="t"/>
          <a:lstStyle/>
          <a:p>
            <a:pPr algn="l">
              <a:defRPr sz="975">
                <a:solidFill>
                  <a:srgbClr val="F5B2AA"/>
                </a:solidFill>
                <a:latin typeface="Segoe UI"/>
                <a:ea typeface="Segoe UI"/>
                <a:cs typeface="Segoe UI"/>
              </a:defRPr>
            </a:pPr>
            <a:r>
              <a:rPr sz="975" b="1" dirty="0">
                <a:solidFill>
                  <a:srgbClr val="F5B2AA"/>
                </a:solidFill>
                <a:latin typeface="Segoe UI"/>
                <a:ea typeface="Segoe UI"/>
                <a:cs typeface="Segoe UI"/>
              </a:rPr>
              <a:t>DATA WAREHOUSE &amp; BIG DATA ENGINEERING</a:t>
            </a:r>
          </a:p>
        </p:txBody>
      </p:sp>
      <p:sp>
        <p:nvSpPr>
          <p:cNvPr id="4" name="矩形 3">
            <a:extLst>
              <a:ext uri="{FF2B5EF4-FFF2-40B4-BE49-F238E27FC236}">
                <a16:creationId xmlns:a16="http://schemas.microsoft.com/office/drawing/2014/main" id="{10402390-F77F-4699-AEB4-FF9E81647C36}"/>
              </a:ext>
            </a:extLst>
          </p:cNvPr>
          <p:cNvSpPr>
            <a:spLocks noGrp="1"/>
          </p:cNvSpPr>
          <p:nvPr/>
        </p:nvSpPr>
        <p:spPr>
          <a:xfrm>
            <a:off x="514350" y="742950"/>
            <a:ext cx="857250" cy="47625"/>
          </a:xfrm>
          <a:prstGeom prst="rect">
            <a:avLst/>
          </a:prstGeom>
          <a:solidFill>
            <a:srgbClr val="E85D4F"/>
          </a:solidFill>
          <a:ln w="0">
            <a:solidFill>
              <a:srgbClr val="E85D4F"/>
            </a:solidFill>
          </a:ln>
        </p:spPr>
      </p:sp>
      <p:sp>
        <p:nvSpPr>
          <p:cNvPr id="5" name="矩形 4">
            <a:extLst>
              <a:ext uri="{FF2B5EF4-FFF2-40B4-BE49-F238E27FC236}">
                <a16:creationId xmlns:a16="http://schemas.microsoft.com/office/drawing/2014/main" id="{8970AA04-94E2-45FC-8762-3BED69EEC4F0}"/>
              </a:ext>
            </a:extLst>
          </p:cNvPr>
          <p:cNvSpPr>
            <a:spLocks noGrp="1"/>
          </p:cNvSpPr>
          <p:nvPr/>
        </p:nvSpPr>
        <p:spPr>
          <a:xfrm>
            <a:off x="514350" y="1066800"/>
            <a:ext cx="7239000" cy="1104900"/>
          </a:xfrm>
          <a:prstGeom prst="rect">
            <a:avLst/>
          </a:prstGeom>
          <a:noFill/>
        </p:spPr>
        <p:txBody>
          <a:bodyPr lIns="0" tIns="0" rIns="0" bIns="0" anchor="t"/>
          <a:lstStyle/>
          <a:p>
            <a:pPr algn="l">
              <a:defRPr sz="3225">
                <a:solidFill>
                  <a:srgbClr val="FFFFFF"/>
                </a:solidFill>
                <a:latin typeface="Microsoft YaHei"/>
                <a:ea typeface="Microsoft YaHei"/>
                <a:cs typeface="Microsoft YaHei"/>
              </a:defRPr>
            </a:pPr>
            <a:r>
              <a:rPr sz="3225" b="1">
                <a:solidFill>
                  <a:srgbClr val="FFFFFF"/>
                </a:solidFill>
                <a:latin typeface="Microsoft YaHei"/>
                <a:ea typeface="Microsoft YaHei"/>
                <a:cs typeface="Microsoft YaHei"/>
              </a:rPr>
              <a:t>大型在线阅读平台</a:t>
            </a:r>
          </a:p>
          <a:p>
            <a:pPr algn="l">
              <a:defRPr sz="3225">
                <a:solidFill>
                  <a:srgbClr val="FFFFFF"/>
                </a:solidFill>
                <a:latin typeface="Microsoft YaHei"/>
                <a:ea typeface="Microsoft YaHei"/>
                <a:cs typeface="Microsoft YaHei"/>
              </a:defRPr>
            </a:pPr>
            <a:r>
              <a:rPr sz="3225" b="1">
                <a:solidFill>
                  <a:srgbClr val="FFFFFF"/>
                </a:solidFill>
                <a:latin typeface="Microsoft YaHei"/>
                <a:ea typeface="Microsoft YaHei"/>
                <a:cs typeface="Microsoft YaHei"/>
              </a:rPr>
              <a:t>OLTP 系统与大数据平台架构分析</a:t>
            </a:r>
          </a:p>
        </p:txBody>
      </p:sp>
      <p:sp>
        <p:nvSpPr>
          <p:cNvPr id="6" name="矩形 5">
            <a:extLst>
              <a:ext uri="{FF2B5EF4-FFF2-40B4-BE49-F238E27FC236}">
                <a16:creationId xmlns:a16="http://schemas.microsoft.com/office/drawing/2014/main" id="{6C4E7B99-5587-42EE-B84C-85938FA050FD}"/>
              </a:ext>
            </a:extLst>
          </p:cNvPr>
          <p:cNvSpPr>
            <a:spLocks noGrp="1"/>
          </p:cNvSpPr>
          <p:nvPr/>
        </p:nvSpPr>
        <p:spPr>
          <a:xfrm>
            <a:off x="552450" y="2495550"/>
            <a:ext cx="5905500" cy="342900"/>
          </a:xfrm>
          <a:prstGeom prst="rect">
            <a:avLst/>
          </a:prstGeom>
          <a:noFill/>
        </p:spPr>
        <p:txBody>
          <a:bodyPr lIns="76200" tIns="38100" rIns="76200" bIns="38100" anchor="t"/>
          <a:lstStyle/>
          <a:p>
            <a:pPr algn="l">
              <a:defRPr sz="1875">
                <a:solidFill>
                  <a:srgbClr val="E8EDF0"/>
                </a:solidFill>
                <a:latin typeface="Microsoft YaHei"/>
                <a:ea typeface="Microsoft YaHei"/>
                <a:cs typeface="Microsoft YaHei"/>
              </a:defRPr>
            </a:pPr>
            <a:r>
              <a:rPr sz="1875" b="1" dirty="0" err="1">
                <a:solidFill>
                  <a:srgbClr val="E8EDF0"/>
                </a:solidFill>
                <a:latin typeface="Microsoft YaHei"/>
                <a:ea typeface="Microsoft YaHei"/>
                <a:cs typeface="Microsoft YaHei"/>
              </a:rPr>
              <a:t>以番茄</a:t>
            </a:r>
            <a:r>
              <a:rPr lang="zh-CN" altLang="en-US" sz="1875" b="1" dirty="0">
                <a:solidFill>
                  <a:srgbClr val="E8EDF0"/>
                </a:solidFill>
                <a:latin typeface="Microsoft YaHei"/>
                <a:ea typeface="Microsoft YaHei"/>
                <a:cs typeface="Microsoft YaHei"/>
              </a:rPr>
              <a:t>免费</a:t>
            </a:r>
            <a:r>
              <a:rPr sz="1875" b="1" dirty="0" err="1">
                <a:solidFill>
                  <a:srgbClr val="E8EDF0"/>
                </a:solidFill>
                <a:latin typeface="Microsoft YaHei"/>
                <a:ea typeface="Microsoft YaHei"/>
                <a:cs typeface="Microsoft YaHei"/>
              </a:rPr>
              <a:t>小说为例</a:t>
            </a:r>
            <a:endParaRPr sz="1875" b="1" dirty="0">
              <a:solidFill>
                <a:srgbClr val="E8EDF0"/>
              </a:solidFill>
              <a:latin typeface="Microsoft YaHei"/>
              <a:ea typeface="Microsoft YaHei"/>
              <a:cs typeface="Microsoft YaHei"/>
            </a:endParaRPr>
          </a:p>
        </p:txBody>
      </p:sp>
      <p:sp>
        <p:nvSpPr>
          <p:cNvPr id="7" name="矩形 6">
            <a:extLst>
              <a:ext uri="{FF2B5EF4-FFF2-40B4-BE49-F238E27FC236}">
                <a16:creationId xmlns:a16="http://schemas.microsoft.com/office/drawing/2014/main" id="{1A7411A8-2AB5-45A0-8135-C6183E2D32AE}"/>
              </a:ext>
            </a:extLst>
          </p:cNvPr>
          <p:cNvSpPr>
            <a:spLocks noGrp="1"/>
          </p:cNvSpPr>
          <p:nvPr/>
        </p:nvSpPr>
        <p:spPr>
          <a:xfrm>
            <a:off x="8477250" y="1066800"/>
            <a:ext cx="2724150" cy="1104900"/>
          </a:xfrm>
          <a:prstGeom prst="rect">
            <a:avLst/>
          </a:prstGeom>
          <a:solidFill>
            <a:srgbClr val="F8F5EE"/>
          </a:solidFill>
          <a:ln w="9525">
            <a:solidFill>
              <a:srgbClr val="F8F5EE"/>
            </a:solidFill>
          </a:ln>
        </p:spPr>
        <p:txBody>
          <a:bodyPr lIns="228600" tIns="209550" rIns="228600" bIns="171450" anchor="t"/>
          <a:lstStyle/>
          <a:p>
            <a:pPr algn="l">
              <a:defRPr sz="1500">
                <a:solidFill>
                  <a:srgbClr val="17202A"/>
                </a:solidFill>
                <a:latin typeface="Microsoft YaHei"/>
                <a:ea typeface="Microsoft YaHei"/>
                <a:cs typeface="Microsoft YaHei"/>
              </a:defRPr>
            </a:pPr>
            <a:r>
              <a:rPr sz="1500" b="1">
                <a:solidFill>
                  <a:srgbClr val="17202A"/>
                </a:solidFill>
                <a:latin typeface="Microsoft YaHei"/>
                <a:ea typeface="Microsoft YaHei"/>
                <a:cs typeface="Microsoft YaHei"/>
              </a:rPr>
              <a:t>姓名：</a:t>
            </a:r>
          </a:p>
          <a:p>
            <a:pPr algn="l">
              <a:defRPr sz="1500">
                <a:solidFill>
                  <a:srgbClr val="17202A"/>
                </a:solidFill>
                <a:latin typeface="Microsoft YaHei"/>
                <a:ea typeface="Microsoft YaHei"/>
                <a:cs typeface="Microsoft YaHei"/>
              </a:defRPr>
            </a:pPr>
            <a:r>
              <a:rPr sz="1500" b="1">
                <a:solidFill>
                  <a:srgbClr val="17202A"/>
                </a:solidFill>
                <a:latin typeface="Microsoft YaHei"/>
                <a:ea typeface="Microsoft YaHei"/>
                <a:cs typeface="Microsoft YaHei"/>
              </a:rPr>
              <a:t>学号：</a:t>
            </a:r>
          </a:p>
          <a:p>
            <a:pPr algn="l">
              <a:defRPr sz="1500">
                <a:solidFill>
                  <a:srgbClr val="17202A"/>
                </a:solidFill>
                <a:latin typeface="Microsoft YaHei"/>
                <a:ea typeface="Microsoft YaHei"/>
                <a:cs typeface="Microsoft YaHei"/>
              </a:defRPr>
            </a:pPr>
            <a:r>
              <a:rPr sz="1500" b="1">
                <a:solidFill>
                  <a:srgbClr val="17202A"/>
                </a:solidFill>
                <a:latin typeface="Microsoft YaHei"/>
                <a:ea typeface="Microsoft YaHei"/>
                <a:cs typeface="Microsoft YaHei"/>
              </a:rPr>
              <a:t>班级：</a:t>
            </a:r>
          </a:p>
        </p:txBody>
      </p:sp>
      <p:sp>
        <p:nvSpPr>
          <p:cNvPr id="9" name="矩形 8">
            <a:extLst>
              <a:ext uri="{FF2B5EF4-FFF2-40B4-BE49-F238E27FC236}">
                <a16:creationId xmlns:a16="http://schemas.microsoft.com/office/drawing/2014/main" id="{3058052B-FCCB-4A14-A2EE-6AF5CA08C092}"/>
              </a:ext>
            </a:extLst>
          </p:cNvPr>
          <p:cNvSpPr>
            <a:spLocks noGrp="1"/>
          </p:cNvSpPr>
          <p:nvPr/>
        </p:nvSpPr>
        <p:spPr>
          <a:xfrm>
            <a:off x="552450" y="3981450"/>
            <a:ext cx="552450" cy="323850"/>
          </a:xfrm>
          <a:prstGeom prst="rect">
            <a:avLst/>
          </a:prstGeom>
          <a:solidFill>
            <a:srgbClr val="E85D4F"/>
          </a:solidFill>
          <a:ln w="9525">
            <a:solidFill>
              <a:srgbClr val="E85D4F"/>
            </a:solidFill>
          </a:ln>
        </p:spPr>
        <p:txBody>
          <a:bodyPr lIns="38100" tIns="38100" rIns="38100" bIns="38100" anchor="ctr"/>
          <a:lstStyle/>
          <a:p>
            <a:pPr algn="ctr">
              <a:defRPr sz="1200">
                <a:solidFill>
                  <a:srgbClr val="FFFFFF"/>
                </a:solidFill>
                <a:latin typeface="Segoe UI"/>
                <a:ea typeface="Segoe UI"/>
                <a:cs typeface="Segoe UI"/>
              </a:defRPr>
            </a:pPr>
            <a:r>
              <a:rPr sz="1200" b="1">
                <a:solidFill>
                  <a:srgbClr val="FFFFFF"/>
                </a:solidFill>
                <a:latin typeface="Segoe UI"/>
                <a:ea typeface="Segoe UI"/>
                <a:cs typeface="Segoe UI"/>
              </a:rPr>
              <a:t>a</a:t>
            </a:r>
          </a:p>
        </p:txBody>
      </p:sp>
      <p:sp>
        <p:nvSpPr>
          <p:cNvPr id="10" name="矩形 9">
            <a:extLst>
              <a:ext uri="{FF2B5EF4-FFF2-40B4-BE49-F238E27FC236}">
                <a16:creationId xmlns:a16="http://schemas.microsoft.com/office/drawing/2014/main" id="{DC209186-23AE-4861-A7EE-F3B6E17466F8}"/>
              </a:ext>
            </a:extLst>
          </p:cNvPr>
          <p:cNvSpPr>
            <a:spLocks noGrp="1"/>
          </p:cNvSpPr>
          <p:nvPr/>
        </p:nvSpPr>
        <p:spPr>
          <a:xfrm>
            <a:off x="1200150" y="3981450"/>
            <a:ext cx="1762125" cy="323850"/>
          </a:xfrm>
          <a:prstGeom prst="rect">
            <a:avLst/>
          </a:prstGeom>
          <a:noFill/>
        </p:spPr>
        <p:txBody>
          <a:bodyPr lIns="76200" tIns="38100" rIns="76200" bIns="38100" anchor="ctr"/>
          <a:lstStyle/>
          <a:p>
            <a:pPr algn="l">
              <a:defRPr sz="1200">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系统大致架构图</a:t>
            </a:r>
          </a:p>
        </p:txBody>
      </p:sp>
      <p:sp>
        <p:nvSpPr>
          <p:cNvPr id="11" name="矩形 10">
            <a:extLst>
              <a:ext uri="{FF2B5EF4-FFF2-40B4-BE49-F238E27FC236}">
                <a16:creationId xmlns:a16="http://schemas.microsoft.com/office/drawing/2014/main" id="{4BBF772B-1ADC-45FB-8E41-E1EB43B2C8C0}"/>
              </a:ext>
            </a:extLst>
          </p:cNvPr>
          <p:cNvSpPr>
            <a:spLocks noGrp="1"/>
          </p:cNvSpPr>
          <p:nvPr/>
        </p:nvSpPr>
        <p:spPr>
          <a:xfrm>
            <a:off x="2981325" y="3981450"/>
            <a:ext cx="552450" cy="323850"/>
          </a:xfrm>
          <a:prstGeom prst="rect">
            <a:avLst/>
          </a:prstGeom>
          <a:solidFill>
            <a:srgbClr val="287D79"/>
          </a:solidFill>
          <a:ln w="9525">
            <a:solidFill>
              <a:srgbClr val="287D79"/>
            </a:solidFill>
          </a:ln>
        </p:spPr>
        <p:txBody>
          <a:bodyPr lIns="38100" tIns="38100" rIns="38100" bIns="38100" anchor="ctr"/>
          <a:lstStyle/>
          <a:p>
            <a:pPr algn="ctr">
              <a:defRPr sz="1200">
                <a:solidFill>
                  <a:srgbClr val="FFFFFF"/>
                </a:solidFill>
                <a:latin typeface="Segoe UI"/>
                <a:ea typeface="Segoe UI"/>
                <a:cs typeface="Segoe UI"/>
              </a:defRPr>
            </a:pPr>
            <a:r>
              <a:rPr sz="1200" b="1">
                <a:solidFill>
                  <a:srgbClr val="FFFFFF"/>
                </a:solidFill>
                <a:latin typeface="Segoe UI"/>
                <a:ea typeface="Segoe UI"/>
                <a:cs typeface="Segoe UI"/>
              </a:rPr>
              <a:t>b</a:t>
            </a:r>
          </a:p>
        </p:txBody>
      </p:sp>
      <p:sp>
        <p:nvSpPr>
          <p:cNvPr id="12" name="矩形 11">
            <a:extLst>
              <a:ext uri="{FF2B5EF4-FFF2-40B4-BE49-F238E27FC236}">
                <a16:creationId xmlns:a16="http://schemas.microsoft.com/office/drawing/2014/main" id="{4CFA59CE-E2BA-412E-826C-7B1DBFD03A47}"/>
              </a:ext>
            </a:extLst>
          </p:cNvPr>
          <p:cNvSpPr>
            <a:spLocks noGrp="1"/>
          </p:cNvSpPr>
          <p:nvPr/>
        </p:nvSpPr>
        <p:spPr>
          <a:xfrm>
            <a:off x="3629025" y="3981450"/>
            <a:ext cx="1762125" cy="323850"/>
          </a:xfrm>
          <a:prstGeom prst="rect">
            <a:avLst/>
          </a:prstGeom>
          <a:noFill/>
        </p:spPr>
        <p:txBody>
          <a:bodyPr lIns="76200" tIns="38100" rIns="76200" bIns="38100" anchor="ctr"/>
          <a:lstStyle/>
          <a:p>
            <a:pPr algn="l">
              <a:defRPr sz="1200">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OLTP 承载大规模业务量</a:t>
            </a:r>
          </a:p>
        </p:txBody>
      </p:sp>
      <p:sp>
        <p:nvSpPr>
          <p:cNvPr id="13" name="矩形 12">
            <a:extLst>
              <a:ext uri="{FF2B5EF4-FFF2-40B4-BE49-F238E27FC236}">
                <a16:creationId xmlns:a16="http://schemas.microsoft.com/office/drawing/2014/main" id="{F4C11BDE-E0FA-4042-878F-5CB8E5DEB858}"/>
              </a:ext>
            </a:extLst>
          </p:cNvPr>
          <p:cNvSpPr>
            <a:spLocks noGrp="1"/>
          </p:cNvSpPr>
          <p:nvPr/>
        </p:nvSpPr>
        <p:spPr>
          <a:xfrm>
            <a:off x="5410200" y="3981450"/>
            <a:ext cx="552450" cy="323850"/>
          </a:xfrm>
          <a:prstGeom prst="rect">
            <a:avLst/>
          </a:prstGeom>
          <a:solidFill>
            <a:srgbClr val="315C97"/>
          </a:solidFill>
          <a:ln w="9525">
            <a:solidFill>
              <a:srgbClr val="315C97"/>
            </a:solidFill>
          </a:ln>
        </p:spPr>
        <p:txBody>
          <a:bodyPr lIns="38100" tIns="38100" rIns="38100" bIns="38100" anchor="ctr"/>
          <a:lstStyle/>
          <a:p>
            <a:pPr algn="ctr">
              <a:defRPr sz="1200">
                <a:solidFill>
                  <a:srgbClr val="FFFFFF"/>
                </a:solidFill>
                <a:latin typeface="Segoe UI"/>
                <a:ea typeface="Segoe UI"/>
                <a:cs typeface="Segoe UI"/>
              </a:defRPr>
            </a:pPr>
            <a:r>
              <a:rPr sz="1200" b="1">
                <a:solidFill>
                  <a:srgbClr val="FFFFFF"/>
                </a:solidFill>
                <a:latin typeface="Segoe UI"/>
                <a:ea typeface="Segoe UI"/>
                <a:cs typeface="Segoe UI"/>
              </a:rPr>
              <a:t>c</a:t>
            </a:r>
          </a:p>
        </p:txBody>
      </p:sp>
      <p:sp>
        <p:nvSpPr>
          <p:cNvPr id="14" name="矩形 13">
            <a:extLst>
              <a:ext uri="{FF2B5EF4-FFF2-40B4-BE49-F238E27FC236}">
                <a16:creationId xmlns:a16="http://schemas.microsoft.com/office/drawing/2014/main" id="{9D09B710-CC09-4857-8567-C2066881413C}"/>
              </a:ext>
            </a:extLst>
          </p:cNvPr>
          <p:cNvSpPr>
            <a:spLocks noGrp="1"/>
          </p:cNvSpPr>
          <p:nvPr/>
        </p:nvSpPr>
        <p:spPr>
          <a:xfrm>
            <a:off x="6057900" y="3981450"/>
            <a:ext cx="1762125" cy="323850"/>
          </a:xfrm>
          <a:prstGeom prst="rect">
            <a:avLst/>
          </a:prstGeom>
          <a:noFill/>
        </p:spPr>
        <p:txBody>
          <a:bodyPr lIns="76200" tIns="38100" rIns="76200" bIns="38100" anchor="ctr"/>
          <a:lstStyle/>
          <a:p>
            <a:pPr algn="l">
              <a:defRPr sz="1200">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OLTP 与大数据平台数据流</a:t>
            </a:r>
          </a:p>
        </p:txBody>
      </p:sp>
      <p:sp>
        <p:nvSpPr>
          <p:cNvPr id="15" name="矩形 14">
            <a:extLst>
              <a:ext uri="{FF2B5EF4-FFF2-40B4-BE49-F238E27FC236}">
                <a16:creationId xmlns:a16="http://schemas.microsoft.com/office/drawing/2014/main" id="{D2DF6659-768F-4F3C-9B98-DEE3A4F5C75B}"/>
              </a:ext>
            </a:extLst>
          </p:cNvPr>
          <p:cNvSpPr>
            <a:spLocks noGrp="1"/>
          </p:cNvSpPr>
          <p:nvPr/>
        </p:nvSpPr>
        <p:spPr>
          <a:xfrm>
            <a:off x="552450" y="4762500"/>
            <a:ext cx="552450" cy="323850"/>
          </a:xfrm>
          <a:prstGeom prst="rect">
            <a:avLst/>
          </a:prstGeom>
          <a:solidFill>
            <a:srgbClr val="B2832F"/>
          </a:solidFill>
          <a:ln w="9525">
            <a:solidFill>
              <a:srgbClr val="B2832F"/>
            </a:solidFill>
          </a:ln>
        </p:spPr>
        <p:txBody>
          <a:bodyPr lIns="38100" tIns="38100" rIns="38100" bIns="38100" anchor="ctr"/>
          <a:lstStyle/>
          <a:p>
            <a:pPr algn="ctr">
              <a:defRPr sz="1200">
                <a:solidFill>
                  <a:srgbClr val="FFFFFF"/>
                </a:solidFill>
                <a:latin typeface="Segoe UI"/>
                <a:ea typeface="Segoe UI"/>
                <a:cs typeface="Segoe UI"/>
              </a:defRPr>
            </a:pPr>
            <a:r>
              <a:rPr sz="1200" b="1">
                <a:solidFill>
                  <a:srgbClr val="FFFFFF"/>
                </a:solidFill>
                <a:latin typeface="Segoe UI"/>
                <a:ea typeface="Segoe UI"/>
                <a:cs typeface="Segoe UI"/>
              </a:rPr>
              <a:t>d</a:t>
            </a:r>
          </a:p>
        </p:txBody>
      </p:sp>
      <p:sp>
        <p:nvSpPr>
          <p:cNvPr id="16" name="矩形 15">
            <a:extLst>
              <a:ext uri="{FF2B5EF4-FFF2-40B4-BE49-F238E27FC236}">
                <a16:creationId xmlns:a16="http://schemas.microsoft.com/office/drawing/2014/main" id="{757D8AC1-62E2-4FC6-902D-4D6C1793C79D}"/>
              </a:ext>
            </a:extLst>
          </p:cNvPr>
          <p:cNvSpPr>
            <a:spLocks noGrp="1"/>
          </p:cNvSpPr>
          <p:nvPr/>
        </p:nvSpPr>
        <p:spPr>
          <a:xfrm>
            <a:off x="1200150" y="4762500"/>
            <a:ext cx="1762125" cy="323850"/>
          </a:xfrm>
          <a:prstGeom prst="rect">
            <a:avLst/>
          </a:prstGeom>
          <a:noFill/>
        </p:spPr>
        <p:txBody>
          <a:bodyPr lIns="76200" tIns="38100" rIns="76200" bIns="38100" anchor="ctr"/>
          <a:lstStyle/>
          <a:p>
            <a:pPr algn="l">
              <a:defRPr sz="1200">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大数据平台内容构成与数据流</a:t>
            </a:r>
          </a:p>
        </p:txBody>
      </p:sp>
      <p:sp>
        <p:nvSpPr>
          <p:cNvPr id="17" name="矩形 16">
            <a:extLst>
              <a:ext uri="{FF2B5EF4-FFF2-40B4-BE49-F238E27FC236}">
                <a16:creationId xmlns:a16="http://schemas.microsoft.com/office/drawing/2014/main" id="{DA56243C-0E87-407A-A6B4-3CCCEDB2F949}"/>
              </a:ext>
            </a:extLst>
          </p:cNvPr>
          <p:cNvSpPr>
            <a:spLocks noGrp="1"/>
          </p:cNvSpPr>
          <p:nvPr/>
        </p:nvSpPr>
        <p:spPr>
          <a:xfrm>
            <a:off x="2981325" y="4762500"/>
            <a:ext cx="552450" cy="323850"/>
          </a:xfrm>
          <a:prstGeom prst="rect">
            <a:avLst/>
          </a:prstGeom>
          <a:solidFill>
            <a:srgbClr val="E85D4F"/>
          </a:solidFill>
          <a:ln w="9525">
            <a:solidFill>
              <a:srgbClr val="E85D4F"/>
            </a:solidFill>
          </a:ln>
        </p:spPr>
        <p:txBody>
          <a:bodyPr lIns="38100" tIns="38100" rIns="38100" bIns="38100" anchor="ctr"/>
          <a:lstStyle/>
          <a:p>
            <a:pPr algn="ctr">
              <a:defRPr sz="1200">
                <a:solidFill>
                  <a:srgbClr val="FFFFFF"/>
                </a:solidFill>
                <a:latin typeface="Segoe UI"/>
                <a:ea typeface="Segoe UI"/>
                <a:cs typeface="Segoe UI"/>
              </a:defRPr>
            </a:pPr>
            <a:r>
              <a:rPr sz="1200" b="1">
                <a:solidFill>
                  <a:srgbClr val="FFFFFF"/>
                </a:solidFill>
                <a:latin typeface="Segoe UI"/>
                <a:ea typeface="Segoe UI"/>
                <a:cs typeface="Segoe UI"/>
              </a:rPr>
              <a:t>e</a:t>
            </a:r>
          </a:p>
        </p:txBody>
      </p:sp>
      <p:sp>
        <p:nvSpPr>
          <p:cNvPr id="18" name="矩形 17">
            <a:extLst>
              <a:ext uri="{FF2B5EF4-FFF2-40B4-BE49-F238E27FC236}">
                <a16:creationId xmlns:a16="http://schemas.microsoft.com/office/drawing/2014/main" id="{7EE8DBB4-FAC5-43BA-9D05-DE1B34D3EC37}"/>
              </a:ext>
            </a:extLst>
          </p:cNvPr>
          <p:cNvSpPr>
            <a:spLocks noGrp="1"/>
          </p:cNvSpPr>
          <p:nvPr/>
        </p:nvSpPr>
        <p:spPr>
          <a:xfrm>
            <a:off x="3629025" y="4762500"/>
            <a:ext cx="1762125" cy="323850"/>
          </a:xfrm>
          <a:prstGeom prst="rect">
            <a:avLst/>
          </a:prstGeom>
          <a:noFill/>
        </p:spPr>
        <p:txBody>
          <a:bodyPr lIns="76200" tIns="38100" rIns="76200" bIns="38100" anchor="ctr"/>
          <a:lstStyle/>
          <a:p>
            <a:pPr algn="l">
              <a:defRPr sz="1200">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架构定位与面向需求</a:t>
            </a:r>
          </a:p>
        </p:txBody>
      </p:sp>
      <p:sp>
        <p:nvSpPr>
          <p:cNvPr id="19" name="矩形 18">
            <a:extLst>
              <a:ext uri="{FF2B5EF4-FFF2-40B4-BE49-F238E27FC236}">
                <a16:creationId xmlns:a16="http://schemas.microsoft.com/office/drawing/2014/main" id="{C9019178-4175-4ABE-A78B-A2040C5E4C96}"/>
              </a:ext>
            </a:extLst>
          </p:cNvPr>
          <p:cNvSpPr>
            <a:spLocks noGrp="1"/>
          </p:cNvSpPr>
          <p:nvPr/>
        </p:nvSpPr>
        <p:spPr>
          <a:xfrm>
            <a:off x="514350" y="6343650"/>
            <a:ext cx="2476500" cy="228600"/>
          </a:xfrm>
          <a:prstGeom prst="rect">
            <a:avLst/>
          </a:prstGeom>
          <a:noFill/>
        </p:spPr>
        <p:txBody>
          <a:bodyPr lIns="76200" tIns="38100" rIns="76200" bIns="38100" anchor="t"/>
          <a:lstStyle/>
          <a:p>
            <a:pPr algn="l">
              <a:defRPr sz="938">
                <a:solidFill>
                  <a:srgbClr val="AAB5BD"/>
                </a:solidFill>
                <a:latin typeface="Microsoft YaHei"/>
                <a:ea typeface="Microsoft YaHei"/>
                <a:cs typeface="Microsoft YaHei"/>
              </a:defRPr>
            </a:pPr>
            <a:r>
              <a:rPr sz="938">
                <a:solidFill>
                  <a:srgbClr val="AAB5BD"/>
                </a:solidFill>
                <a:latin typeface="Microsoft YaHei"/>
                <a:ea typeface="Microsoft YaHei"/>
                <a:cs typeface="Microsoft YaHei"/>
              </a:rPr>
              <a:t>课程作业 PPT | 13 页</a:t>
            </a:r>
          </a:p>
        </p:txBody>
      </p:sp>
    </p:spTree>
    <p:extLst>
      <p:ext uri="{BB962C8B-B14F-4D97-AF65-F5344CB8AC3E}">
        <p14:creationId xmlns:p14="http://schemas.microsoft.com/office/powerpoint/2010/main" val="702081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F0A29B39-F682-4BBF-A892-9CD7BCD9EC52}"/>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932776F2-99DA-43BC-A974-2039499CAE3F}"/>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4A86A54D-07A3-4120-9BB3-B7F5AF7EA62D}"/>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Structure follows the assignment questions a-e.</a:t>
            </a:r>
          </a:p>
        </p:txBody>
      </p:sp>
      <p:sp>
        <p:nvSpPr>
          <p:cNvPr id="4" name="矩形 3">
            <a:extLst>
              <a:ext uri="{FF2B5EF4-FFF2-40B4-BE49-F238E27FC236}">
                <a16:creationId xmlns:a16="http://schemas.microsoft.com/office/drawing/2014/main" id="{950004B7-4E85-474F-B0CF-F69C53CC5EF0}"/>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02</a:t>
            </a:r>
          </a:p>
        </p:txBody>
      </p:sp>
      <p:sp>
        <p:nvSpPr>
          <p:cNvPr id="5" name="椭圆 4">
            <a:extLst>
              <a:ext uri="{FF2B5EF4-FFF2-40B4-BE49-F238E27FC236}">
                <a16:creationId xmlns:a16="http://schemas.microsoft.com/office/drawing/2014/main" id="{3F21314A-4C99-4F1C-B3D0-BB5709E0E66C}"/>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69E3FE02-CC47-462E-AC9C-27CEEE8F3915}"/>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ANSWER MAP  a-e</a:t>
            </a:r>
          </a:p>
        </p:txBody>
      </p:sp>
      <p:sp>
        <p:nvSpPr>
          <p:cNvPr id="7" name="矩形 6">
            <a:extLst>
              <a:ext uri="{FF2B5EF4-FFF2-40B4-BE49-F238E27FC236}">
                <a16:creationId xmlns:a16="http://schemas.microsoft.com/office/drawing/2014/main" id="{949310FC-6372-4273-A22A-3FA5FACD4650}"/>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dirty="0" err="1">
                <a:solidFill>
                  <a:srgbClr val="17202A"/>
                </a:solidFill>
                <a:latin typeface="Microsoft YaHei"/>
                <a:ea typeface="Microsoft YaHei"/>
                <a:cs typeface="Microsoft YaHei"/>
              </a:rPr>
              <a:t>本报告按作业五个问题组织作答</a:t>
            </a:r>
            <a:endParaRPr sz="2325" b="1" dirty="0">
              <a:solidFill>
                <a:srgbClr val="17202A"/>
              </a:solidFill>
              <a:latin typeface="Microsoft YaHei"/>
              <a:ea typeface="Microsoft YaHei"/>
              <a:cs typeface="Microsoft YaHei"/>
            </a:endParaRPr>
          </a:p>
        </p:txBody>
      </p:sp>
      <p:sp>
        <p:nvSpPr>
          <p:cNvPr id="8" name="直接连接符 7">
            <a:extLst>
              <a:ext uri="{FF2B5EF4-FFF2-40B4-BE49-F238E27FC236}">
                <a16:creationId xmlns:a16="http://schemas.microsoft.com/office/drawing/2014/main" id="{732C56FD-D489-40A1-BD3F-2356CB7D8009}"/>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9F2A1032-3315-4113-8907-5495A37C0456}"/>
              </a:ext>
            </a:extLst>
          </p:cNvPr>
          <p:cNvSpPr>
            <a:spLocks noGrp="1"/>
          </p:cNvSpPr>
          <p:nvPr/>
        </p:nvSpPr>
        <p:spPr>
          <a:xfrm>
            <a:off x="590550" y="1562100"/>
            <a:ext cx="66675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编号</a:t>
            </a:r>
          </a:p>
        </p:txBody>
      </p:sp>
      <p:sp>
        <p:nvSpPr>
          <p:cNvPr id="10" name="矩形 9">
            <a:extLst>
              <a:ext uri="{FF2B5EF4-FFF2-40B4-BE49-F238E27FC236}">
                <a16:creationId xmlns:a16="http://schemas.microsoft.com/office/drawing/2014/main" id="{7DBEDB4D-4124-4C0F-9FD7-4902A80FFE48}"/>
              </a:ext>
            </a:extLst>
          </p:cNvPr>
          <p:cNvSpPr>
            <a:spLocks noGrp="1"/>
          </p:cNvSpPr>
          <p:nvPr/>
        </p:nvSpPr>
        <p:spPr>
          <a:xfrm>
            <a:off x="1257300" y="1562100"/>
            <a:ext cx="3381375"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题目要求</a:t>
            </a:r>
          </a:p>
        </p:txBody>
      </p:sp>
      <p:sp>
        <p:nvSpPr>
          <p:cNvPr id="11" name="矩形 10">
            <a:extLst>
              <a:ext uri="{FF2B5EF4-FFF2-40B4-BE49-F238E27FC236}">
                <a16:creationId xmlns:a16="http://schemas.microsoft.com/office/drawing/2014/main" id="{B48295AA-8EF3-4110-98E8-A1B40F6808C9}"/>
              </a:ext>
            </a:extLst>
          </p:cNvPr>
          <p:cNvSpPr>
            <a:spLocks noGrp="1"/>
          </p:cNvSpPr>
          <p:nvPr/>
        </p:nvSpPr>
        <p:spPr>
          <a:xfrm>
            <a:off x="4638675" y="1562100"/>
            <a:ext cx="11430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对应页</a:t>
            </a:r>
          </a:p>
        </p:txBody>
      </p:sp>
      <p:sp>
        <p:nvSpPr>
          <p:cNvPr id="12" name="矩形 11">
            <a:extLst>
              <a:ext uri="{FF2B5EF4-FFF2-40B4-BE49-F238E27FC236}">
                <a16:creationId xmlns:a16="http://schemas.microsoft.com/office/drawing/2014/main" id="{0FB67FA9-AFDA-4552-AA6B-6BD91D970877}"/>
              </a:ext>
            </a:extLst>
          </p:cNvPr>
          <p:cNvSpPr>
            <a:spLocks noGrp="1"/>
          </p:cNvSpPr>
          <p:nvPr/>
        </p:nvSpPr>
        <p:spPr>
          <a:xfrm>
            <a:off x="5781675" y="1562100"/>
            <a:ext cx="581025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本报告回答方式</a:t>
            </a:r>
          </a:p>
        </p:txBody>
      </p:sp>
      <p:sp>
        <p:nvSpPr>
          <p:cNvPr id="13" name="矩形 12">
            <a:extLst>
              <a:ext uri="{FF2B5EF4-FFF2-40B4-BE49-F238E27FC236}">
                <a16:creationId xmlns:a16="http://schemas.microsoft.com/office/drawing/2014/main" id="{E6C25143-5DF3-4D42-BF5C-1BFE04409E22}"/>
              </a:ext>
            </a:extLst>
          </p:cNvPr>
          <p:cNvSpPr>
            <a:spLocks noGrp="1"/>
          </p:cNvSpPr>
          <p:nvPr/>
        </p:nvSpPr>
        <p:spPr>
          <a:xfrm>
            <a:off x="590550" y="1885950"/>
            <a:ext cx="666750" cy="742950"/>
          </a:xfrm>
          <a:prstGeom prst="rect">
            <a:avLst/>
          </a:prstGeom>
          <a:solidFill>
            <a:srgbClr val="FFFDF8"/>
          </a:solidFill>
          <a:ln w="9525">
            <a:solidFill>
              <a:srgbClr val="D8D1C4"/>
            </a:solidFill>
          </a:ln>
        </p:spPr>
        <p:txBody>
          <a:bodyPr lIns="95250" tIns="76200" rIns="95250" bIns="76200" anchor="ctr"/>
          <a:lstStyle/>
          <a:p>
            <a:pPr algn="ctr">
              <a:defRPr sz="1065">
                <a:solidFill>
                  <a:srgbClr val="E85D4F"/>
                </a:solidFill>
                <a:latin typeface="Microsoft YaHei"/>
                <a:ea typeface="Microsoft YaHei"/>
                <a:cs typeface="Microsoft YaHei"/>
              </a:defRPr>
            </a:pPr>
            <a:r>
              <a:rPr sz="1065" b="1">
                <a:solidFill>
                  <a:srgbClr val="E85D4F"/>
                </a:solidFill>
                <a:latin typeface="Microsoft YaHei"/>
                <a:ea typeface="Microsoft YaHei"/>
                <a:cs typeface="Microsoft YaHei"/>
              </a:rPr>
              <a:t>a</a:t>
            </a:r>
          </a:p>
        </p:txBody>
      </p:sp>
      <p:sp>
        <p:nvSpPr>
          <p:cNvPr id="14" name="矩形 13">
            <a:extLst>
              <a:ext uri="{FF2B5EF4-FFF2-40B4-BE49-F238E27FC236}">
                <a16:creationId xmlns:a16="http://schemas.microsoft.com/office/drawing/2014/main" id="{001B36C7-7899-4850-8905-7B8B6D6826FF}"/>
              </a:ext>
            </a:extLst>
          </p:cNvPr>
          <p:cNvSpPr>
            <a:spLocks noGrp="1"/>
          </p:cNvSpPr>
          <p:nvPr/>
        </p:nvSpPr>
        <p:spPr>
          <a:xfrm>
            <a:off x="1257300" y="1885950"/>
            <a:ext cx="3381375"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画出系统大致架构图</a:t>
            </a:r>
          </a:p>
        </p:txBody>
      </p:sp>
      <p:sp>
        <p:nvSpPr>
          <p:cNvPr id="15" name="矩形 14">
            <a:extLst>
              <a:ext uri="{FF2B5EF4-FFF2-40B4-BE49-F238E27FC236}">
                <a16:creationId xmlns:a16="http://schemas.microsoft.com/office/drawing/2014/main" id="{5462B825-E928-4059-8A54-BC3CFF1D7AC1}"/>
              </a:ext>
            </a:extLst>
          </p:cNvPr>
          <p:cNvSpPr>
            <a:spLocks noGrp="1"/>
          </p:cNvSpPr>
          <p:nvPr/>
        </p:nvSpPr>
        <p:spPr>
          <a:xfrm>
            <a:off x="4638675" y="1885950"/>
            <a:ext cx="1143000"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第 4-5 页</a:t>
            </a:r>
          </a:p>
        </p:txBody>
      </p:sp>
      <p:sp>
        <p:nvSpPr>
          <p:cNvPr id="16" name="矩形 15">
            <a:extLst>
              <a:ext uri="{FF2B5EF4-FFF2-40B4-BE49-F238E27FC236}">
                <a16:creationId xmlns:a16="http://schemas.microsoft.com/office/drawing/2014/main" id="{E0655F17-CD29-448E-9D3A-8D41784C16B9}"/>
              </a:ext>
            </a:extLst>
          </p:cNvPr>
          <p:cNvSpPr>
            <a:spLocks noGrp="1"/>
          </p:cNvSpPr>
          <p:nvPr/>
        </p:nvSpPr>
        <p:spPr>
          <a:xfrm>
            <a:off x="5781675" y="1885950"/>
            <a:ext cx="5810250"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给出番茄小说类在线阅读平台业务架构与 OLTP 基础业务系统架构</a:t>
            </a:r>
          </a:p>
        </p:txBody>
      </p:sp>
      <p:sp>
        <p:nvSpPr>
          <p:cNvPr id="17" name="矩形 16">
            <a:extLst>
              <a:ext uri="{FF2B5EF4-FFF2-40B4-BE49-F238E27FC236}">
                <a16:creationId xmlns:a16="http://schemas.microsoft.com/office/drawing/2014/main" id="{78BD0E9B-9E60-410F-8887-BF22B7DE0977}"/>
              </a:ext>
            </a:extLst>
          </p:cNvPr>
          <p:cNvSpPr>
            <a:spLocks noGrp="1"/>
          </p:cNvSpPr>
          <p:nvPr/>
        </p:nvSpPr>
        <p:spPr>
          <a:xfrm>
            <a:off x="590550" y="2705100"/>
            <a:ext cx="666750" cy="742950"/>
          </a:xfrm>
          <a:prstGeom prst="rect">
            <a:avLst/>
          </a:prstGeom>
          <a:solidFill>
            <a:srgbClr val="FFFFFF"/>
          </a:solidFill>
          <a:ln w="9525">
            <a:solidFill>
              <a:srgbClr val="D8D1C4"/>
            </a:solidFill>
          </a:ln>
        </p:spPr>
        <p:txBody>
          <a:bodyPr lIns="95250" tIns="76200" rIns="95250" bIns="76200" anchor="ctr"/>
          <a:lstStyle/>
          <a:p>
            <a:pPr algn="ctr">
              <a:defRPr sz="1065">
                <a:solidFill>
                  <a:srgbClr val="287D79"/>
                </a:solidFill>
                <a:latin typeface="Microsoft YaHei"/>
                <a:ea typeface="Microsoft YaHei"/>
                <a:cs typeface="Microsoft YaHei"/>
              </a:defRPr>
            </a:pPr>
            <a:r>
              <a:rPr sz="1065" b="1">
                <a:solidFill>
                  <a:srgbClr val="287D79"/>
                </a:solidFill>
                <a:latin typeface="Microsoft YaHei"/>
                <a:ea typeface="Microsoft YaHei"/>
                <a:cs typeface="Microsoft YaHei"/>
              </a:rPr>
              <a:t>b</a:t>
            </a:r>
          </a:p>
        </p:txBody>
      </p:sp>
      <p:sp>
        <p:nvSpPr>
          <p:cNvPr id="18" name="矩形 17">
            <a:extLst>
              <a:ext uri="{FF2B5EF4-FFF2-40B4-BE49-F238E27FC236}">
                <a16:creationId xmlns:a16="http://schemas.microsoft.com/office/drawing/2014/main" id="{28DC920E-8BE7-416A-9E42-34B81B0CCAED}"/>
              </a:ext>
            </a:extLst>
          </p:cNvPr>
          <p:cNvSpPr>
            <a:spLocks noGrp="1"/>
          </p:cNvSpPr>
          <p:nvPr/>
        </p:nvSpPr>
        <p:spPr>
          <a:xfrm>
            <a:off x="1257300" y="2705100"/>
            <a:ext cx="3381375" cy="742950"/>
          </a:xfrm>
          <a:prstGeom prst="rect">
            <a:avLst/>
          </a:prstGeom>
          <a:solidFill>
            <a:srgbClr val="FFFFFF"/>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分析 OLTP 能承载大规模业务量的原因及系统设施</a:t>
            </a:r>
          </a:p>
        </p:txBody>
      </p:sp>
      <p:sp>
        <p:nvSpPr>
          <p:cNvPr id="19" name="矩形 18">
            <a:extLst>
              <a:ext uri="{FF2B5EF4-FFF2-40B4-BE49-F238E27FC236}">
                <a16:creationId xmlns:a16="http://schemas.microsoft.com/office/drawing/2014/main" id="{2CAE1E61-0F7D-43F2-A180-DF533BF0B54E}"/>
              </a:ext>
            </a:extLst>
          </p:cNvPr>
          <p:cNvSpPr>
            <a:spLocks noGrp="1"/>
          </p:cNvSpPr>
          <p:nvPr/>
        </p:nvSpPr>
        <p:spPr>
          <a:xfrm>
            <a:off x="4638675" y="2705100"/>
            <a:ext cx="1143000" cy="742950"/>
          </a:xfrm>
          <a:prstGeom prst="rect">
            <a:avLst/>
          </a:prstGeom>
          <a:solidFill>
            <a:srgbClr val="FFFFFF"/>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第 6-7 页</a:t>
            </a:r>
          </a:p>
        </p:txBody>
      </p:sp>
      <p:sp>
        <p:nvSpPr>
          <p:cNvPr id="20" name="矩形 19">
            <a:extLst>
              <a:ext uri="{FF2B5EF4-FFF2-40B4-BE49-F238E27FC236}">
                <a16:creationId xmlns:a16="http://schemas.microsoft.com/office/drawing/2014/main" id="{1D6043C7-11E5-404B-A54B-F78EEB6A84F2}"/>
              </a:ext>
            </a:extLst>
          </p:cNvPr>
          <p:cNvSpPr>
            <a:spLocks noGrp="1"/>
          </p:cNvSpPr>
          <p:nvPr/>
        </p:nvSpPr>
        <p:spPr>
          <a:xfrm>
            <a:off x="5781675" y="2705100"/>
            <a:ext cx="5810250" cy="742950"/>
          </a:xfrm>
          <a:prstGeom prst="rect">
            <a:avLst/>
          </a:prstGeom>
          <a:solidFill>
            <a:srgbClr val="FFFFFF"/>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从高并发阅读、频繁写入、活动高峰、可用性和一致性角度回答</a:t>
            </a:r>
          </a:p>
        </p:txBody>
      </p:sp>
      <p:sp>
        <p:nvSpPr>
          <p:cNvPr id="21" name="矩形 20">
            <a:extLst>
              <a:ext uri="{FF2B5EF4-FFF2-40B4-BE49-F238E27FC236}">
                <a16:creationId xmlns:a16="http://schemas.microsoft.com/office/drawing/2014/main" id="{92E8149E-3194-4A21-9981-4D4D0F1E8F90}"/>
              </a:ext>
            </a:extLst>
          </p:cNvPr>
          <p:cNvSpPr>
            <a:spLocks noGrp="1"/>
          </p:cNvSpPr>
          <p:nvPr/>
        </p:nvSpPr>
        <p:spPr>
          <a:xfrm>
            <a:off x="590550" y="3524250"/>
            <a:ext cx="666750" cy="742950"/>
          </a:xfrm>
          <a:prstGeom prst="rect">
            <a:avLst/>
          </a:prstGeom>
          <a:solidFill>
            <a:srgbClr val="FFFDF8"/>
          </a:solidFill>
          <a:ln w="9525">
            <a:solidFill>
              <a:srgbClr val="D8D1C4"/>
            </a:solidFill>
          </a:ln>
        </p:spPr>
        <p:txBody>
          <a:bodyPr lIns="95250" tIns="76200" rIns="95250" bIns="76200" anchor="ctr"/>
          <a:lstStyle/>
          <a:p>
            <a:pPr algn="ctr">
              <a:defRPr sz="1065">
                <a:solidFill>
                  <a:srgbClr val="315C97"/>
                </a:solidFill>
                <a:latin typeface="Microsoft YaHei"/>
                <a:ea typeface="Microsoft YaHei"/>
                <a:cs typeface="Microsoft YaHei"/>
              </a:defRPr>
            </a:pPr>
            <a:r>
              <a:rPr sz="1065" b="1">
                <a:solidFill>
                  <a:srgbClr val="315C97"/>
                </a:solidFill>
                <a:latin typeface="Microsoft YaHei"/>
                <a:ea typeface="Microsoft YaHei"/>
                <a:cs typeface="Microsoft YaHei"/>
              </a:rPr>
              <a:t>c</a:t>
            </a:r>
          </a:p>
        </p:txBody>
      </p:sp>
      <p:sp>
        <p:nvSpPr>
          <p:cNvPr id="22" name="矩形 21">
            <a:extLst>
              <a:ext uri="{FF2B5EF4-FFF2-40B4-BE49-F238E27FC236}">
                <a16:creationId xmlns:a16="http://schemas.microsoft.com/office/drawing/2014/main" id="{CEBB08F8-53FA-430B-B06E-6268A44577E2}"/>
              </a:ext>
            </a:extLst>
          </p:cNvPr>
          <p:cNvSpPr>
            <a:spLocks noGrp="1"/>
          </p:cNvSpPr>
          <p:nvPr/>
        </p:nvSpPr>
        <p:spPr>
          <a:xfrm>
            <a:off x="1257300" y="3524250"/>
            <a:ext cx="3381375"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分析大数据平台与 OLTP 平台的数据流关系，整理用户决策支持需求</a:t>
            </a:r>
          </a:p>
        </p:txBody>
      </p:sp>
      <p:sp>
        <p:nvSpPr>
          <p:cNvPr id="23" name="矩形 22">
            <a:extLst>
              <a:ext uri="{FF2B5EF4-FFF2-40B4-BE49-F238E27FC236}">
                <a16:creationId xmlns:a16="http://schemas.microsoft.com/office/drawing/2014/main" id="{52C07BE3-4CFC-4534-A214-D5607D499503}"/>
              </a:ext>
            </a:extLst>
          </p:cNvPr>
          <p:cNvSpPr>
            <a:spLocks noGrp="1"/>
          </p:cNvSpPr>
          <p:nvPr/>
        </p:nvSpPr>
        <p:spPr>
          <a:xfrm>
            <a:off x="4638675" y="3524250"/>
            <a:ext cx="1143000"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第 8-9 页</a:t>
            </a:r>
          </a:p>
        </p:txBody>
      </p:sp>
      <p:sp>
        <p:nvSpPr>
          <p:cNvPr id="24" name="矩形 23">
            <a:extLst>
              <a:ext uri="{FF2B5EF4-FFF2-40B4-BE49-F238E27FC236}">
                <a16:creationId xmlns:a16="http://schemas.microsoft.com/office/drawing/2014/main" id="{F29AA7EB-B004-4E6F-8E55-C0BA1C011FC6}"/>
              </a:ext>
            </a:extLst>
          </p:cNvPr>
          <p:cNvSpPr>
            <a:spLocks noGrp="1"/>
          </p:cNvSpPr>
          <p:nvPr/>
        </p:nvSpPr>
        <p:spPr>
          <a:xfrm>
            <a:off x="5781675" y="3524250"/>
            <a:ext cx="5810250"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说明业务库和行为日志如何进入分析链路，以及运营/推荐/广告/风控需求</a:t>
            </a:r>
          </a:p>
        </p:txBody>
      </p:sp>
      <p:sp>
        <p:nvSpPr>
          <p:cNvPr id="25" name="矩形 24">
            <a:extLst>
              <a:ext uri="{FF2B5EF4-FFF2-40B4-BE49-F238E27FC236}">
                <a16:creationId xmlns:a16="http://schemas.microsoft.com/office/drawing/2014/main" id="{EBD55159-E387-46FD-8B93-3128DCFDFDF6}"/>
              </a:ext>
            </a:extLst>
          </p:cNvPr>
          <p:cNvSpPr>
            <a:spLocks noGrp="1"/>
          </p:cNvSpPr>
          <p:nvPr/>
        </p:nvSpPr>
        <p:spPr>
          <a:xfrm>
            <a:off x="590550" y="4343400"/>
            <a:ext cx="666750" cy="742950"/>
          </a:xfrm>
          <a:prstGeom prst="rect">
            <a:avLst/>
          </a:prstGeom>
          <a:solidFill>
            <a:srgbClr val="FFFFFF"/>
          </a:solidFill>
          <a:ln w="9525">
            <a:solidFill>
              <a:srgbClr val="D8D1C4"/>
            </a:solidFill>
          </a:ln>
        </p:spPr>
        <p:txBody>
          <a:bodyPr lIns="95250" tIns="76200" rIns="95250" bIns="76200" anchor="ctr"/>
          <a:lstStyle/>
          <a:p>
            <a:pPr algn="ctr">
              <a:defRPr sz="1065">
                <a:solidFill>
                  <a:srgbClr val="B2832F"/>
                </a:solidFill>
                <a:latin typeface="Microsoft YaHei"/>
                <a:ea typeface="Microsoft YaHei"/>
                <a:cs typeface="Microsoft YaHei"/>
              </a:defRPr>
            </a:pPr>
            <a:r>
              <a:rPr sz="1065" b="1">
                <a:solidFill>
                  <a:srgbClr val="B2832F"/>
                </a:solidFill>
                <a:latin typeface="Microsoft YaHei"/>
                <a:ea typeface="Microsoft YaHei"/>
                <a:cs typeface="Microsoft YaHei"/>
              </a:rPr>
              <a:t>d</a:t>
            </a:r>
          </a:p>
        </p:txBody>
      </p:sp>
      <p:sp>
        <p:nvSpPr>
          <p:cNvPr id="26" name="矩形 25">
            <a:extLst>
              <a:ext uri="{FF2B5EF4-FFF2-40B4-BE49-F238E27FC236}">
                <a16:creationId xmlns:a16="http://schemas.microsoft.com/office/drawing/2014/main" id="{48F803EA-9F47-40BA-B0FA-197797CF9750}"/>
              </a:ext>
            </a:extLst>
          </p:cNvPr>
          <p:cNvSpPr>
            <a:spLocks noGrp="1"/>
          </p:cNvSpPr>
          <p:nvPr/>
        </p:nvSpPr>
        <p:spPr>
          <a:xfrm>
            <a:off x="1257300" y="4343400"/>
            <a:ext cx="3381375" cy="742950"/>
          </a:xfrm>
          <a:prstGeom prst="rect">
            <a:avLst/>
          </a:prstGeom>
          <a:solidFill>
            <a:srgbClr val="FFFFFF"/>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调研或分析设计大数据平台内容构成，画出数据流架构图</a:t>
            </a:r>
          </a:p>
        </p:txBody>
      </p:sp>
      <p:sp>
        <p:nvSpPr>
          <p:cNvPr id="27" name="矩形 26">
            <a:extLst>
              <a:ext uri="{FF2B5EF4-FFF2-40B4-BE49-F238E27FC236}">
                <a16:creationId xmlns:a16="http://schemas.microsoft.com/office/drawing/2014/main" id="{86B4BCB0-B4C2-474C-8E6F-82E147964C57}"/>
              </a:ext>
            </a:extLst>
          </p:cNvPr>
          <p:cNvSpPr>
            <a:spLocks noGrp="1"/>
          </p:cNvSpPr>
          <p:nvPr/>
        </p:nvSpPr>
        <p:spPr>
          <a:xfrm>
            <a:off x="4638675" y="4343400"/>
            <a:ext cx="1143000" cy="742950"/>
          </a:xfrm>
          <a:prstGeom prst="rect">
            <a:avLst/>
          </a:prstGeom>
          <a:solidFill>
            <a:srgbClr val="FFFFFF"/>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第 10-11 页</a:t>
            </a:r>
          </a:p>
        </p:txBody>
      </p:sp>
      <p:sp>
        <p:nvSpPr>
          <p:cNvPr id="28" name="矩形 27">
            <a:extLst>
              <a:ext uri="{FF2B5EF4-FFF2-40B4-BE49-F238E27FC236}">
                <a16:creationId xmlns:a16="http://schemas.microsoft.com/office/drawing/2014/main" id="{9BB7297B-7349-4C53-96BD-DC2BCB6608A6}"/>
              </a:ext>
            </a:extLst>
          </p:cNvPr>
          <p:cNvSpPr>
            <a:spLocks noGrp="1"/>
          </p:cNvSpPr>
          <p:nvPr/>
        </p:nvSpPr>
        <p:spPr>
          <a:xfrm>
            <a:off x="5781675" y="4343400"/>
            <a:ext cx="5810250" cy="742950"/>
          </a:xfrm>
          <a:prstGeom prst="rect">
            <a:avLst/>
          </a:prstGeom>
          <a:solidFill>
            <a:srgbClr val="FFFFFF"/>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按数据源、采集、存储、计算、数仓、服务、治理设计平台构成</a:t>
            </a:r>
          </a:p>
        </p:txBody>
      </p:sp>
      <p:sp>
        <p:nvSpPr>
          <p:cNvPr id="29" name="矩形 28">
            <a:extLst>
              <a:ext uri="{FF2B5EF4-FFF2-40B4-BE49-F238E27FC236}">
                <a16:creationId xmlns:a16="http://schemas.microsoft.com/office/drawing/2014/main" id="{09EC1E20-D6BB-4032-A160-BEDF177111B1}"/>
              </a:ext>
            </a:extLst>
          </p:cNvPr>
          <p:cNvSpPr>
            <a:spLocks noGrp="1"/>
          </p:cNvSpPr>
          <p:nvPr/>
        </p:nvSpPr>
        <p:spPr>
          <a:xfrm>
            <a:off x="590550" y="5162550"/>
            <a:ext cx="666750" cy="742950"/>
          </a:xfrm>
          <a:prstGeom prst="rect">
            <a:avLst/>
          </a:prstGeom>
          <a:solidFill>
            <a:srgbClr val="FFFDF8"/>
          </a:solidFill>
          <a:ln w="9525">
            <a:solidFill>
              <a:srgbClr val="D8D1C4"/>
            </a:solidFill>
          </a:ln>
        </p:spPr>
        <p:txBody>
          <a:bodyPr lIns="95250" tIns="76200" rIns="95250" bIns="76200" anchor="ctr"/>
          <a:lstStyle/>
          <a:p>
            <a:pPr algn="ctr">
              <a:defRPr sz="1065">
                <a:solidFill>
                  <a:srgbClr val="E85D4F"/>
                </a:solidFill>
                <a:latin typeface="Microsoft YaHei"/>
                <a:ea typeface="Microsoft YaHei"/>
                <a:cs typeface="Microsoft YaHei"/>
              </a:defRPr>
            </a:pPr>
            <a:r>
              <a:rPr sz="1065" b="1">
                <a:solidFill>
                  <a:srgbClr val="E85D4F"/>
                </a:solidFill>
                <a:latin typeface="Microsoft YaHei"/>
                <a:ea typeface="Microsoft YaHei"/>
                <a:cs typeface="Microsoft YaHei"/>
              </a:rPr>
              <a:t>e</a:t>
            </a:r>
          </a:p>
        </p:txBody>
      </p:sp>
      <p:sp>
        <p:nvSpPr>
          <p:cNvPr id="30" name="矩形 29">
            <a:extLst>
              <a:ext uri="{FF2B5EF4-FFF2-40B4-BE49-F238E27FC236}">
                <a16:creationId xmlns:a16="http://schemas.microsoft.com/office/drawing/2014/main" id="{C795F9CC-39E9-4FEF-8E0E-E0518C865E21}"/>
              </a:ext>
            </a:extLst>
          </p:cNvPr>
          <p:cNvSpPr>
            <a:spLocks noGrp="1"/>
          </p:cNvSpPr>
          <p:nvPr/>
        </p:nvSpPr>
        <p:spPr>
          <a:xfrm>
            <a:off x="1257300" y="5162550"/>
            <a:ext cx="3381375"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分析总结大数据平台架构及其定位</a:t>
            </a:r>
          </a:p>
        </p:txBody>
      </p:sp>
      <p:sp>
        <p:nvSpPr>
          <p:cNvPr id="31" name="矩形 30">
            <a:extLst>
              <a:ext uri="{FF2B5EF4-FFF2-40B4-BE49-F238E27FC236}">
                <a16:creationId xmlns:a16="http://schemas.microsoft.com/office/drawing/2014/main" id="{05FAC834-5F93-4732-8F8A-21F74AE559AF}"/>
              </a:ext>
            </a:extLst>
          </p:cNvPr>
          <p:cNvSpPr>
            <a:spLocks noGrp="1"/>
          </p:cNvSpPr>
          <p:nvPr/>
        </p:nvSpPr>
        <p:spPr>
          <a:xfrm>
            <a:off x="4638675" y="5162550"/>
            <a:ext cx="1143000"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第 12 页</a:t>
            </a:r>
          </a:p>
        </p:txBody>
      </p:sp>
      <p:sp>
        <p:nvSpPr>
          <p:cNvPr id="32" name="矩形 31">
            <a:extLst>
              <a:ext uri="{FF2B5EF4-FFF2-40B4-BE49-F238E27FC236}">
                <a16:creationId xmlns:a16="http://schemas.microsoft.com/office/drawing/2014/main" id="{1A3CF76B-4680-4E88-9B7B-7A4244539269}"/>
              </a:ext>
            </a:extLst>
          </p:cNvPr>
          <p:cNvSpPr>
            <a:spLocks noGrp="1"/>
          </p:cNvSpPr>
          <p:nvPr/>
        </p:nvSpPr>
        <p:spPr>
          <a:xfrm>
            <a:off x="5781675" y="5162550"/>
            <a:ext cx="5810250" cy="742950"/>
          </a:xfrm>
          <a:prstGeom prst="rect">
            <a:avLst/>
          </a:prstGeom>
          <a:solidFill>
            <a:srgbClr val="FFFDF8"/>
          </a:solidFill>
          <a:ln w="9525">
            <a:solidFill>
              <a:srgbClr val="D8D1C4"/>
            </a:solidFill>
          </a:ln>
        </p:spPr>
        <p:txBody>
          <a:bodyPr lIns="95250" tIns="76200" rIns="95250" bIns="76200" anchor="ctr"/>
          <a:lstStyle/>
          <a:p>
            <a:pPr algn="l">
              <a:defRPr sz="1065">
                <a:solidFill>
                  <a:srgbClr val="17202A"/>
                </a:solidFill>
                <a:latin typeface="Microsoft YaHei"/>
                <a:ea typeface="Microsoft YaHei"/>
                <a:cs typeface="Microsoft YaHei"/>
              </a:defRPr>
            </a:pPr>
            <a:r>
              <a:rPr sz="1065">
                <a:solidFill>
                  <a:srgbClr val="17202A"/>
                </a:solidFill>
                <a:latin typeface="Microsoft YaHei"/>
                <a:ea typeface="Microsoft YaHei"/>
                <a:cs typeface="Microsoft YaHei"/>
              </a:rPr>
              <a:t>总结 OLTP 与大数据平台的分工、反馈关系和面向需求</a:t>
            </a:r>
          </a:p>
        </p:txBody>
      </p:sp>
      <p:sp>
        <p:nvSpPr>
          <p:cNvPr id="33" name="矩形 32">
            <a:extLst>
              <a:ext uri="{FF2B5EF4-FFF2-40B4-BE49-F238E27FC236}">
                <a16:creationId xmlns:a16="http://schemas.microsoft.com/office/drawing/2014/main" id="{6300A91D-4F51-487E-9E49-A454FCF89A60}"/>
              </a:ext>
            </a:extLst>
          </p:cNvPr>
          <p:cNvSpPr>
            <a:spLocks noGrp="1"/>
          </p:cNvSpPr>
          <p:nvPr/>
        </p:nvSpPr>
        <p:spPr>
          <a:xfrm>
            <a:off x="775855" y="6115050"/>
            <a:ext cx="10387445" cy="361950"/>
          </a:xfrm>
          <a:prstGeom prst="rect">
            <a:avLst/>
          </a:prstGeom>
          <a:solidFill>
            <a:srgbClr val="FBEDE8"/>
          </a:solidFill>
          <a:ln w="9525">
            <a:solidFill>
              <a:srgbClr val="E85D4F"/>
            </a:solidFill>
          </a:ln>
        </p:spPr>
        <p:txBody>
          <a:bodyPr lIns="114300" tIns="95250" rIns="114300" bIns="95250" anchor="ctr"/>
          <a:lstStyle/>
          <a:p>
            <a:pPr algn="ctr">
              <a:defRPr sz="1088">
                <a:solidFill>
                  <a:srgbClr val="17202A"/>
                </a:solidFill>
                <a:latin typeface="Microsoft YaHei"/>
                <a:ea typeface="Microsoft YaHei"/>
                <a:cs typeface="Microsoft YaHei"/>
              </a:defRPr>
            </a:pPr>
            <a:r>
              <a:rPr sz="1088" dirty="0">
                <a:solidFill>
                  <a:srgbClr val="17202A"/>
                </a:solidFill>
                <a:latin typeface="Microsoft YaHei"/>
                <a:ea typeface="Microsoft YaHei"/>
                <a:cs typeface="Microsoft YaHei"/>
              </a:rPr>
              <a:t>案例边界：番茄小说未公开完整内部架构，因此架构图是基于公开产品功能和大型在线阅读平台通用工程实践的课程分析设计；公开数据均在页脚或参考页标注来源。</a:t>
            </a:r>
          </a:p>
        </p:txBody>
      </p:sp>
    </p:spTree>
    <p:extLst>
      <p:ext uri="{BB962C8B-B14F-4D97-AF65-F5344CB8AC3E}">
        <p14:creationId xmlns:p14="http://schemas.microsoft.com/office/powerpoint/2010/main" val="1347329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C75F63EE-78E7-4C91-9E41-C8E15C527A0C}"/>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D7B60B72-CBFA-459E-AF78-ED8C9E3F1D7B}"/>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88448F17-1592-45F0-9364-20DD0D866CD7}"/>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Sources: China Social Sciences Network / 2024 China Online Literature Report; Xinhua; Jiemian; 21CBR.</a:t>
            </a:r>
          </a:p>
        </p:txBody>
      </p:sp>
      <p:sp>
        <p:nvSpPr>
          <p:cNvPr id="4" name="矩形 3">
            <a:extLst>
              <a:ext uri="{FF2B5EF4-FFF2-40B4-BE49-F238E27FC236}">
                <a16:creationId xmlns:a16="http://schemas.microsoft.com/office/drawing/2014/main" id="{923E691C-19A6-4DF6-83F3-67055E04085B}"/>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03</a:t>
            </a:r>
          </a:p>
        </p:txBody>
      </p:sp>
      <p:sp>
        <p:nvSpPr>
          <p:cNvPr id="5" name="椭圆 4">
            <a:extLst>
              <a:ext uri="{FF2B5EF4-FFF2-40B4-BE49-F238E27FC236}">
                <a16:creationId xmlns:a16="http://schemas.microsoft.com/office/drawing/2014/main" id="{C267EE6D-71EA-44D1-8232-5DA56C1CD750}"/>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AAE6131A-2E92-4F55-B003-3F17C65C305F}"/>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CASE SCALE  2C</a:t>
            </a:r>
          </a:p>
        </p:txBody>
      </p:sp>
      <p:sp>
        <p:nvSpPr>
          <p:cNvPr id="7" name="矩形 6">
            <a:extLst>
              <a:ext uri="{FF2B5EF4-FFF2-40B4-BE49-F238E27FC236}">
                <a16:creationId xmlns:a16="http://schemas.microsoft.com/office/drawing/2014/main" id="{D3ECF7B6-E979-4975-BA1C-FD4BE914121D}"/>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番茄小说适合作为全国级 2C 在线阅读业务系统案例</a:t>
            </a:r>
          </a:p>
        </p:txBody>
      </p:sp>
      <p:sp>
        <p:nvSpPr>
          <p:cNvPr id="8" name="直接连接符 7">
            <a:extLst>
              <a:ext uri="{FF2B5EF4-FFF2-40B4-BE49-F238E27FC236}">
                <a16:creationId xmlns:a16="http://schemas.microsoft.com/office/drawing/2014/main" id="{20AF1C97-B8C8-4DBE-892C-3785F50E5078}"/>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9820CEA2-7265-4C69-8650-64893A946037}"/>
              </a:ext>
            </a:extLst>
          </p:cNvPr>
          <p:cNvSpPr>
            <a:spLocks noGrp="1"/>
          </p:cNvSpPr>
          <p:nvPr/>
        </p:nvSpPr>
        <p:spPr>
          <a:xfrm>
            <a:off x="590550" y="1581150"/>
            <a:ext cx="2095500" cy="952500"/>
          </a:xfrm>
          <a:prstGeom prst="rect">
            <a:avLst/>
          </a:prstGeom>
          <a:solidFill>
            <a:srgbClr val="FFFFFF"/>
          </a:solidFill>
          <a:ln w="9525">
            <a:solidFill>
              <a:srgbClr val="D8D1C4"/>
            </a:solidFill>
          </a:ln>
        </p:spPr>
        <p:txBody>
          <a:bodyPr lIns="114300" tIns="95250" rIns="114300" bIns="95250" anchor="ctr"/>
          <a:lstStyle/>
          <a:p>
            <a:endParaRPr/>
          </a:p>
        </p:txBody>
      </p:sp>
      <p:sp>
        <p:nvSpPr>
          <p:cNvPr id="10" name="矩形 9">
            <a:extLst>
              <a:ext uri="{FF2B5EF4-FFF2-40B4-BE49-F238E27FC236}">
                <a16:creationId xmlns:a16="http://schemas.microsoft.com/office/drawing/2014/main" id="{7D02A609-F6D0-4162-A213-AD469C0ACE7A}"/>
              </a:ext>
            </a:extLst>
          </p:cNvPr>
          <p:cNvSpPr>
            <a:spLocks noGrp="1"/>
          </p:cNvSpPr>
          <p:nvPr/>
        </p:nvSpPr>
        <p:spPr>
          <a:xfrm>
            <a:off x="590550" y="1581150"/>
            <a:ext cx="57150" cy="952500"/>
          </a:xfrm>
          <a:prstGeom prst="rect">
            <a:avLst/>
          </a:prstGeom>
          <a:solidFill>
            <a:srgbClr val="E85D4F"/>
          </a:solidFill>
          <a:ln w="0">
            <a:solidFill>
              <a:srgbClr val="E85D4F"/>
            </a:solidFill>
          </a:ln>
        </p:spPr>
      </p:sp>
      <p:sp>
        <p:nvSpPr>
          <p:cNvPr id="11" name="矩形 10">
            <a:extLst>
              <a:ext uri="{FF2B5EF4-FFF2-40B4-BE49-F238E27FC236}">
                <a16:creationId xmlns:a16="http://schemas.microsoft.com/office/drawing/2014/main" id="{560BB301-42E5-46E6-9798-38DFA91EE3A3}"/>
              </a:ext>
            </a:extLst>
          </p:cNvPr>
          <p:cNvSpPr>
            <a:spLocks noGrp="1"/>
          </p:cNvSpPr>
          <p:nvPr/>
        </p:nvSpPr>
        <p:spPr>
          <a:xfrm>
            <a:off x="781050" y="1714500"/>
            <a:ext cx="1828800" cy="323850"/>
          </a:xfrm>
          <a:prstGeom prst="rect">
            <a:avLst/>
          </a:prstGeom>
          <a:noFill/>
        </p:spPr>
        <p:txBody>
          <a:bodyPr lIns="76200" tIns="38100" rIns="76200" bIns="38100" anchor="t"/>
          <a:lstStyle/>
          <a:p>
            <a:pPr algn="l">
              <a:defRPr sz="2175">
                <a:solidFill>
                  <a:srgbClr val="E85D4F"/>
                </a:solidFill>
                <a:latin typeface="Segoe UI"/>
                <a:ea typeface="Segoe UI"/>
                <a:cs typeface="Segoe UI"/>
              </a:defRPr>
            </a:pPr>
            <a:r>
              <a:rPr sz="2175" b="1">
                <a:solidFill>
                  <a:srgbClr val="E85D4F"/>
                </a:solidFill>
                <a:latin typeface="Segoe UI"/>
                <a:ea typeface="Segoe UI"/>
                <a:cs typeface="Segoe UI"/>
              </a:rPr>
              <a:t>5.75亿</a:t>
            </a:r>
          </a:p>
        </p:txBody>
      </p:sp>
      <p:sp>
        <p:nvSpPr>
          <p:cNvPr id="12" name="矩形 11">
            <a:extLst>
              <a:ext uri="{FF2B5EF4-FFF2-40B4-BE49-F238E27FC236}">
                <a16:creationId xmlns:a16="http://schemas.microsoft.com/office/drawing/2014/main" id="{564547C2-9F88-4AF5-85F7-9FB9E33E0C5D}"/>
              </a:ext>
            </a:extLst>
          </p:cNvPr>
          <p:cNvSpPr>
            <a:spLocks noGrp="1"/>
          </p:cNvSpPr>
          <p:nvPr/>
        </p:nvSpPr>
        <p:spPr>
          <a:xfrm>
            <a:off x="781050" y="2057400"/>
            <a:ext cx="1828800" cy="209550"/>
          </a:xfrm>
          <a:prstGeom prst="rect">
            <a:avLst/>
          </a:prstGeom>
          <a:noFill/>
        </p:spPr>
        <p:txBody>
          <a:bodyPr lIns="76200" tIns="38100" rIns="76200" bIns="38100" anchor="t"/>
          <a:lstStyle/>
          <a:p>
            <a:pPr algn="l">
              <a:defRPr sz="1200">
                <a:solidFill>
                  <a:srgbClr val="17202A"/>
                </a:solidFill>
                <a:latin typeface="Microsoft YaHei"/>
                <a:ea typeface="Microsoft YaHei"/>
                <a:cs typeface="Microsoft YaHei"/>
              </a:defRPr>
            </a:pPr>
            <a:r>
              <a:rPr sz="1200" b="1">
                <a:solidFill>
                  <a:srgbClr val="17202A"/>
                </a:solidFill>
                <a:latin typeface="Microsoft YaHei"/>
                <a:ea typeface="Microsoft YaHei"/>
                <a:cs typeface="Microsoft YaHei"/>
              </a:rPr>
              <a:t>中国网络文学用户</a:t>
            </a:r>
          </a:p>
        </p:txBody>
      </p:sp>
      <p:sp>
        <p:nvSpPr>
          <p:cNvPr id="13" name="矩形 12">
            <a:extLst>
              <a:ext uri="{FF2B5EF4-FFF2-40B4-BE49-F238E27FC236}">
                <a16:creationId xmlns:a16="http://schemas.microsoft.com/office/drawing/2014/main" id="{EED74C87-0ECA-4C0C-87EB-A6C29EA6709E}"/>
              </a:ext>
            </a:extLst>
          </p:cNvPr>
          <p:cNvSpPr>
            <a:spLocks noGrp="1"/>
          </p:cNvSpPr>
          <p:nvPr/>
        </p:nvSpPr>
        <p:spPr>
          <a:xfrm>
            <a:off x="781050" y="2286000"/>
            <a:ext cx="1828800" cy="171450"/>
          </a:xfrm>
          <a:prstGeom prst="rect">
            <a:avLst/>
          </a:prstGeom>
          <a:noFill/>
        </p:spPr>
        <p:txBody>
          <a:bodyPr lIns="76200" tIns="38100" rIns="76200" bIns="38100" anchor="t"/>
          <a:lstStyle/>
          <a:p>
            <a:pPr algn="l">
              <a:defRPr sz="788">
                <a:solidFill>
                  <a:srgbClr val="5C6670"/>
                </a:solidFill>
                <a:latin typeface="Microsoft YaHei"/>
                <a:ea typeface="Microsoft YaHei"/>
                <a:cs typeface="Microsoft YaHei"/>
              </a:defRPr>
            </a:pPr>
            <a:r>
              <a:rPr sz="788">
                <a:solidFill>
                  <a:srgbClr val="5C6670"/>
                </a:solidFill>
                <a:latin typeface="Microsoft YaHei"/>
                <a:ea typeface="Microsoft YaHei"/>
                <a:cs typeface="Microsoft YaHei"/>
              </a:rPr>
              <a:t>2024 年用户规模</a:t>
            </a:r>
          </a:p>
        </p:txBody>
      </p:sp>
      <p:sp>
        <p:nvSpPr>
          <p:cNvPr id="14" name="矩形 13">
            <a:extLst>
              <a:ext uri="{FF2B5EF4-FFF2-40B4-BE49-F238E27FC236}">
                <a16:creationId xmlns:a16="http://schemas.microsoft.com/office/drawing/2014/main" id="{AC1702F6-DE38-454A-8742-CBA054C4763D}"/>
              </a:ext>
            </a:extLst>
          </p:cNvPr>
          <p:cNvSpPr>
            <a:spLocks noGrp="1"/>
          </p:cNvSpPr>
          <p:nvPr/>
        </p:nvSpPr>
        <p:spPr>
          <a:xfrm>
            <a:off x="2857500" y="1581150"/>
            <a:ext cx="2095500" cy="952500"/>
          </a:xfrm>
          <a:prstGeom prst="rect">
            <a:avLst/>
          </a:prstGeom>
          <a:solidFill>
            <a:srgbClr val="FFFFFF"/>
          </a:solidFill>
          <a:ln w="9525">
            <a:solidFill>
              <a:srgbClr val="D8D1C4"/>
            </a:solidFill>
          </a:ln>
        </p:spPr>
        <p:txBody>
          <a:bodyPr lIns="114300" tIns="95250" rIns="114300" bIns="95250" anchor="ctr"/>
          <a:lstStyle/>
          <a:p>
            <a:endParaRPr/>
          </a:p>
        </p:txBody>
      </p:sp>
      <p:sp>
        <p:nvSpPr>
          <p:cNvPr id="15" name="矩形 14">
            <a:extLst>
              <a:ext uri="{FF2B5EF4-FFF2-40B4-BE49-F238E27FC236}">
                <a16:creationId xmlns:a16="http://schemas.microsoft.com/office/drawing/2014/main" id="{44BF19B6-6141-4C0F-BE10-10723A3F9EB2}"/>
              </a:ext>
            </a:extLst>
          </p:cNvPr>
          <p:cNvSpPr>
            <a:spLocks noGrp="1"/>
          </p:cNvSpPr>
          <p:nvPr/>
        </p:nvSpPr>
        <p:spPr>
          <a:xfrm>
            <a:off x="2857500" y="1581150"/>
            <a:ext cx="57150" cy="952500"/>
          </a:xfrm>
          <a:prstGeom prst="rect">
            <a:avLst/>
          </a:prstGeom>
          <a:solidFill>
            <a:srgbClr val="315C97"/>
          </a:solidFill>
          <a:ln w="0">
            <a:solidFill>
              <a:srgbClr val="315C97"/>
            </a:solidFill>
          </a:ln>
        </p:spPr>
      </p:sp>
      <p:sp>
        <p:nvSpPr>
          <p:cNvPr id="16" name="矩形 15">
            <a:extLst>
              <a:ext uri="{FF2B5EF4-FFF2-40B4-BE49-F238E27FC236}">
                <a16:creationId xmlns:a16="http://schemas.microsoft.com/office/drawing/2014/main" id="{07D5DBCB-36ED-420F-B5B1-BB530A6E64FA}"/>
              </a:ext>
            </a:extLst>
          </p:cNvPr>
          <p:cNvSpPr>
            <a:spLocks noGrp="1"/>
          </p:cNvSpPr>
          <p:nvPr/>
        </p:nvSpPr>
        <p:spPr>
          <a:xfrm>
            <a:off x="3048000" y="1714500"/>
            <a:ext cx="1828800" cy="323850"/>
          </a:xfrm>
          <a:prstGeom prst="rect">
            <a:avLst/>
          </a:prstGeom>
          <a:noFill/>
        </p:spPr>
        <p:txBody>
          <a:bodyPr lIns="76200" tIns="38100" rIns="76200" bIns="38100" anchor="t"/>
          <a:lstStyle/>
          <a:p>
            <a:pPr algn="l">
              <a:defRPr sz="2175">
                <a:solidFill>
                  <a:srgbClr val="315C97"/>
                </a:solidFill>
                <a:latin typeface="Segoe UI"/>
                <a:ea typeface="Segoe UI"/>
                <a:cs typeface="Segoe UI"/>
              </a:defRPr>
            </a:pPr>
            <a:r>
              <a:rPr sz="2175" b="1">
                <a:solidFill>
                  <a:srgbClr val="315C97"/>
                </a:solidFill>
                <a:latin typeface="Segoe UI"/>
                <a:ea typeface="Segoe UI"/>
                <a:cs typeface="Segoe UI"/>
              </a:rPr>
              <a:t>4165.1万</a:t>
            </a:r>
          </a:p>
        </p:txBody>
      </p:sp>
      <p:sp>
        <p:nvSpPr>
          <p:cNvPr id="17" name="矩形 16">
            <a:extLst>
              <a:ext uri="{FF2B5EF4-FFF2-40B4-BE49-F238E27FC236}">
                <a16:creationId xmlns:a16="http://schemas.microsoft.com/office/drawing/2014/main" id="{81111BDC-9A57-4FE1-B46B-8E74A794FBC6}"/>
              </a:ext>
            </a:extLst>
          </p:cNvPr>
          <p:cNvSpPr>
            <a:spLocks noGrp="1"/>
          </p:cNvSpPr>
          <p:nvPr/>
        </p:nvSpPr>
        <p:spPr>
          <a:xfrm>
            <a:off x="3048000" y="2057400"/>
            <a:ext cx="1828800" cy="209550"/>
          </a:xfrm>
          <a:prstGeom prst="rect">
            <a:avLst/>
          </a:prstGeom>
          <a:noFill/>
        </p:spPr>
        <p:txBody>
          <a:bodyPr lIns="76200" tIns="38100" rIns="76200" bIns="38100" anchor="t"/>
          <a:lstStyle/>
          <a:p>
            <a:pPr algn="l">
              <a:defRPr sz="1200">
                <a:solidFill>
                  <a:srgbClr val="17202A"/>
                </a:solidFill>
                <a:latin typeface="Microsoft YaHei"/>
                <a:ea typeface="Microsoft YaHei"/>
                <a:cs typeface="Microsoft YaHei"/>
              </a:defRPr>
            </a:pPr>
            <a:r>
              <a:rPr sz="1200" b="1">
                <a:solidFill>
                  <a:srgbClr val="17202A"/>
                </a:solidFill>
                <a:latin typeface="Microsoft YaHei"/>
                <a:ea typeface="Microsoft YaHei"/>
                <a:cs typeface="Microsoft YaHei"/>
              </a:rPr>
              <a:t>网络文学作品</a:t>
            </a:r>
          </a:p>
        </p:txBody>
      </p:sp>
      <p:sp>
        <p:nvSpPr>
          <p:cNvPr id="18" name="矩形 17">
            <a:extLst>
              <a:ext uri="{FF2B5EF4-FFF2-40B4-BE49-F238E27FC236}">
                <a16:creationId xmlns:a16="http://schemas.microsoft.com/office/drawing/2014/main" id="{D84893EE-F6D5-4D86-9BAC-71BE0E56633A}"/>
              </a:ext>
            </a:extLst>
          </p:cNvPr>
          <p:cNvSpPr>
            <a:spLocks noGrp="1"/>
          </p:cNvSpPr>
          <p:nvPr/>
        </p:nvSpPr>
        <p:spPr>
          <a:xfrm>
            <a:off x="3048000" y="2286000"/>
            <a:ext cx="1828800" cy="171450"/>
          </a:xfrm>
          <a:prstGeom prst="rect">
            <a:avLst/>
          </a:prstGeom>
          <a:noFill/>
        </p:spPr>
        <p:txBody>
          <a:bodyPr lIns="76200" tIns="38100" rIns="76200" bIns="38100" anchor="t"/>
          <a:lstStyle/>
          <a:p>
            <a:pPr algn="l">
              <a:defRPr sz="788">
                <a:solidFill>
                  <a:srgbClr val="5C6670"/>
                </a:solidFill>
                <a:latin typeface="Microsoft YaHei"/>
                <a:ea typeface="Microsoft YaHei"/>
                <a:cs typeface="Microsoft YaHei"/>
              </a:defRPr>
            </a:pPr>
            <a:r>
              <a:rPr sz="788">
                <a:solidFill>
                  <a:srgbClr val="5C6670"/>
                </a:solidFill>
                <a:latin typeface="Microsoft YaHei"/>
                <a:ea typeface="Microsoft YaHei"/>
                <a:cs typeface="Microsoft YaHei"/>
              </a:rPr>
              <a:t>2024 年作品规模</a:t>
            </a:r>
          </a:p>
        </p:txBody>
      </p:sp>
      <p:sp>
        <p:nvSpPr>
          <p:cNvPr id="19" name="矩形 18">
            <a:extLst>
              <a:ext uri="{FF2B5EF4-FFF2-40B4-BE49-F238E27FC236}">
                <a16:creationId xmlns:a16="http://schemas.microsoft.com/office/drawing/2014/main" id="{9E93C32A-1BE1-4DC3-8277-4362247D774D}"/>
              </a:ext>
            </a:extLst>
          </p:cNvPr>
          <p:cNvSpPr>
            <a:spLocks noGrp="1"/>
          </p:cNvSpPr>
          <p:nvPr/>
        </p:nvSpPr>
        <p:spPr>
          <a:xfrm>
            <a:off x="5124450" y="1581150"/>
            <a:ext cx="2095500" cy="952500"/>
          </a:xfrm>
          <a:prstGeom prst="rect">
            <a:avLst/>
          </a:prstGeom>
          <a:solidFill>
            <a:srgbClr val="FFFFFF"/>
          </a:solidFill>
          <a:ln w="9525">
            <a:solidFill>
              <a:srgbClr val="D8D1C4"/>
            </a:solidFill>
          </a:ln>
        </p:spPr>
        <p:txBody>
          <a:bodyPr lIns="114300" tIns="95250" rIns="114300" bIns="95250" anchor="ctr"/>
          <a:lstStyle/>
          <a:p>
            <a:endParaRPr/>
          </a:p>
        </p:txBody>
      </p:sp>
      <p:sp>
        <p:nvSpPr>
          <p:cNvPr id="20" name="矩形 19">
            <a:extLst>
              <a:ext uri="{FF2B5EF4-FFF2-40B4-BE49-F238E27FC236}">
                <a16:creationId xmlns:a16="http://schemas.microsoft.com/office/drawing/2014/main" id="{64B4B4C9-2BED-48C3-9B01-C2CD131C967D}"/>
              </a:ext>
            </a:extLst>
          </p:cNvPr>
          <p:cNvSpPr>
            <a:spLocks noGrp="1"/>
          </p:cNvSpPr>
          <p:nvPr/>
        </p:nvSpPr>
        <p:spPr>
          <a:xfrm>
            <a:off x="5124450" y="1581150"/>
            <a:ext cx="57150" cy="952500"/>
          </a:xfrm>
          <a:prstGeom prst="rect">
            <a:avLst/>
          </a:prstGeom>
          <a:solidFill>
            <a:srgbClr val="B2832F"/>
          </a:solidFill>
          <a:ln w="0">
            <a:solidFill>
              <a:srgbClr val="B2832F"/>
            </a:solidFill>
          </a:ln>
        </p:spPr>
      </p:sp>
      <p:sp>
        <p:nvSpPr>
          <p:cNvPr id="21" name="矩形 20">
            <a:extLst>
              <a:ext uri="{FF2B5EF4-FFF2-40B4-BE49-F238E27FC236}">
                <a16:creationId xmlns:a16="http://schemas.microsoft.com/office/drawing/2014/main" id="{1E6FAE6B-C934-438F-ABF7-CFFFD740CBC8}"/>
              </a:ext>
            </a:extLst>
          </p:cNvPr>
          <p:cNvSpPr>
            <a:spLocks noGrp="1"/>
          </p:cNvSpPr>
          <p:nvPr/>
        </p:nvSpPr>
        <p:spPr>
          <a:xfrm>
            <a:off x="5314950" y="1714500"/>
            <a:ext cx="1828800" cy="323850"/>
          </a:xfrm>
          <a:prstGeom prst="rect">
            <a:avLst/>
          </a:prstGeom>
          <a:noFill/>
        </p:spPr>
        <p:txBody>
          <a:bodyPr lIns="76200" tIns="38100" rIns="76200" bIns="38100" anchor="t"/>
          <a:lstStyle/>
          <a:p>
            <a:pPr algn="l">
              <a:defRPr sz="2175">
                <a:solidFill>
                  <a:srgbClr val="B2832F"/>
                </a:solidFill>
                <a:latin typeface="Segoe UI"/>
                <a:ea typeface="Segoe UI"/>
                <a:cs typeface="Segoe UI"/>
              </a:defRPr>
            </a:pPr>
            <a:r>
              <a:rPr sz="2175" b="1">
                <a:solidFill>
                  <a:srgbClr val="B2832F"/>
                </a:solidFill>
                <a:latin typeface="Segoe UI"/>
                <a:ea typeface="Segoe UI"/>
                <a:cs typeface="Segoe UI"/>
              </a:rPr>
              <a:t>430.6亿</a:t>
            </a:r>
          </a:p>
        </p:txBody>
      </p:sp>
      <p:sp>
        <p:nvSpPr>
          <p:cNvPr id="22" name="矩形 21">
            <a:extLst>
              <a:ext uri="{FF2B5EF4-FFF2-40B4-BE49-F238E27FC236}">
                <a16:creationId xmlns:a16="http://schemas.microsoft.com/office/drawing/2014/main" id="{0D3D4D6B-D062-4D93-B4A6-7E28EF4C3E32}"/>
              </a:ext>
            </a:extLst>
          </p:cNvPr>
          <p:cNvSpPr>
            <a:spLocks noGrp="1"/>
          </p:cNvSpPr>
          <p:nvPr/>
        </p:nvSpPr>
        <p:spPr>
          <a:xfrm>
            <a:off x="5314950" y="2057400"/>
            <a:ext cx="1828800" cy="209550"/>
          </a:xfrm>
          <a:prstGeom prst="rect">
            <a:avLst/>
          </a:prstGeom>
          <a:noFill/>
        </p:spPr>
        <p:txBody>
          <a:bodyPr lIns="76200" tIns="38100" rIns="76200" bIns="38100" anchor="t"/>
          <a:lstStyle/>
          <a:p>
            <a:pPr algn="l">
              <a:defRPr sz="1200">
                <a:solidFill>
                  <a:srgbClr val="17202A"/>
                </a:solidFill>
                <a:latin typeface="Microsoft YaHei"/>
                <a:ea typeface="Microsoft YaHei"/>
                <a:cs typeface="Microsoft YaHei"/>
              </a:defRPr>
            </a:pPr>
            <a:r>
              <a:rPr sz="1200" b="1">
                <a:solidFill>
                  <a:srgbClr val="17202A"/>
                </a:solidFill>
                <a:latin typeface="Microsoft YaHei"/>
                <a:ea typeface="Microsoft YaHei"/>
                <a:cs typeface="Microsoft YaHei"/>
              </a:rPr>
              <a:t>阅读市场规模</a:t>
            </a:r>
          </a:p>
        </p:txBody>
      </p:sp>
      <p:sp>
        <p:nvSpPr>
          <p:cNvPr id="23" name="矩形 22">
            <a:extLst>
              <a:ext uri="{FF2B5EF4-FFF2-40B4-BE49-F238E27FC236}">
                <a16:creationId xmlns:a16="http://schemas.microsoft.com/office/drawing/2014/main" id="{A8B4C579-78EA-4D19-A0A4-AED3CAC1DDCB}"/>
              </a:ext>
            </a:extLst>
          </p:cNvPr>
          <p:cNvSpPr>
            <a:spLocks noGrp="1"/>
          </p:cNvSpPr>
          <p:nvPr/>
        </p:nvSpPr>
        <p:spPr>
          <a:xfrm>
            <a:off x="5314950" y="2286000"/>
            <a:ext cx="1828800" cy="171450"/>
          </a:xfrm>
          <a:prstGeom prst="rect">
            <a:avLst/>
          </a:prstGeom>
          <a:noFill/>
        </p:spPr>
        <p:txBody>
          <a:bodyPr lIns="76200" tIns="38100" rIns="76200" bIns="38100" anchor="t"/>
          <a:lstStyle/>
          <a:p>
            <a:pPr algn="l">
              <a:defRPr sz="788">
                <a:solidFill>
                  <a:srgbClr val="5C6670"/>
                </a:solidFill>
                <a:latin typeface="Microsoft YaHei"/>
                <a:ea typeface="Microsoft YaHei"/>
                <a:cs typeface="Microsoft YaHei"/>
              </a:defRPr>
            </a:pPr>
            <a:r>
              <a:rPr sz="788">
                <a:solidFill>
                  <a:srgbClr val="5C6670"/>
                </a:solidFill>
                <a:latin typeface="Microsoft YaHei"/>
                <a:ea typeface="Microsoft YaHei"/>
                <a:cs typeface="Microsoft YaHei"/>
              </a:rPr>
              <a:t>2024 年，人民币</a:t>
            </a:r>
          </a:p>
        </p:txBody>
      </p:sp>
      <p:sp>
        <p:nvSpPr>
          <p:cNvPr id="24" name="矩形 23">
            <a:extLst>
              <a:ext uri="{FF2B5EF4-FFF2-40B4-BE49-F238E27FC236}">
                <a16:creationId xmlns:a16="http://schemas.microsoft.com/office/drawing/2014/main" id="{371E1116-73F7-4B9F-819A-BC747F234ED1}"/>
              </a:ext>
            </a:extLst>
          </p:cNvPr>
          <p:cNvSpPr>
            <a:spLocks noGrp="1"/>
          </p:cNvSpPr>
          <p:nvPr/>
        </p:nvSpPr>
        <p:spPr>
          <a:xfrm>
            <a:off x="7391400" y="1581150"/>
            <a:ext cx="2095500" cy="952500"/>
          </a:xfrm>
          <a:prstGeom prst="rect">
            <a:avLst/>
          </a:prstGeom>
          <a:solidFill>
            <a:srgbClr val="FFFFFF"/>
          </a:solidFill>
          <a:ln w="9525">
            <a:solidFill>
              <a:srgbClr val="D8D1C4"/>
            </a:solidFill>
          </a:ln>
        </p:spPr>
        <p:txBody>
          <a:bodyPr lIns="114300" tIns="95250" rIns="114300" bIns="95250" anchor="ctr"/>
          <a:lstStyle/>
          <a:p>
            <a:endParaRPr/>
          </a:p>
        </p:txBody>
      </p:sp>
      <p:sp>
        <p:nvSpPr>
          <p:cNvPr id="25" name="矩形 24">
            <a:extLst>
              <a:ext uri="{FF2B5EF4-FFF2-40B4-BE49-F238E27FC236}">
                <a16:creationId xmlns:a16="http://schemas.microsoft.com/office/drawing/2014/main" id="{CF10459A-DE8F-4A62-B075-19DD0798CA9B}"/>
              </a:ext>
            </a:extLst>
          </p:cNvPr>
          <p:cNvSpPr>
            <a:spLocks noGrp="1"/>
          </p:cNvSpPr>
          <p:nvPr/>
        </p:nvSpPr>
        <p:spPr>
          <a:xfrm>
            <a:off x="7391400" y="1581150"/>
            <a:ext cx="57150" cy="952500"/>
          </a:xfrm>
          <a:prstGeom prst="rect">
            <a:avLst/>
          </a:prstGeom>
          <a:solidFill>
            <a:srgbClr val="287D79"/>
          </a:solidFill>
          <a:ln w="0">
            <a:solidFill>
              <a:srgbClr val="287D79"/>
            </a:solidFill>
          </a:ln>
        </p:spPr>
      </p:sp>
      <p:sp>
        <p:nvSpPr>
          <p:cNvPr id="26" name="矩形 25">
            <a:extLst>
              <a:ext uri="{FF2B5EF4-FFF2-40B4-BE49-F238E27FC236}">
                <a16:creationId xmlns:a16="http://schemas.microsoft.com/office/drawing/2014/main" id="{D56B6601-EE86-410C-9569-90BFAE3916DF}"/>
              </a:ext>
            </a:extLst>
          </p:cNvPr>
          <p:cNvSpPr>
            <a:spLocks noGrp="1"/>
          </p:cNvSpPr>
          <p:nvPr/>
        </p:nvSpPr>
        <p:spPr>
          <a:xfrm>
            <a:off x="7581900" y="1714500"/>
            <a:ext cx="1828800" cy="323850"/>
          </a:xfrm>
          <a:prstGeom prst="rect">
            <a:avLst/>
          </a:prstGeom>
          <a:noFill/>
        </p:spPr>
        <p:txBody>
          <a:bodyPr lIns="76200" tIns="38100" rIns="76200" bIns="38100" anchor="t"/>
          <a:lstStyle/>
          <a:p>
            <a:pPr algn="l">
              <a:defRPr sz="2175">
                <a:solidFill>
                  <a:srgbClr val="287D79"/>
                </a:solidFill>
                <a:latin typeface="Segoe UI"/>
                <a:ea typeface="Segoe UI"/>
                <a:cs typeface="Segoe UI"/>
              </a:defRPr>
            </a:pPr>
            <a:r>
              <a:rPr sz="2175" b="1">
                <a:solidFill>
                  <a:srgbClr val="287D79"/>
                </a:solidFill>
                <a:latin typeface="Segoe UI"/>
                <a:ea typeface="Segoe UI"/>
                <a:cs typeface="Segoe UI"/>
              </a:rPr>
              <a:t>&gt;60万</a:t>
            </a:r>
          </a:p>
        </p:txBody>
      </p:sp>
      <p:sp>
        <p:nvSpPr>
          <p:cNvPr id="27" name="矩形 26">
            <a:extLst>
              <a:ext uri="{FF2B5EF4-FFF2-40B4-BE49-F238E27FC236}">
                <a16:creationId xmlns:a16="http://schemas.microsoft.com/office/drawing/2014/main" id="{158A6EFE-1C76-4A50-95F5-AB65987F086B}"/>
              </a:ext>
            </a:extLst>
          </p:cNvPr>
          <p:cNvSpPr>
            <a:spLocks noGrp="1"/>
          </p:cNvSpPr>
          <p:nvPr/>
        </p:nvSpPr>
        <p:spPr>
          <a:xfrm>
            <a:off x="7581900" y="2057400"/>
            <a:ext cx="1828800" cy="209550"/>
          </a:xfrm>
          <a:prstGeom prst="rect">
            <a:avLst/>
          </a:prstGeom>
          <a:noFill/>
        </p:spPr>
        <p:txBody>
          <a:bodyPr lIns="76200" tIns="38100" rIns="76200" bIns="38100" anchor="t"/>
          <a:lstStyle/>
          <a:p>
            <a:pPr algn="l">
              <a:defRPr sz="1200">
                <a:solidFill>
                  <a:srgbClr val="17202A"/>
                </a:solidFill>
                <a:latin typeface="Microsoft YaHei"/>
                <a:ea typeface="Microsoft YaHei"/>
                <a:cs typeface="Microsoft YaHei"/>
              </a:defRPr>
            </a:pPr>
            <a:r>
              <a:rPr sz="1200" b="1">
                <a:solidFill>
                  <a:srgbClr val="17202A"/>
                </a:solidFill>
                <a:latin typeface="Microsoft YaHei"/>
                <a:ea typeface="Microsoft YaHei"/>
                <a:cs typeface="Microsoft YaHei"/>
              </a:rPr>
              <a:t>番茄签约作家</a:t>
            </a:r>
          </a:p>
        </p:txBody>
      </p:sp>
      <p:sp>
        <p:nvSpPr>
          <p:cNvPr id="28" name="矩形 27">
            <a:extLst>
              <a:ext uri="{FF2B5EF4-FFF2-40B4-BE49-F238E27FC236}">
                <a16:creationId xmlns:a16="http://schemas.microsoft.com/office/drawing/2014/main" id="{F82B9A0E-86C7-40D7-A390-70CEA4C2B088}"/>
              </a:ext>
            </a:extLst>
          </p:cNvPr>
          <p:cNvSpPr>
            <a:spLocks noGrp="1"/>
          </p:cNvSpPr>
          <p:nvPr/>
        </p:nvSpPr>
        <p:spPr>
          <a:xfrm>
            <a:off x="7581900" y="2286000"/>
            <a:ext cx="1828800" cy="171450"/>
          </a:xfrm>
          <a:prstGeom prst="rect">
            <a:avLst/>
          </a:prstGeom>
          <a:noFill/>
        </p:spPr>
        <p:txBody>
          <a:bodyPr lIns="76200" tIns="38100" rIns="76200" bIns="38100" anchor="t"/>
          <a:lstStyle/>
          <a:p>
            <a:pPr algn="l">
              <a:defRPr sz="788">
                <a:solidFill>
                  <a:srgbClr val="5C6670"/>
                </a:solidFill>
                <a:latin typeface="Microsoft YaHei"/>
                <a:ea typeface="Microsoft YaHei"/>
                <a:cs typeface="Microsoft YaHei"/>
              </a:defRPr>
            </a:pPr>
            <a:r>
              <a:rPr sz="788">
                <a:solidFill>
                  <a:srgbClr val="5C6670"/>
                </a:solidFill>
                <a:latin typeface="Microsoft YaHei"/>
                <a:ea typeface="Microsoft YaHei"/>
                <a:cs typeface="Microsoft YaHei"/>
              </a:rPr>
              <a:t>公开报道引用官方数据</a:t>
            </a:r>
          </a:p>
        </p:txBody>
      </p:sp>
      <p:sp>
        <p:nvSpPr>
          <p:cNvPr id="29" name="矩形 28">
            <a:extLst>
              <a:ext uri="{FF2B5EF4-FFF2-40B4-BE49-F238E27FC236}">
                <a16:creationId xmlns:a16="http://schemas.microsoft.com/office/drawing/2014/main" id="{903F3E10-B5F7-441F-9205-C5B02D29C110}"/>
              </a:ext>
            </a:extLst>
          </p:cNvPr>
          <p:cNvSpPr>
            <a:spLocks noGrp="1"/>
          </p:cNvSpPr>
          <p:nvPr/>
        </p:nvSpPr>
        <p:spPr>
          <a:xfrm>
            <a:off x="9658350" y="1581150"/>
            <a:ext cx="2095500" cy="952500"/>
          </a:xfrm>
          <a:prstGeom prst="rect">
            <a:avLst/>
          </a:prstGeom>
          <a:solidFill>
            <a:srgbClr val="FFFFFF"/>
          </a:solidFill>
          <a:ln w="9525">
            <a:solidFill>
              <a:srgbClr val="D8D1C4"/>
            </a:solidFill>
          </a:ln>
        </p:spPr>
        <p:txBody>
          <a:bodyPr lIns="114300" tIns="95250" rIns="114300" bIns="95250" anchor="ctr"/>
          <a:lstStyle/>
          <a:p>
            <a:endParaRPr/>
          </a:p>
        </p:txBody>
      </p:sp>
      <p:sp>
        <p:nvSpPr>
          <p:cNvPr id="30" name="矩形 29">
            <a:extLst>
              <a:ext uri="{FF2B5EF4-FFF2-40B4-BE49-F238E27FC236}">
                <a16:creationId xmlns:a16="http://schemas.microsoft.com/office/drawing/2014/main" id="{F39097AF-AB8A-4F76-BAAF-2CE945489D49}"/>
              </a:ext>
            </a:extLst>
          </p:cNvPr>
          <p:cNvSpPr>
            <a:spLocks noGrp="1"/>
          </p:cNvSpPr>
          <p:nvPr/>
        </p:nvSpPr>
        <p:spPr>
          <a:xfrm>
            <a:off x="9658350" y="1581150"/>
            <a:ext cx="57150" cy="952500"/>
          </a:xfrm>
          <a:prstGeom prst="rect">
            <a:avLst/>
          </a:prstGeom>
          <a:solidFill>
            <a:srgbClr val="E85D4F"/>
          </a:solidFill>
          <a:ln w="0">
            <a:solidFill>
              <a:srgbClr val="E85D4F"/>
            </a:solidFill>
          </a:ln>
        </p:spPr>
      </p:sp>
      <p:sp>
        <p:nvSpPr>
          <p:cNvPr id="31" name="矩形 30">
            <a:extLst>
              <a:ext uri="{FF2B5EF4-FFF2-40B4-BE49-F238E27FC236}">
                <a16:creationId xmlns:a16="http://schemas.microsoft.com/office/drawing/2014/main" id="{E0D9147B-9110-40EB-80CA-F3BC3D4DD1A8}"/>
              </a:ext>
            </a:extLst>
          </p:cNvPr>
          <p:cNvSpPr>
            <a:spLocks noGrp="1"/>
          </p:cNvSpPr>
          <p:nvPr/>
        </p:nvSpPr>
        <p:spPr>
          <a:xfrm>
            <a:off x="9848850" y="1714500"/>
            <a:ext cx="1828800" cy="323850"/>
          </a:xfrm>
          <a:prstGeom prst="rect">
            <a:avLst/>
          </a:prstGeom>
          <a:noFill/>
        </p:spPr>
        <p:txBody>
          <a:bodyPr lIns="76200" tIns="38100" rIns="76200" bIns="38100" anchor="t"/>
          <a:lstStyle/>
          <a:p>
            <a:pPr algn="l">
              <a:defRPr sz="2175">
                <a:solidFill>
                  <a:srgbClr val="E85D4F"/>
                </a:solidFill>
                <a:latin typeface="Segoe UI"/>
                <a:ea typeface="Segoe UI"/>
                <a:cs typeface="Segoe UI"/>
              </a:defRPr>
            </a:pPr>
            <a:r>
              <a:rPr sz="2175" b="1">
                <a:solidFill>
                  <a:srgbClr val="E85D4F"/>
                </a:solidFill>
                <a:latin typeface="Segoe UI"/>
                <a:ea typeface="Segoe UI"/>
                <a:cs typeface="Segoe UI"/>
              </a:rPr>
              <a:t>约2.2亿</a:t>
            </a:r>
          </a:p>
        </p:txBody>
      </p:sp>
      <p:sp>
        <p:nvSpPr>
          <p:cNvPr id="32" name="矩形 31">
            <a:extLst>
              <a:ext uri="{FF2B5EF4-FFF2-40B4-BE49-F238E27FC236}">
                <a16:creationId xmlns:a16="http://schemas.microsoft.com/office/drawing/2014/main" id="{BCA8025D-9E9C-4AB9-95AB-6964FB0F4589}"/>
              </a:ext>
            </a:extLst>
          </p:cNvPr>
          <p:cNvSpPr>
            <a:spLocks noGrp="1"/>
          </p:cNvSpPr>
          <p:nvPr/>
        </p:nvSpPr>
        <p:spPr>
          <a:xfrm>
            <a:off x="9848850" y="2057400"/>
            <a:ext cx="1828800" cy="209550"/>
          </a:xfrm>
          <a:prstGeom prst="rect">
            <a:avLst/>
          </a:prstGeom>
          <a:noFill/>
        </p:spPr>
        <p:txBody>
          <a:bodyPr lIns="76200" tIns="38100" rIns="76200" bIns="38100" anchor="t"/>
          <a:lstStyle/>
          <a:p>
            <a:pPr algn="l">
              <a:defRPr sz="1200">
                <a:solidFill>
                  <a:srgbClr val="17202A"/>
                </a:solidFill>
                <a:latin typeface="Microsoft YaHei"/>
                <a:ea typeface="Microsoft YaHei"/>
                <a:cs typeface="Microsoft YaHei"/>
              </a:defRPr>
            </a:pPr>
            <a:r>
              <a:rPr sz="1200" b="1">
                <a:solidFill>
                  <a:srgbClr val="17202A"/>
                </a:solidFill>
                <a:latin typeface="Microsoft YaHei"/>
                <a:ea typeface="Microsoft YaHei"/>
                <a:cs typeface="Microsoft YaHei"/>
              </a:rPr>
              <a:t>2024Q3 平均 MAU</a:t>
            </a:r>
          </a:p>
        </p:txBody>
      </p:sp>
      <p:sp>
        <p:nvSpPr>
          <p:cNvPr id="33" name="矩形 32">
            <a:extLst>
              <a:ext uri="{FF2B5EF4-FFF2-40B4-BE49-F238E27FC236}">
                <a16:creationId xmlns:a16="http://schemas.microsoft.com/office/drawing/2014/main" id="{86B47A4C-B1FB-4183-A76E-CA924D546622}"/>
              </a:ext>
            </a:extLst>
          </p:cNvPr>
          <p:cNvSpPr>
            <a:spLocks noGrp="1"/>
          </p:cNvSpPr>
          <p:nvPr/>
        </p:nvSpPr>
        <p:spPr>
          <a:xfrm>
            <a:off x="9848850" y="2286000"/>
            <a:ext cx="1828800" cy="171450"/>
          </a:xfrm>
          <a:prstGeom prst="rect">
            <a:avLst/>
          </a:prstGeom>
          <a:noFill/>
        </p:spPr>
        <p:txBody>
          <a:bodyPr lIns="76200" tIns="38100" rIns="76200" bIns="38100" anchor="t"/>
          <a:lstStyle/>
          <a:p>
            <a:pPr algn="l">
              <a:defRPr sz="788">
                <a:solidFill>
                  <a:srgbClr val="5C6670"/>
                </a:solidFill>
                <a:latin typeface="Microsoft YaHei"/>
                <a:ea typeface="Microsoft YaHei"/>
                <a:cs typeface="Microsoft YaHei"/>
              </a:defRPr>
            </a:pPr>
            <a:r>
              <a:rPr sz="788">
                <a:solidFill>
                  <a:srgbClr val="5C6670"/>
                </a:solidFill>
                <a:latin typeface="Microsoft YaHei"/>
                <a:ea typeface="Microsoft YaHei"/>
                <a:cs typeface="Microsoft YaHei"/>
              </a:rPr>
              <a:t>第三方媒体报道</a:t>
            </a:r>
          </a:p>
        </p:txBody>
      </p:sp>
      <p:sp>
        <p:nvSpPr>
          <p:cNvPr id="34" name="矩形 33">
            <a:extLst>
              <a:ext uri="{FF2B5EF4-FFF2-40B4-BE49-F238E27FC236}">
                <a16:creationId xmlns:a16="http://schemas.microsoft.com/office/drawing/2014/main" id="{707B5F2E-CE0D-45B3-9179-A0C22CDEE9FB}"/>
              </a:ext>
            </a:extLst>
          </p:cNvPr>
          <p:cNvSpPr>
            <a:spLocks noGrp="1"/>
          </p:cNvSpPr>
          <p:nvPr/>
        </p:nvSpPr>
        <p:spPr>
          <a:xfrm>
            <a:off x="819150" y="3524250"/>
            <a:ext cx="3143250" cy="1143000"/>
          </a:xfrm>
          <a:prstGeom prst="rect">
            <a:avLst/>
          </a:prstGeom>
          <a:solidFill>
            <a:srgbClr val="FFFFFF"/>
          </a:solidFill>
          <a:ln w="9525">
            <a:solidFill>
              <a:srgbClr val="D8D1C4"/>
            </a:solidFill>
          </a:ln>
        </p:spPr>
        <p:txBody>
          <a:bodyPr lIns="114300" tIns="95250" rIns="114300" bIns="95250" anchor="ctr"/>
          <a:lstStyle/>
          <a:p>
            <a:endParaRPr/>
          </a:p>
        </p:txBody>
      </p:sp>
      <p:sp>
        <p:nvSpPr>
          <p:cNvPr id="35" name="矩形 34">
            <a:extLst>
              <a:ext uri="{FF2B5EF4-FFF2-40B4-BE49-F238E27FC236}">
                <a16:creationId xmlns:a16="http://schemas.microsoft.com/office/drawing/2014/main" id="{D90107B2-149A-48C9-9D48-3638C2CCBF0D}"/>
              </a:ext>
            </a:extLst>
          </p:cNvPr>
          <p:cNvSpPr>
            <a:spLocks noGrp="1"/>
          </p:cNvSpPr>
          <p:nvPr/>
        </p:nvSpPr>
        <p:spPr>
          <a:xfrm>
            <a:off x="819150" y="3524250"/>
            <a:ext cx="3143250" cy="57150"/>
          </a:xfrm>
          <a:prstGeom prst="rect">
            <a:avLst/>
          </a:prstGeom>
          <a:solidFill>
            <a:srgbClr val="E85D4F"/>
          </a:solidFill>
          <a:ln w="0">
            <a:solidFill>
              <a:srgbClr val="E85D4F"/>
            </a:solidFill>
          </a:ln>
        </p:spPr>
      </p:sp>
      <p:sp>
        <p:nvSpPr>
          <p:cNvPr id="36" name="矩形 35">
            <a:extLst>
              <a:ext uri="{FF2B5EF4-FFF2-40B4-BE49-F238E27FC236}">
                <a16:creationId xmlns:a16="http://schemas.microsoft.com/office/drawing/2014/main" id="{D07BF137-17BF-4FFB-ADA5-9B04939E9787}"/>
              </a:ext>
            </a:extLst>
          </p:cNvPr>
          <p:cNvSpPr>
            <a:spLocks noGrp="1"/>
          </p:cNvSpPr>
          <p:nvPr/>
        </p:nvSpPr>
        <p:spPr>
          <a:xfrm>
            <a:off x="952500" y="3667125"/>
            <a:ext cx="2876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为什么属于 2C 大型业务系统？</a:t>
            </a:r>
          </a:p>
        </p:txBody>
      </p:sp>
      <p:sp>
        <p:nvSpPr>
          <p:cNvPr id="37" name="矩形 36">
            <a:extLst>
              <a:ext uri="{FF2B5EF4-FFF2-40B4-BE49-F238E27FC236}">
                <a16:creationId xmlns:a16="http://schemas.microsoft.com/office/drawing/2014/main" id="{08BF7E33-8E0E-47A7-8094-3F6764E9B1B9}"/>
              </a:ext>
            </a:extLst>
          </p:cNvPr>
          <p:cNvSpPr>
            <a:spLocks noGrp="1"/>
          </p:cNvSpPr>
          <p:nvPr/>
        </p:nvSpPr>
        <p:spPr>
          <a:xfrm>
            <a:off x="952500" y="3943350"/>
            <a:ext cx="2876550" cy="6477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面向全国普通读者，核心业务包括阅读、搜索、书架、评论、广告展示、作者更新与内容运营。</a:t>
            </a:r>
          </a:p>
        </p:txBody>
      </p:sp>
      <p:sp>
        <p:nvSpPr>
          <p:cNvPr id="38" name="矩形 37">
            <a:extLst>
              <a:ext uri="{FF2B5EF4-FFF2-40B4-BE49-F238E27FC236}">
                <a16:creationId xmlns:a16="http://schemas.microsoft.com/office/drawing/2014/main" id="{8687FAA2-F065-4577-86F6-A840E04864EF}"/>
              </a:ext>
            </a:extLst>
          </p:cNvPr>
          <p:cNvSpPr>
            <a:spLocks noGrp="1"/>
          </p:cNvSpPr>
          <p:nvPr/>
        </p:nvSpPr>
        <p:spPr>
          <a:xfrm>
            <a:off x="4533900" y="3524250"/>
            <a:ext cx="3143250" cy="1143000"/>
          </a:xfrm>
          <a:prstGeom prst="rect">
            <a:avLst/>
          </a:prstGeom>
          <a:solidFill>
            <a:srgbClr val="FFFFFF"/>
          </a:solidFill>
          <a:ln w="9525">
            <a:solidFill>
              <a:srgbClr val="D8D1C4"/>
            </a:solidFill>
          </a:ln>
        </p:spPr>
        <p:txBody>
          <a:bodyPr lIns="114300" tIns="95250" rIns="114300" bIns="95250" anchor="ctr"/>
          <a:lstStyle/>
          <a:p>
            <a:endParaRPr/>
          </a:p>
        </p:txBody>
      </p:sp>
      <p:sp>
        <p:nvSpPr>
          <p:cNvPr id="39" name="矩形 38">
            <a:extLst>
              <a:ext uri="{FF2B5EF4-FFF2-40B4-BE49-F238E27FC236}">
                <a16:creationId xmlns:a16="http://schemas.microsoft.com/office/drawing/2014/main" id="{3CA9D855-D091-4759-BA47-C0C5C7A11E6F}"/>
              </a:ext>
            </a:extLst>
          </p:cNvPr>
          <p:cNvSpPr>
            <a:spLocks noGrp="1"/>
          </p:cNvSpPr>
          <p:nvPr/>
        </p:nvSpPr>
        <p:spPr>
          <a:xfrm>
            <a:off x="4533900" y="3524250"/>
            <a:ext cx="3143250" cy="57150"/>
          </a:xfrm>
          <a:prstGeom prst="rect">
            <a:avLst/>
          </a:prstGeom>
          <a:solidFill>
            <a:srgbClr val="315C97"/>
          </a:solidFill>
          <a:ln w="0">
            <a:solidFill>
              <a:srgbClr val="315C97"/>
            </a:solidFill>
          </a:ln>
        </p:spPr>
      </p:sp>
      <p:sp>
        <p:nvSpPr>
          <p:cNvPr id="40" name="矩形 39">
            <a:extLst>
              <a:ext uri="{FF2B5EF4-FFF2-40B4-BE49-F238E27FC236}">
                <a16:creationId xmlns:a16="http://schemas.microsoft.com/office/drawing/2014/main" id="{25C86FE4-7A63-492B-94D5-C288C240E6E1}"/>
              </a:ext>
            </a:extLst>
          </p:cNvPr>
          <p:cNvSpPr>
            <a:spLocks noGrp="1"/>
          </p:cNvSpPr>
          <p:nvPr/>
        </p:nvSpPr>
        <p:spPr>
          <a:xfrm>
            <a:off x="4667250" y="3667125"/>
            <a:ext cx="2876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为什么可以分析 OLTP？</a:t>
            </a:r>
          </a:p>
        </p:txBody>
      </p:sp>
      <p:sp>
        <p:nvSpPr>
          <p:cNvPr id="41" name="矩形 40">
            <a:extLst>
              <a:ext uri="{FF2B5EF4-FFF2-40B4-BE49-F238E27FC236}">
                <a16:creationId xmlns:a16="http://schemas.microsoft.com/office/drawing/2014/main" id="{0F595470-414F-47FB-9BBC-1AD3BCC8D875}"/>
              </a:ext>
            </a:extLst>
          </p:cNvPr>
          <p:cNvSpPr>
            <a:spLocks noGrp="1"/>
          </p:cNvSpPr>
          <p:nvPr/>
        </p:nvSpPr>
        <p:spPr>
          <a:xfrm>
            <a:off x="4667250" y="3943350"/>
            <a:ext cx="2876550" cy="6477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用户阅读进度、书架状态、评论发布、章节访问、广告曝光等都需要在线系统快速处理。</a:t>
            </a:r>
          </a:p>
        </p:txBody>
      </p:sp>
      <p:sp>
        <p:nvSpPr>
          <p:cNvPr id="42" name="矩形 41">
            <a:extLst>
              <a:ext uri="{FF2B5EF4-FFF2-40B4-BE49-F238E27FC236}">
                <a16:creationId xmlns:a16="http://schemas.microsoft.com/office/drawing/2014/main" id="{499B4CDA-2FAA-430B-B726-7061A30623F9}"/>
              </a:ext>
            </a:extLst>
          </p:cNvPr>
          <p:cNvSpPr>
            <a:spLocks noGrp="1"/>
          </p:cNvSpPr>
          <p:nvPr/>
        </p:nvSpPr>
        <p:spPr>
          <a:xfrm>
            <a:off x="8248650" y="3524250"/>
            <a:ext cx="3143250" cy="1143000"/>
          </a:xfrm>
          <a:prstGeom prst="rect">
            <a:avLst/>
          </a:prstGeom>
          <a:solidFill>
            <a:srgbClr val="FFFFFF"/>
          </a:solidFill>
          <a:ln w="9525">
            <a:solidFill>
              <a:srgbClr val="D8D1C4"/>
            </a:solidFill>
          </a:ln>
        </p:spPr>
        <p:txBody>
          <a:bodyPr lIns="114300" tIns="95250" rIns="114300" bIns="95250" anchor="ctr"/>
          <a:lstStyle/>
          <a:p>
            <a:endParaRPr/>
          </a:p>
        </p:txBody>
      </p:sp>
      <p:sp>
        <p:nvSpPr>
          <p:cNvPr id="43" name="矩形 42">
            <a:extLst>
              <a:ext uri="{FF2B5EF4-FFF2-40B4-BE49-F238E27FC236}">
                <a16:creationId xmlns:a16="http://schemas.microsoft.com/office/drawing/2014/main" id="{761D9121-3E47-4C02-8192-4BDCB70EFEBD}"/>
              </a:ext>
            </a:extLst>
          </p:cNvPr>
          <p:cNvSpPr>
            <a:spLocks noGrp="1"/>
          </p:cNvSpPr>
          <p:nvPr/>
        </p:nvSpPr>
        <p:spPr>
          <a:xfrm>
            <a:off x="8248650" y="3524250"/>
            <a:ext cx="3143250" cy="57150"/>
          </a:xfrm>
          <a:prstGeom prst="rect">
            <a:avLst/>
          </a:prstGeom>
          <a:solidFill>
            <a:srgbClr val="287D79"/>
          </a:solidFill>
          <a:ln w="0">
            <a:solidFill>
              <a:srgbClr val="287D79"/>
            </a:solidFill>
          </a:ln>
        </p:spPr>
      </p:sp>
      <p:sp>
        <p:nvSpPr>
          <p:cNvPr id="44" name="矩形 43">
            <a:extLst>
              <a:ext uri="{FF2B5EF4-FFF2-40B4-BE49-F238E27FC236}">
                <a16:creationId xmlns:a16="http://schemas.microsoft.com/office/drawing/2014/main" id="{5E4C9D4E-C21D-4B32-92F0-AF5EF96862D6}"/>
              </a:ext>
            </a:extLst>
          </p:cNvPr>
          <p:cNvSpPr>
            <a:spLocks noGrp="1"/>
          </p:cNvSpPr>
          <p:nvPr/>
        </p:nvSpPr>
        <p:spPr>
          <a:xfrm>
            <a:off x="8382000" y="3667125"/>
            <a:ext cx="2876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为什么需要大数据平台？</a:t>
            </a:r>
          </a:p>
        </p:txBody>
      </p:sp>
      <p:sp>
        <p:nvSpPr>
          <p:cNvPr id="45" name="矩形 44">
            <a:extLst>
              <a:ext uri="{FF2B5EF4-FFF2-40B4-BE49-F238E27FC236}">
                <a16:creationId xmlns:a16="http://schemas.microsoft.com/office/drawing/2014/main" id="{1EBF582E-01B4-4AD8-89D2-49B45003AC49}"/>
              </a:ext>
            </a:extLst>
          </p:cNvPr>
          <p:cNvSpPr>
            <a:spLocks noGrp="1"/>
          </p:cNvSpPr>
          <p:nvPr/>
        </p:nvSpPr>
        <p:spPr>
          <a:xfrm>
            <a:off x="8382000" y="3943350"/>
            <a:ext cx="2876550" cy="6477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阅读行为、推荐曝光、搜索词、停留时长、作者作品表现等历史数据需要长期分析与反馈。</a:t>
            </a:r>
          </a:p>
        </p:txBody>
      </p:sp>
      <p:sp>
        <p:nvSpPr>
          <p:cNvPr id="46" name="矩形 45">
            <a:extLst>
              <a:ext uri="{FF2B5EF4-FFF2-40B4-BE49-F238E27FC236}">
                <a16:creationId xmlns:a16="http://schemas.microsoft.com/office/drawing/2014/main" id="{ABA2F9D7-2391-4413-B08F-C3793F47FFD2}"/>
              </a:ext>
            </a:extLst>
          </p:cNvPr>
          <p:cNvSpPr>
            <a:spLocks noGrp="1"/>
          </p:cNvSpPr>
          <p:nvPr/>
        </p:nvSpPr>
        <p:spPr>
          <a:xfrm>
            <a:off x="1066800" y="5334000"/>
            <a:ext cx="10001250" cy="552450"/>
          </a:xfrm>
          <a:prstGeom prst="rect">
            <a:avLst/>
          </a:prstGeom>
          <a:solidFill>
            <a:srgbClr val="1E2732"/>
          </a:solidFill>
          <a:ln w="9525">
            <a:solidFill>
              <a:srgbClr val="1E2732"/>
            </a:solidFill>
          </a:ln>
        </p:spPr>
        <p:txBody>
          <a:bodyPr lIns="114300" tIns="95250" rIns="114300" bIns="95250" anchor="ctr"/>
          <a:lstStyle/>
          <a:p>
            <a:pPr algn="ctr">
              <a:defRPr sz="1313">
                <a:solidFill>
                  <a:srgbClr val="FFFFFF"/>
                </a:solidFill>
                <a:latin typeface="Microsoft YaHei"/>
                <a:ea typeface="Microsoft YaHei"/>
                <a:cs typeface="Microsoft YaHei"/>
              </a:defRPr>
            </a:pPr>
            <a:r>
              <a:rPr sz="1313">
                <a:solidFill>
                  <a:srgbClr val="FFFFFF"/>
                </a:solidFill>
                <a:latin typeface="Microsoft YaHei"/>
                <a:ea typeface="Microsoft YaHei"/>
                <a:cs typeface="Microsoft YaHei"/>
              </a:rPr>
              <a:t>结论：本案例不是把“番茄小说整体”等同于 OLTP，而是调研其在线阅读平台中的基础业务 OLTP 子系统，以及其与大数据/数仓平台之间的数据关系。</a:t>
            </a:r>
          </a:p>
        </p:txBody>
      </p:sp>
    </p:spTree>
    <p:extLst>
      <p:ext uri="{BB962C8B-B14F-4D97-AF65-F5344CB8AC3E}">
        <p14:creationId xmlns:p14="http://schemas.microsoft.com/office/powerpoint/2010/main" val="1806802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EB9DDF58-36F3-4CF7-99C8-1F1D5D2698C9}"/>
              </a:ext>
            </a:extLst>
          </p:cNvPr>
          <p:cNvSpPr>
            <a:spLocks noGrp="1"/>
          </p:cNvSpPr>
          <p:nvPr/>
        </p:nvSpPr>
        <p:spPr>
          <a:xfrm>
            <a:off x="0" y="0"/>
            <a:ext cx="12192000" cy="6858000"/>
          </a:xfrm>
          <a:prstGeom prst="rect">
            <a:avLst/>
          </a:prstGeom>
          <a:solidFill>
            <a:srgbClr val="F8F5EE"/>
          </a:solidFill>
        </p:spPr>
        <p:txBody>
          <a:bodyPr/>
          <a:lstStyle/>
          <a:p>
            <a:endParaRPr lang="zh-CN" altLang="en-US" dirty="0"/>
          </a:p>
        </p:txBody>
      </p:sp>
      <p:sp>
        <p:nvSpPr>
          <p:cNvPr id="2" name="矩形 1">
            <a:extLst>
              <a:ext uri="{FF2B5EF4-FFF2-40B4-BE49-F238E27FC236}">
                <a16:creationId xmlns:a16="http://schemas.microsoft.com/office/drawing/2014/main" id="{C6867EE7-82E8-49C2-B8DD-228C42FCECBC}"/>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985F8D68-40C8-4ECF-9440-01CFFBC69FA3}"/>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a: system architecture. Architecture is course analysis based on public product functions.</a:t>
            </a:r>
          </a:p>
        </p:txBody>
      </p:sp>
      <p:sp>
        <p:nvSpPr>
          <p:cNvPr id="4" name="矩形 3">
            <a:extLst>
              <a:ext uri="{FF2B5EF4-FFF2-40B4-BE49-F238E27FC236}">
                <a16:creationId xmlns:a16="http://schemas.microsoft.com/office/drawing/2014/main" id="{DB6C15C1-D676-4B22-85CB-6985AB451976}"/>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04</a:t>
            </a:r>
          </a:p>
        </p:txBody>
      </p:sp>
      <p:sp>
        <p:nvSpPr>
          <p:cNvPr id="5" name="椭圆 4">
            <a:extLst>
              <a:ext uri="{FF2B5EF4-FFF2-40B4-BE49-F238E27FC236}">
                <a16:creationId xmlns:a16="http://schemas.microsoft.com/office/drawing/2014/main" id="{341EA958-B393-4828-80D5-82971197754F}"/>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32421ADF-F643-4088-A7F3-6FA698926B78}"/>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a  SYSTEM ARCHITECTURE</a:t>
            </a:r>
          </a:p>
        </p:txBody>
      </p:sp>
      <p:sp>
        <p:nvSpPr>
          <p:cNvPr id="7" name="矩形 6">
            <a:extLst>
              <a:ext uri="{FF2B5EF4-FFF2-40B4-BE49-F238E27FC236}">
                <a16:creationId xmlns:a16="http://schemas.microsoft.com/office/drawing/2014/main" id="{C0FB47B9-43F4-4F76-A026-03B9543E88C2}"/>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番茄小说类平台由读者端、作者端、运营端和数据平台共同支撑</a:t>
            </a:r>
          </a:p>
        </p:txBody>
      </p:sp>
      <p:sp>
        <p:nvSpPr>
          <p:cNvPr id="8" name="直接连接符 7">
            <a:extLst>
              <a:ext uri="{FF2B5EF4-FFF2-40B4-BE49-F238E27FC236}">
                <a16:creationId xmlns:a16="http://schemas.microsoft.com/office/drawing/2014/main" id="{97BABC2F-D9E6-4BDF-A6EC-F6C5F2229275}"/>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8962D58E-02EE-48EF-9E62-9D33B22CF4C4}"/>
              </a:ext>
            </a:extLst>
          </p:cNvPr>
          <p:cNvSpPr>
            <a:spLocks noGrp="1"/>
          </p:cNvSpPr>
          <p:nvPr/>
        </p:nvSpPr>
        <p:spPr>
          <a:xfrm>
            <a:off x="1704975" y="1581150"/>
            <a:ext cx="2476500" cy="914400"/>
          </a:xfrm>
          <a:prstGeom prst="rect">
            <a:avLst/>
          </a:prstGeom>
          <a:solidFill>
            <a:srgbClr val="FFFFFF"/>
          </a:solidFill>
          <a:ln w="9525">
            <a:solidFill>
              <a:srgbClr val="D8D1C4"/>
            </a:solidFill>
          </a:ln>
        </p:spPr>
        <p:txBody>
          <a:bodyPr lIns="114300" tIns="95250" rIns="114300" bIns="95250" anchor="ctr"/>
          <a:lstStyle/>
          <a:p>
            <a:endParaRPr/>
          </a:p>
        </p:txBody>
      </p:sp>
      <p:sp>
        <p:nvSpPr>
          <p:cNvPr id="10" name="矩形 9">
            <a:extLst>
              <a:ext uri="{FF2B5EF4-FFF2-40B4-BE49-F238E27FC236}">
                <a16:creationId xmlns:a16="http://schemas.microsoft.com/office/drawing/2014/main" id="{FDC7E485-24A9-4953-9214-C5AD48EE27EC}"/>
              </a:ext>
            </a:extLst>
          </p:cNvPr>
          <p:cNvSpPr>
            <a:spLocks noGrp="1"/>
          </p:cNvSpPr>
          <p:nvPr/>
        </p:nvSpPr>
        <p:spPr>
          <a:xfrm>
            <a:off x="1704975" y="1581150"/>
            <a:ext cx="2476500" cy="57150"/>
          </a:xfrm>
          <a:prstGeom prst="rect">
            <a:avLst/>
          </a:prstGeom>
          <a:solidFill>
            <a:srgbClr val="E85D4F"/>
          </a:solidFill>
          <a:ln w="0">
            <a:solidFill>
              <a:srgbClr val="E85D4F"/>
            </a:solidFill>
          </a:ln>
        </p:spPr>
      </p:sp>
      <p:sp>
        <p:nvSpPr>
          <p:cNvPr id="11" name="矩形 10">
            <a:extLst>
              <a:ext uri="{FF2B5EF4-FFF2-40B4-BE49-F238E27FC236}">
                <a16:creationId xmlns:a16="http://schemas.microsoft.com/office/drawing/2014/main" id="{CB7DFDAA-1653-4C63-8882-2988DEE7E311}"/>
              </a:ext>
            </a:extLst>
          </p:cNvPr>
          <p:cNvSpPr>
            <a:spLocks noGrp="1"/>
          </p:cNvSpPr>
          <p:nvPr/>
        </p:nvSpPr>
        <p:spPr>
          <a:xfrm>
            <a:off x="1838325" y="1724025"/>
            <a:ext cx="2209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读者端 App/H5</a:t>
            </a:r>
          </a:p>
        </p:txBody>
      </p:sp>
      <p:sp>
        <p:nvSpPr>
          <p:cNvPr id="12" name="矩形 11">
            <a:extLst>
              <a:ext uri="{FF2B5EF4-FFF2-40B4-BE49-F238E27FC236}">
                <a16:creationId xmlns:a16="http://schemas.microsoft.com/office/drawing/2014/main" id="{7AE447BE-5BD8-45C9-9BAC-4EE2E5568E8E}"/>
              </a:ext>
            </a:extLst>
          </p:cNvPr>
          <p:cNvSpPr>
            <a:spLocks noGrp="1"/>
          </p:cNvSpPr>
          <p:nvPr/>
        </p:nvSpPr>
        <p:spPr>
          <a:xfrm>
            <a:off x="1838325" y="2000250"/>
            <a:ext cx="2209800" cy="4191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搜索、推荐、阅读、书架、评论、广告展示</a:t>
            </a:r>
          </a:p>
        </p:txBody>
      </p:sp>
      <p:sp>
        <p:nvSpPr>
          <p:cNvPr id="13" name="矩形 12">
            <a:extLst>
              <a:ext uri="{FF2B5EF4-FFF2-40B4-BE49-F238E27FC236}">
                <a16:creationId xmlns:a16="http://schemas.microsoft.com/office/drawing/2014/main" id="{B61FCF33-DE3F-4172-AC82-86915ACFD024}"/>
              </a:ext>
            </a:extLst>
          </p:cNvPr>
          <p:cNvSpPr>
            <a:spLocks noGrp="1"/>
          </p:cNvSpPr>
          <p:nvPr/>
        </p:nvSpPr>
        <p:spPr>
          <a:xfrm>
            <a:off x="4905375" y="1581150"/>
            <a:ext cx="2476500" cy="914400"/>
          </a:xfrm>
          <a:prstGeom prst="rect">
            <a:avLst/>
          </a:prstGeom>
          <a:solidFill>
            <a:srgbClr val="FFFFFF"/>
          </a:solidFill>
          <a:ln w="9525">
            <a:solidFill>
              <a:srgbClr val="D8D1C4"/>
            </a:solidFill>
          </a:ln>
        </p:spPr>
        <p:txBody>
          <a:bodyPr lIns="114300" tIns="95250" rIns="114300" bIns="95250" anchor="ctr"/>
          <a:lstStyle/>
          <a:p>
            <a:endParaRPr/>
          </a:p>
        </p:txBody>
      </p:sp>
      <p:sp>
        <p:nvSpPr>
          <p:cNvPr id="14" name="矩形 13">
            <a:extLst>
              <a:ext uri="{FF2B5EF4-FFF2-40B4-BE49-F238E27FC236}">
                <a16:creationId xmlns:a16="http://schemas.microsoft.com/office/drawing/2014/main" id="{F4E8BBD9-A8C4-46AB-B800-034B250525E0}"/>
              </a:ext>
            </a:extLst>
          </p:cNvPr>
          <p:cNvSpPr>
            <a:spLocks noGrp="1"/>
          </p:cNvSpPr>
          <p:nvPr/>
        </p:nvSpPr>
        <p:spPr>
          <a:xfrm>
            <a:off x="4905375" y="1581150"/>
            <a:ext cx="2476500" cy="57150"/>
          </a:xfrm>
          <a:prstGeom prst="rect">
            <a:avLst/>
          </a:prstGeom>
          <a:solidFill>
            <a:srgbClr val="315C97"/>
          </a:solidFill>
          <a:ln w="0">
            <a:solidFill>
              <a:srgbClr val="315C97"/>
            </a:solidFill>
          </a:ln>
        </p:spPr>
      </p:sp>
      <p:sp>
        <p:nvSpPr>
          <p:cNvPr id="15" name="矩形 14">
            <a:extLst>
              <a:ext uri="{FF2B5EF4-FFF2-40B4-BE49-F238E27FC236}">
                <a16:creationId xmlns:a16="http://schemas.microsoft.com/office/drawing/2014/main" id="{8350C434-115D-47CC-BC6C-15D77DB9AAD8}"/>
              </a:ext>
            </a:extLst>
          </p:cNvPr>
          <p:cNvSpPr>
            <a:spLocks noGrp="1"/>
          </p:cNvSpPr>
          <p:nvPr/>
        </p:nvSpPr>
        <p:spPr>
          <a:xfrm>
            <a:off x="5038725" y="1724025"/>
            <a:ext cx="2209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dirty="0" err="1">
                <a:solidFill>
                  <a:srgbClr val="17202A"/>
                </a:solidFill>
                <a:latin typeface="Microsoft YaHei"/>
                <a:ea typeface="Microsoft YaHei"/>
                <a:cs typeface="Microsoft YaHei"/>
              </a:rPr>
              <a:t>作者</a:t>
            </a:r>
            <a:r>
              <a:rPr sz="1350" b="1" dirty="0">
                <a:solidFill>
                  <a:srgbClr val="17202A"/>
                </a:solidFill>
                <a:latin typeface="Microsoft YaHei"/>
                <a:ea typeface="Microsoft YaHei"/>
                <a:cs typeface="Microsoft YaHei"/>
              </a:rPr>
              <a:t>/</a:t>
            </a:r>
            <a:r>
              <a:rPr sz="1350" b="1" dirty="0" err="1">
                <a:solidFill>
                  <a:srgbClr val="17202A"/>
                </a:solidFill>
                <a:latin typeface="Microsoft YaHei"/>
                <a:ea typeface="Microsoft YaHei"/>
                <a:cs typeface="Microsoft YaHei"/>
              </a:rPr>
              <a:t>编辑端</a:t>
            </a:r>
            <a:endParaRPr sz="1350" b="1" dirty="0">
              <a:solidFill>
                <a:srgbClr val="17202A"/>
              </a:solidFill>
              <a:latin typeface="Microsoft YaHei"/>
              <a:ea typeface="Microsoft YaHei"/>
              <a:cs typeface="Microsoft YaHei"/>
            </a:endParaRPr>
          </a:p>
        </p:txBody>
      </p:sp>
      <p:sp>
        <p:nvSpPr>
          <p:cNvPr id="16" name="矩形 15">
            <a:extLst>
              <a:ext uri="{FF2B5EF4-FFF2-40B4-BE49-F238E27FC236}">
                <a16:creationId xmlns:a16="http://schemas.microsoft.com/office/drawing/2014/main" id="{A2519E8B-9F67-45D9-BFF9-24AC854C68D5}"/>
              </a:ext>
            </a:extLst>
          </p:cNvPr>
          <p:cNvSpPr>
            <a:spLocks noGrp="1"/>
          </p:cNvSpPr>
          <p:nvPr/>
        </p:nvSpPr>
        <p:spPr>
          <a:xfrm>
            <a:off x="5038725" y="2000250"/>
            <a:ext cx="2209800" cy="4191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作品发布、章节更新、内容审核、作者运营</a:t>
            </a:r>
          </a:p>
        </p:txBody>
      </p:sp>
      <p:sp>
        <p:nvSpPr>
          <p:cNvPr id="17" name="矩形 16">
            <a:extLst>
              <a:ext uri="{FF2B5EF4-FFF2-40B4-BE49-F238E27FC236}">
                <a16:creationId xmlns:a16="http://schemas.microsoft.com/office/drawing/2014/main" id="{D59788F1-907D-43BD-A5E6-6B734C06685C}"/>
              </a:ext>
            </a:extLst>
          </p:cNvPr>
          <p:cNvSpPr>
            <a:spLocks noGrp="1"/>
          </p:cNvSpPr>
          <p:nvPr/>
        </p:nvSpPr>
        <p:spPr>
          <a:xfrm>
            <a:off x="8105775" y="1581150"/>
            <a:ext cx="2476500" cy="914400"/>
          </a:xfrm>
          <a:prstGeom prst="rect">
            <a:avLst/>
          </a:prstGeom>
          <a:solidFill>
            <a:srgbClr val="FFFFFF"/>
          </a:solidFill>
          <a:ln w="9525">
            <a:solidFill>
              <a:srgbClr val="D8D1C4"/>
            </a:solidFill>
          </a:ln>
        </p:spPr>
        <p:txBody>
          <a:bodyPr lIns="114300" tIns="95250" rIns="114300" bIns="95250" anchor="ctr"/>
          <a:lstStyle/>
          <a:p>
            <a:endParaRPr/>
          </a:p>
        </p:txBody>
      </p:sp>
      <p:sp>
        <p:nvSpPr>
          <p:cNvPr id="18" name="矩形 17">
            <a:extLst>
              <a:ext uri="{FF2B5EF4-FFF2-40B4-BE49-F238E27FC236}">
                <a16:creationId xmlns:a16="http://schemas.microsoft.com/office/drawing/2014/main" id="{73A2F522-7179-4B0A-A13E-30A269B718A8}"/>
              </a:ext>
            </a:extLst>
          </p:cNvPr>
          <p:cNvSpPr>
            <a:spLocks noGrp="1"/>
          </p:cNvSpPr>
          <p:nvPr/>
        </p:nvSpPr>
        <p:spPr>
          <a:xfrm>
            <a:off x="8105775" y="1581150"/>
            <a:ext cx="2476500" cy="57150"/>
          </a:xfrm>
          <a:prstGeom prst="rect">
            <a:avLst/>
          </a:prstGeom>
          <a:solidFill>
            <a:srgbClr val="B2832F"/>
          </a:solidFill>
          <a:ln w="0">
            <a:solidFill>
              <a:srgbClr val="B2832F"/>
            </a:solidFill>
          </a:ln>
        </p:spPr>
      </p:sp>
      <p:sp>
        <p:nvSpPr>
          <p:cNvPr id="19" name="矩形 18">
            <a:extLst>
              <a:ext uri="{FF2B5EF4-FFF2-40B4-BE49-F238E27FC236}">
                <a16:creationId xmlns:a16="http://schemas.microsoft.com/office/drawing/2014/main" id="{922D1589-B92B-4372-BD56-F9BA524EFE22}"/>
              </a:ext>
            </a:extLst>
          </p:cNvPr>
          <p:cNvSpPr>
            <a:spLocks noGrp="1"/>
          </p:cNvSpPr>
          <p:nvPr/>
        </p:nvSpPr>
        <p:spPr>
          <a:xfrm>
            <a:off x="8239125" y="1724025"/>
            <a:ext cx="2209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运营/商业端</a:t>
            </a:r>
          </a:p>
        </p:txBody>
      </p:sp>
      <p:sp>
        <p:nvSpPr>
          <p:cNvPr id="20" name="矩形 19">
            <a:extLst>
              <a:ext uri="{FF2B5EF4-FFF2-40B4-BE49-F238E27FC236}">
                <a16:creationId xmlns:a16="http://schemas.microsoft.com/office/drawing/2014/main" id="{84345B2C-BC75-4745-A317-19E91DD05911}"/>
              </a:ext>
            </a:extLst>
          </p:cNvPr>
          <p:cNvSpPr>
            <a:spLocks noGrp="1"/>
          </p:cNvSpPr>
          <p:nvPr/>
        </p:nvSpPr>
        <p:spPr>
          <a:xfrm>
            <a:off x="8239125" y="2000250"/>
            <a:ext cx="2209800" cy="4191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dirty="0" err="1">
                <a:solidFill>
                  <a:srgbClr val="5C6670"/>
                </a:solidFill>
                <a:latin typeface="Microsoft YaHei"/>
                <a:ea typeface="Microsoft YaHei"/>
                <a:cs typeface="Microsoft YaHei"/>
              </a:rPr>
              <a:t>榜单活动、广告投放、版权</a:t>
            </a:r>
            <a:r>
              <a:rPr sz="938" dirty="0">
                <a:solidFill>
                  <a:srgbClr val="5C6670"/>
                </a:solidFill>
                <a:latin typeface="Microsoft YaHei"/>
                <a:ea typeface="Microsoft YaHei"/>
                <a:cs typeface="Microsoft YaHei"/>
              </a:rPr>
              <a:t>/</a:t>
            </a:r>
            <a:r>
              <a:rPr sz="938" dirty="0" err="1">
                <a:solidFill>
                  <a:srgbClr val="5C6670"/>
                </a:solidFill>
                <a:latin typeface="Microsoft YaHei"/>
                <a:ea typeface="Microsoft YaHei"/>
                <a:cs typeface="Microsoft YaHei"/>
              </a:rPr>
              <a:t>IP、客服风控</a:t>
            </a:r>
            <a:endParaRPr sz="938" dirty="0">
              <a:solidFill>
                <a:srgbClr val="5C6670"/>
              </a:solidFill>
              <a:latin typeface="Microsoft YaHei"/>
              <a:ea typeface="Microsoft YaHei"/>
              <a:cs typeface="Microsoft YaHei"/>
            </a:endParaRPr>
          </a:p>
        </p:txBody>
      </p:sp>
      <p:sp>
        <p:nvSpPr>
          <p:cNvPr id="21" name="箭头: 右 20">
            <a:extLst>
              <a:ext uri="{FF2B5EF4-FFF2-40B4-BE49-F238E27FC236}">
                <a16:creationId xmlns:a16="http://schemas.microsoft.com/office/drawing/2014/main" id="{B0297A87-4762-4614-B967-60CEB8D1F773}"/>
              </a:ext>
            </a:extLst>
          </p:cNvPr>
          <p:cNvSpPr>
            <a:spLocks noGrp="1"/>
          </p:cNvSpPr>
          <p:nvPr/>
        </p:nvSpPr>
        <p:spPr>
          <a:xfrm>
            <a:off x="4362450" y="1981200"/>
            <a:ext cx="361950" cy="190500"/>
          </a:xfrm>
          <a:prstGeom prst="rightArrow">
            <a:avLst/>
          </a:prstGeom>
          <a:solidFill>
            <a:srgbClr val="D8D1C4"/>
          </a:solidFill>
          <a:ln w="0">
            <a:solidFill>
              <a:srgbClr val="D8D1C4"/>
            </a:solidFill>
          </a:ln>
        </p:spPr>
      </p:sp>
      <p:sp>
        <p:nvSpPr>
          <p:cNvPr id="22" name="箭头: 右 21">
            <a:extLst>
              <a:ext uri="{FF2B5EF4-FFF2-40B4-BE49-F238E27FC236}">
                <a16:creationId xmlns:a16="http://schemas.microsoft.com/office/drawing/2014/main" id="{2E1A54A1-47CE-497C-86D0-312E7F1BC1FF}"/>
              </a:ext>
            </a:extLst>
          </p:cNvPr>
          <p:cNvSpPr>
            <a:spLocks noGrp="1"/>
          </p:cNvSpPr>
          <p:nvPr/>
        </p:nvSpPr>
        <p:spPr>
          <a:xfrm>
            <a:off x="7562850" y="1981200"/>
            <a:ext cx="361950" cy="190500"/>
          </a:xfrm>
          <a:prstGeom prst="rightArrow">
            <a:avLst/>
          </a:prstGeom>
          <a:solidFill>
            <a:srgbClr val="D8D1C4"/>
          </a:solidFill>
          <a:ln w="0">
            <a:solidFill>
              <a:srgbClr val="D8D1C4"/>
            </a:solidFill>
          </a:ln>
        </p:spPr>
      </p:sp>
      <p:sp>
        <p:nvSpPr>
          <p:cNvPr id="23" name="矩形 22">
            <a:extLst>
              <a:ext uri="{FF2B5EF4-FFF2-40B4-BE49-F238E27FC236}">
                <a16:creationId xmlns:a16="http://schemas.microsoft.com/office/drawing/2014/main" id="{3E46C222-75DB-4B8A-8232-2123E8893495}"/>
              </a:ext>
            </a:extLst>
          </p:cNvPr>
          <p:cNvSpPr>
            <a:spLocks noGrp="1"/>
          </p:cNvSpPr>
          <p:nvPr/>
        </p:nvSpPr>
        <p:spPr>
          <a:xfrm>
            <a:off x="1581150" y="2971800"/>
            <a:ext cx="9144000" cy="628650"/>
          </a:xfrm>
          <a:prstGeom prst="rect">
            <a:avLst/>
          </a:prstGeom>
          <a:solidFill>
            <a:srgbClr val="E8F1EF"/>
          </a:solidFill>
          <a:ln w="9525">
            <a:solidFill>
              <a:srgbClr val="D8D1C4"/>
            </a:solidFill>
          </a:ln>
        </p:spPr>
        <p:txBody>
          <a:bodyPr lIns="114300" tIns="95250" rIns="114300" bIns="95250" anchor="ctr"/>
          <a:lstStyle/>
          <a:p>
            <a:endParaRPr/>
          </a:p>
        </p:txBody>
      </p:sp>
      <p:sp>
        <p:nvSpPr>
          <p:cNvPr id="24" name="矩形 23">
            <a:extLst>
              <a:ext uri="{FF2B5EF4-FFF2-40B4-BE49-F238E27FC236}">
                <a16:creationId xmlns:a16="http://schemas.microsoft.com/office/drawing/2014/main" id="{978BE527-949F-48D3-8309-85459431A04B}"/>
              </a:ext>
            </a:extLst>
          </p:cNvPr>
          <p:cNvSpPr>
            <a:spLocks noGrp="1"/>
          </p:cNvSpPr>
          <p:nvPr/>
        </p:nvSpPr>
        <p:spPr>
          <a:xfrm>
            <a:off x="1581150" y="2971800"/>
            <a:ext cx="9144000" cy="57150"/>
          </a:xfrm>
          <a:prstGeom prst="rect">
            <a:avLst/>
          </a:prstGeom>
          <a:solidFill>
            <a:srgbClr val="287D79"/>
          </a:solidFill>
          <a:ln w="0">
            <a:solidFill>
              <a:srgbClr val="287D79"/>
            </a:solidFill>
          </a:ln>
        </p:spPr>
      </p:sp>
      <p:sp>
        <p:nvSpPr>
          <p:cNvPr id="25" name="矩形 24">
            <a:extLst>
              <a:ext uri="{FF2B5EF4-FFF2-40B4-BE49-F238E27FC236}">
                <a16:creationId xmlns:a16="http://schemas.microsoft.com/office/drawing/2014/main" id="{6400C9BF-8CF4-4970-8AA7-509BD5F28378}"/>
              </a:ext>
            </a:extLst>
          </p:cNvPr>
          <p:cNvSpPr>
            <a:spLocks noGrp="1"/>
          </p:cNvSpPr>
          <p:nvPr/>
        </p:nvSpPr>
        <p:spPr>
          <a:xfrm>
            <a:off x="1714500" y="3114675"/>
            <a:ext cx="8877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接入与安全层</a:t>
            </a:r>
          </a:p>
        </p:txBody>
      </p:sp>
      <p:sp>
        <p:nvSpPr>
          <p:cNvPr id="26" name="矩形 25">
            <a:extLst>
              <a:ext uri="{FF2B5EF4-FFF2-40B4-BE49-F238E27FC236}">
                <a16:creationId xmlns:a16="http://schemas.microsoft.com/office/drawing/2014/main" id="{04377FF0-2270-4735-9319-F381534CF28B}"/>
              </a:ext>
            </a:extLst>
          </p:cNvPr>
          <p:cNvSpPr>
            <a:spLocks noGrp="1"/>
          </p:cNvSpPr>
          <p:nvPr/>
        </p:nvSpPr>
        <p:spPr>
          <a:xfrm>
            <a:off x="1714500" y="3390900"/>
            <a:ext cx="8877300" cy="1333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CDN / WAF / API 网关 / 鉴权 / 限流 / 灰度发布</a:t>
            </a:r>
          </a:p>
        </p:txBody>
      </p:sp>
      <p:sp>
        <p:nvSpPr>
          <p:cNvPr id="27" name="矩形 26">
            <a:extLst>
              <a:ext uri="{FF2B5EF4-FFF2-40B4-BE49-F238E27FC236}">
                <a16:creationId xmlns:a16="http://schemas.microsoft.com/office/drawing/2014/main" id="{19901621-76F1-41ED-B0E9-245EA5FC1DC7}"/>
              </a:ext>
            </a:extLst>
          </p:cNvPr>
          <p:cNvSpPr>
            <a:spLocks noGrp="1"/>
          </p:cNvSpPr>
          <p:nvPr/>
        </p:nvSpPr>
        <p:spPr>
          <a:xfrm>
            <a:off x="933450" y="4038600"/>
            <a:ext cx="2000250" cy="361950"/>
          </a:xfrm>
          <a:prstGeom prst="rect">
            <a:avLst/>
          </a:prstGeom>
          <a:solidFill>
            <a:srgbClr val="FFFDF8"/>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用户服务</a:t>
            </a:r>
          </a:p>
        </p:txBody>
      </p:sp>
      <p:sp>
        <p:nvSpPr>
          <p:cNvPr id="28" name="矩形 27">
            <a:extLst>
              <a:ext uri="{FF2B5EF4-FFF2-40B4-BE49-F238E27FC236}">
                <a16:creationId xmlns:a16="http://schemas.microsoft.com/office/drawing/2014/main" id="{17CDA053-AA41-4D23-9353-E45C83398309}"/>
              </a:ext>
            </a:extLst>
          </p:cNvPr>
          <p:cNvSpPr>
            <a:spLocks noGrp="1"/>
          </p:cNvSpPr>
          <p:nvPr/>
        </p:nvSpPr>
        <p:spPr>
          <a:xfrm>
            <a:off x="3648075" y="4038600"/>
            <a:ext cx="2000250" cy="361950"/>
          </a:xfrm>
          <a:prstGeom prst="rect">
            <a:avLst/>
          </a:prstGeom>
          <a:solidFill>
            <a:srgbClr val="FFFFFF"/>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书籍章节</a:t>
            </a:r>
          </a:p>
        </p:txBody>
      </p:sp>
      <p:sp>
        <p:nvSpPr>
          <p:cNvPr id="29" name="矩形 28">
            <a:extLst>
              <a:ext uri="{FF2B5EF4-FFF2-40B4-BE49-F238E27FC236}">
                <a16:creationId xmlns:a16="http://schemas.microsoft.com/office/drawing/2014/main" id="{6CC6CDFC-DF02-4848-8DAE-F342F1B1325D}"/>
              </a:ext>
            </a:extLst>
          </p:cNvPr>
          <p:cNvSpPr>
            <a:spLocks noGrp="1"/>
          </p:cNvSpPr>
          <p:nvPr/>
        </p:nvSpPr>
        <p:spPr>
          <a:xfrm>
            <a:off x="6362700" y="4038600"/>
            <a:ext cx="2000250" cy="361950"/>
          </a:xfrm>
          <a:prstGeom prst="rect">
            <a:avLst/>
          </a:prstGeom>
          <a:solidFill>
            <a:srgbClr val="FFFDF8"/>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书架进度</a:t>
            </a:r>
          </a:p>
        </p:txBody>
      </p:sp>
      <p:sp>
        <p:nvSpPr>
          <p:cNvPr id="30" name="矩形 29">
            <a:extLst>
              <a:ext uri="{FF2B5EF4-FFF2-40B4-BE49-F238E27FC236}">
                <a16:creationId xmlns:a16="http://schemas.microsoft.com/office/drawing/2014/main" id="{B8A76F9C-1483-4D15-842E-5F6B31C4E78B}"/>
              </a:ext>
            </a:extLst>
          </p:cNvPr>
          <p:cNvSpPr>
            <a:spLocks noGrp="1"/>
          </p:cNvSpPr>
          <p:nvPr/>
        </p:nvSpPr>
        <p:spPr>
          <a:xfrm>
            <a:off x="9077325" y="4038600"/>
            <a:ext cx="2000250" cy="361950"/>
          </a:xfrm>
          <a:prstGeom prst="rect">
            <a:avLst/>
          </a:prstGeom>
          <a:solidFill>
            <a:srgbClr val="FFFFFF"/>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搜索服务</a:t>
            </a:r>
          </a:p>
        </p:txBody>
      </p:sp>
      <p:sp>
        <p:nvSpPr>
          <p:cNvPr id="31" name="矩形 30">
            <a:extLst>
              <a:ext uri="{FF2B5EF4-FFF2-40B4-BE49-F238E27FC236}">
                <a16:creationId xmlns:a16="http://schemas.microsoft.com/office/drawing/2014/main" id="{772E24D8-59C0-430C-B49F-7553DAE096B4}"/>
              </a:ext>
            </a:extLst>
          </p:cNvPr>
          <p:cNvSpPr>
            <a:spLocks noGrp="1"/>
          </p:cNvSpPr>
          <p:nvPr/>
        </p:nvSpPr>
        <p:spPr>
          <a:xfrm>
            <a:off x="933450" y="4591050"/>
            <a:ext cx="2000250" cy="361950"/>
          </a:xfrm>
          <a:prstGeom prst="rect">
            <a:avLst/>
          </a:prstGeom>
          <a:solidFill>
            <a:srgbClr val="FFFDF8"/>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评论互动</a:t>
            </a:r>
          </a:p>
        </p:txBody>
      </p:sp>
      <p:sp>
        <p:nvSpPr>
          <p:cNvPr id="32" name="矩形 31">
            <a:extLst>
              <a:ext uri="{FF2B5EF4-FFF2-40B4-BE49-F238E27FC236}">
                <a16:creationId xmlns:a16="http://schemas.microsoft.com/office/drawing/2014/main" id="{B26F343E-0FF3-4A59-B6E8-C8CFB7B17CB9}"/>
              </a:ext>
            </a:extLst>
          </p:cNvPr>
          <p:cNvSpPr>
            <a:spLocks noGrp="1"/>
          </p:cNvSpPr>
          <p:nvPr/>
        </p:nvSpPr>
        <p:spPr>
          <a:xfrm>
            <a:off x="3648075" y="4591050"/>
            <a:ext cx="2000250" cy="361950"/>
          </a:xfrm>
          <a:prstGeom prst="rect">
            <a:avLst/>
          </a:prstGeom>
          <a:solidFill>
            <a:srgbClr val="FFFFFF"/>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广告服务</a:t>
            </a:r>
          </a:p>
        </p:txBody>
      </p:sp>
      <p:sp>
        <p:nvSpPr>
          <p:cNvPr id="33" name="矩形 32">
            <a:extLst>
              <a:ext uri="{FF2B5EF4-FFF2-40B4-BE49-F238E27FC236}">
                <a16:creationId xmlns:a16="http://schemas.microsoft.com/office/drawing/2014/main" id="{7E39B369-23DC-4EC5-A461-3A69F781D5C6}"/>
              </a:ext>
            </a:extLst>
          </p:cNvPr>
          <p:cNvSpPr>
            <a:spLocks noGrp="1"/>
          </p:cNvSpPr>
          <p:nvPr/>
        </p:nvSpPr>
        <p:spPr>
          <a:xfrm>
            <a:off x="6362700" y="4591050"/>
            <a:ext cx="2000250" cy="361950"/>
          </a:xfrm>
          <a:prstGeom prst="rect">
            <a:avLst/>
          </a:prstGeom>
          <a:solidFill>
            <a:srgbClr val="FFFDF8"/>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推荐接口</a:t>
            </a:r>
          </a:p>
        </p:txBody>
      </p:sp>
      <p:sp>
        <p:nvSpPr>
          <p:cNvPr id="34" name="矩形 33">
            <a:extLst>
              <a:ext uri="{FF2B5EF4-FFF2-40B4-BE49-F238E27FC236}">
                <a16:creationId xmlns:a16="http://schemas.microsoft.com/office/drawing/2014/main" id="{273243F8-DE25-4F52-9729-877175A3657D}"/>
              </a:ext>
            </a:extLst>
          </p:cNvPr>
          <p:cNvSpPr>
            <a:spLocks noGrp="1"/>
          </p:cNvSpPr>
          <p:nvPr/>
        </p:nvSpPr>
        <p:spPr>
          <a:xfrm>
            <a:off x="9077325" y="4591050"/>
            <a:ext cx="2000250" cy="361950"/>
          </a:xfrm>
          <a:prstGeom prst="rect">
            <a:avLst/>
          </a:prstGeom>
          <a:solidFill>
            <a:srgbClr val="FFFFFF"/>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作者审核</a:t>
            </a:r>
          </a:p>
        </p:txBody>
      </p:sp>
      <p:sp>
        <p:nvSpPr>
          <p:cNvPr id="35" name="矩形 34">
            <a:extLst>
              <a:ext uri="{FF2B5EF4-FFF2-40B4-BE49-F238E27FC236}">
                <a16:creationId xmlns:a16="http://schemas.microsoft.com/office/drawing/2014/main" id="{855CFAFD-0564-4ECC-9B07-34E3696040F0}"/>
              </a:ext>
            </a:extLst>
          </p:cNvPr>
          <p:cNvSpPr>
            <a:spLocks noGrp="1"/>
          </p:cNvSpPr>
          <p:nvPr/>
        </p:nvSpPr>
        <p:spPr>
          <a:xfrm>
            <a:off x="914400" y="5334000"/>
            <a:ext cx="4476750" cy="723900"/>
          </a:xfrm>
          <a:prstGeom prst="rect">
            <a:avLst/>
          </a:prstGeom>
          <a:solidFill>
            <a:srgbClr val="FFFFFF"/>
          </a:solidFill>
          <a:ln w="9525">
            <a:solidFill>
              <a:srgbClr val="D8D1C4"/>
            </a:solidFill>
          </a:ln>
        </p:spPr>
        <p:txBody>
          <a:bodyPr lIns="114300" tIns="95250" rIns="114300" bIns="95250" anchor="ctr"/>
          <a:lstStyle/>
          <a:p>
            <a:endParaRPr/>
          </a:p>
        </p:txBody>
      </p:sp>
      <p:sp>
        <p:nvSpPr>
          <p:cNvPr id="36" name="矩形 35">
            <a:extLst>
              <a:ext uri="{FF2B5EF4-FFF2-40B4-BE49-F238E27FC236}">
                <a16:creationId xmlns:a16="http://schemas.microsoft.com/office/drawing/2014/main" id="{276F5948-A588-4ED9-A081-50EC222DC965}"/>
              </a:ext>
            </a:extLst>
          </p:cNvPr>
          <p:cNvSpPr>
            <a:spLocks noGrp="1"/>
          </p:cNvSpPr>
          <p:nvPr/>
        </p:nvSpPr>
        <p:spPr>
          <a:xfrm>
            <a:off x="914400" y="5334000"/>
            <a:ext cx="4476750" cy="57150"/>
          </a:xfrm>
          <a:prstGeom prst="rect">
            <a:avLst/>
          </a:prstGeom>
          <a:solidFill>
            <a:srgbClr val="315C97"/>
          </a:solidFill>
          <a:ln w="0">
            <a:solidFill>
              <a:srgbClr val="315C97"/>
            </a:solidFill>
          </a:ln>
        </p:spPr>
      </p:sp>
      <p:sp>
        <p:nvSpPr>
          <p:cNvPr id="37" name="矩形 36">
            <a:extLst>
              <a:ext uri="{FF2B5EF4-FFF2-40B4-BE49-F238E27FC236}">
                <a16:creationId xmlns:a16="http://schemas.microsoft.com/office/drawing/2014/main" id="{DF919BDB-1C06-4B3C-8938-141A45CEBFE9}"/>
              </a:ext>
            </a:extLst>
          </p:cNvPr>
          <p:cNvSpPr>
            <a:spLocks noGrp="1"/>
          </p:cNvSpPr>
          <p:nvPr/>
        </p:nvSpPr>
        <p:spPr>
          <a:xfrm>
            <a:off x="1047750" y="5476875"/>
            <a:ext cx="42100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OLTP 基础数据</a:t>
            </a:r>
          </a:p>
        </p:txBody>
      </p:sp>
      <p:sp>
        <p:nvSpPr>
          <p:cNvPr id="38" name="矩形 37">
            <a:extLst>
              <a:ext uri="{FF2B5EF4-FFF2-40B4-BE49-F238E27FC236}">
                <a16:creationId xmlns:a16="http://schemas.microsoft.com/office/drawing/2014/main" id="{E6D405A7-84F1-48C3-A765-815BEA3EFD9C}"/>
              </a:ext>
            </a:extLst>
          </p:cNvPr>
          <p:cNvSpPr>
            <a:spLocks noGrp="1"/>
          </p:cNvSpPr>
          <p:nvPr/>
        </p:nvSpPr>
        <p:spPr>
          <a:xfrm>
            <a:off x="1047750" y="5753100"/>
            <a:ext cx="4210050" cy="952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业务数据库、缓存、搜索索引、章节内容存储、消息队列</a:t>
            </a:r>
          </a:p>
        </p:txBody>
      </p:sp>
      <p:sp>
        <p:nvSpPr>
          <p:cNvPr id="39" name="矩形 38">
            <a:extLst>
              <a:ext uri="{FF2B5EF4-FFF2-40B4-BE49-F238E27FC236}">
                <a16:creationId xmlns:a16="http://schemas.microsoft.com/office/drawing/2014/main" id="{60DA02E1-41E7-462B-923E-1786935EBFD6}"/>
              </a:ext>
            </a:extLst>
          </p:cNvPr>
          <p:cNvSpPr>
            <a:spLocks noGrp="1"/>
          </p:cNvSpPr>
          <p:nvPr/>
        </p:nvSpPr>
        <p:spPr>
          <a:xfrm>
            <a:off x="5905500" y="5334000"/>
            <a:ext cx="5048250" cy="723900"/>
          </a:xfrm>
          <a:prstGeom prst="rect">
            <a:avLst/>
          </a:prstGeom>
          <a:solidFill>
            <a:srgbClr val="FFFFFF"/>
          </a:solidFill>
          <a:ln w="9525">
            <a:solidFill>
              <a:srgbClr val="D8D1C4"/>
            </a:solidFill>
          </a:ln>
        </p:spPr>
        <p:txBody>
          <a:bodyPr lIns="114300" tIns="95250" rIns="114300" bIns="95250" anchor="ctr"/>
          <a:lstStyle/>
          <a:p>
            <a:endParaRPr/>
          </a:p>
        </p:txBody>
      </p:sp>
      <p:sp>
        <p:nvSpPr>
          <p:cNvPr id="40" name="矩形 39">
            <a:extLst>
              <a:ext uri="{FF2B5EF4-FFF2-40B4-BE49-F238E27FC236}">
                <a16:creationId xmlns:a16="http://schemas.microsoft.com/office/drawing/2014/main" id="{4F1AD246-EAC8-4E4F-BB83-FB7607C07F72}"/>
              </a:ext>
            </a:extLst>
          </p:cNvPr>
          <p:cNvSpPr>
            <a:spLocks noGrp="1"/>
          </p:cNvSpPr>
          <p:nvPr/>
        </p:nvSpPr>
        <p:spPr>
          <a:xfrm>
            <a:off x="5905500" y="5334000"/>
            <a:ext cx="5048250" cy="57150"/>
          </a:xfrm>
          <a:prstGeom prst="rect">
            <a:avLst/>
          </a:prstGeom>
          <a:solidFill>
            <a:srgbClr val="E85D4F"/>
          </a:solidFill>
          <a:ln w="0">
            <a:solidFill>
              <a:srgbClr val="E85D4F"/>
            </a:solidFill>
          </a:ln>
        </p:spPr>
      </p:sp>
      <p:sp>
        <p:nvSpPr>
          <p:cNvPr id="41" name="矩形 40">
            <a:extLst>
              <a:ext uri="{FF2B5EF4-FFF2-40B4-BE49-F238E27FC236}">
                <a16:creationId xmlns:a16="http://schemas.microsoft.com/office/drawing/2014/main" id="{2CDE37D2-D452-4D68-85DE-E948D4A7A031}"/>
              </a:ext>
            </a:extLst>
          </p:cNvPr>
          <p:cNvSpPr>
            <a:spLocks noGrp="1"/>
          </p:cNvSpPr>
          <p:nvPr/>
        </p:nvSpPr>
        <p:spPr>
          <a:xfrm>
            <a:off x="6038850" y="5476875"/>
            <a:ext cx="4781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大数据/数仓平台</a:t>
            </a:r>
          </a:p>
        </p:txBody>
      </p:sp>
      <p:sp>
        <p:nvSpPr>
          <p:cNvPr id="42" name="矩形 41">
            <a:extLst>
              <a:ext uri="{FF2B5EF4-FFF2-40B4-BE49-F238E27FC236}">
                <a16:creationId xmlns:a16="http://schemas.microsoft.com/office/drawing/2014/main" id="{C960DDF1-D386-4732-8B28-69300150BB1C}"/>
              </a:ext>
            </a:extLst>
          </p:cNvPr>
          <p:cNvSpPr>
            <a:spLocks noGrp="1"/>
          </p:cNvSpPr>
          <p:nvPr/>
        </p:nvSpPr>
        <p:spPr>
          <a:xfrm>
            <a:off x="6038850" y="5753100"/>
            <a:ext cx="4781550" cy="952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日志采集、实时计算、离线数仓、指标服务、BI 看板、推荐/风控特征</a:t>
            </a:r>
          </a:p>
        </p:txBody>
      </p:sp>
      <p:sp>
        <p:nvSpPr>
          <p:cNvPr id="43" name="箭头: 右 42">
            <a:extLst>
              <a:ext uri="{FF2B5EF4-FFF2-40B4-BE49-F238E27FC236}">
                <a16:creationId xmlns:a16="http://schemas.microsoft.com/office/drawing/2014/main" id="{1CD20EF2-1333-4E8A-936C-7DA29684A61E}"/>
              </a:ext>
            </a:extLst>
          </p:cNvPr>
          <p:cNvSpPr>
            <a:spLocks noGrp="1"/>
          </p:cNvSpPr>
          <p:nvPr/>
        </p:nvSpPr>
        <p:spPr>
          <a:xfrm>
            <a:off x="5448300" y="5581650"/>
            <a:ext cx="400050" cy="190500"/>
          </a:xfrm>
          <a:prstGeom prst="rightArrow">
            <a:avLst/>
          </a:prstGeom>
          <a:solidFill>
            <a:srgbClr val="D8D1C4"/>
          </a:solidFill>
          <a:ln w="0">
            <a:solidFill>
              <a:srgbClr val="D8D1C4"/>
            </a:solidFill>
          </a:ln>
        </p:spPr>
      </p:sp>
    </p:spTree>
    <p:extLst>
      <p:ext uri="{BB962C8B-B14F-4D97-AF65-F5344CB8AC3E}">
        <p14:creationId xmlns:p14="http://schemas.microsoft.com/office/powerpoint/2010/main" val="1197531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a:extLst>
              <a:ext uri="{FF2B5EF4-FFF2-40B4-BE49-F238E27FC236}">
                <a16:creationId xmlns:a16="http://schemas.microsoft.com/office/drawing/2014/main" id="{73A30DDB-4F7B-4F7B-A761-501E829F38C0}"/>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D97EF88C-17B8-4415-A935-A3BAC512A9EB}"/>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3D404329-7A6B-4F57-88E4-612E69E83B24}"/>
              </a:ext>
            </a:extLst>
          </p:cNvPr>
          <p:cNvSpPr>
            <a:spLocks noGrp="1"/>
          </p:cNvSpPr>
          <p:nvPr/>
        </p:nvSpPr>
        <p:spPr>
          <a:xfrm>
            <a:off x="419100" y="6496050"/>
            <a:ext cx="9334500" cy="228600"/>
          </a:xfrm>
          <a:prstGeom prst="rect">
            <a:avLst/>
          </a:prstGeom>
          <a:noFill/>
        </p:spPr>
        <p:txBody>
          <a:bodyPr lIns="76200" tIns="38100" rIns="76200" bIns="38100" anchor="t"/>
          <a:lstStyle/>
          <a:p>
            <a:pPr algn="l">
              <a:defRPr sz="713">
                <a:solidFill>
                  <a:srgbClr val="5C6670"/>
                </a:solidFill>
                <a:latin typeface="Microsoft YaHei"/>
                <a:ea typeface="Microsoft YaHei"/>
                <a:cs typeface="Microsoft YaHei"/>
              </a:defRPr>
            </a:pPr>
            <a:r>
              <a:rPr sz="713">
                <a:solidFill>
                  <a:srgbClr val="5C6670"/>
                </a:solidFill>
                <a:latin typeface="Microsoft YaHei"/>
                <a:ea typeface="Microsoft YaHei"/>
                <a:cs typeface="Microsoft YaHei"/>
              </a:rPr>
              <a:t>Architecture: course analysis based on common large-scale online-reading/content-platform patterns.</a:t>
            </a:r>
          </a:p>
        </p:txBody>
      </p:sp>
      <p:sp>
        <p:nvSpPr>
          <p:cNvPr id="4" name="矩形 3">
            <a:extLst>
              <a:ext uri="{FF2B5EF4-FFF2-40B4-BE49-F238E27FC236}">
                <a16:creationId xmlns:a16="http://schemas.microsoft.com/office/drawing/2014/main" id="{2BCC268A-F376-4971-BEFC-2DA4D80E0599}"/>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dirty="0">
                <a:solidFill>
                  <a:srgbClr val="5C6670"/>
                </a:solidFill>
                <a:latin typeface="Segoe UI"/>
                <a:ea typeface="Segoe UI"/>
                <a:cs typeface="Segoe UI"/>
              </a:rPr>
              <a:t>0</a:t>
            </a:r>
            <a:r>
              <a:rPr lang="en-US" sz="975" dirty="0">
                <a:solidFill>
                  <a:srgbClr val="5C6670"/>
                </a:solidFill>
                <a:latin typeface="Segoe UI"/>
                <a:ea typeface="Segoe UI"/>
                <a:cs typeface="Segoe UI"/>
              </a:rPr>
              <a:t>5</a:t>
            </a:r>
            <a:endParaRPr sz="975" dirty="0">
              <a:solidFill>
                <a:srgbClr val="5C6670"/>
              </a:solidFill>
              <a:latin typeface="Segoe UI"/>
              <a:ea typeface="Segoe UI"/>
              <a:cs typeface="Segoe UI"/>
            </a:endParaRPr>
          </a:p>
        </p:txBody>
      </p:sp>
      <p:sp>
        <p:nvSpPr>
          <p:cNvPr id="5" name="椭圆 4">
            <a:extLst>
              <a:ext uri="{FF2B5EF4-FFF2-40B4-BE49-F238E27FC236}">
                <a16:creationId xmlns:a16="http://schemas.microsoft.com/office/drawing/2014/main" id="{E223A661-0817-4523-A373-AC0433C41027}"/>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997C7974-649B-447B-9058-ACFCC77BA9E9}"/>
              </a:ext>
            </a:extLst>
          </p:cNvPr>
          <p:cNvSpPr>
            <a:spLocks noGrp="1"/>
          </p:cNvSpPr>
          <p:nvPr/>
        </p:nvSpPr>
        <p:spPr>
          <a:xfrm>
            <a:off x="647700" y="457200"/>
            <a:ext cx="2000250" cy="228600"/>
          </a:xfrm>
          <a:prstGeom prst="rect">
            <a:avLst/>
          </a:prstGeom>
          <a:noFill/>
        </p:spPr>
        <p:txBody>
          <a:bodyPr lIns="76200" tIns="38100" rIns="76200" bIns="38100" anchor="ctr"/>
          <a:lstStyle/>
          <a:p>
            <a:pPr algn="l">
              <a:defRPr sz="900">
                <a:solidFill>
                  <a:srgbClr val="B83D34"/>
                </a:solidFill>
                <a:latin typeface="Segoe UI"/>
                <a:ea typeface="Segoe UI"/>
                <a:cs typeface="Segoe UI"/>
              </a:defRPr>
            </a:pPr>
            <a:r>
              <a:rPr sz="900" b="1">
                <a:solidFill>
                  <a:srgbClr val="B83D34"/>
                </a:solidFill>
                <a:latin typeface="Segoe UI"/>
                <a:ea typeface="Segoe UI"/>
                <a:cs typeface="Segoe UI"/>
              </a:rPr>
              <a:t>OLTP ARCHITECTURE</a:t>
            </a:r>
          </a:p>
        </p:txBody>
      </p:sp>
      <p:sp>
        <p:nvSpPr>
          <p:cNvPr id="7" name="矩形 6">
            <a:extLst>
              <a:ext uri="{FF2B5EF4-FFF2-40B4-BE49-F238E27FC236}">
                <a16:creationId xmlns:a16="http://schemas.microsoft.com/office/drawing/2014/main" id="{C94FD96C-E75D-4CC1-9B88-8D16D3A6AB0B}"/>
              </a:ext>
            </a:extLst>
          </p:cNvPr>
          <p:cNvSpPr>
            <a:spLocks noGrp="1"/>
          </p:cNvSpPr>
          <p:nvPr/>
        </p:nvSpPr>
        <p:spPr>
          <a:xfrm>
            <a:off x="495300" y="723900"/>
            <a:ext cx="9906000" cy="495300"/>
          </a:xfrm>
          <a:prstGeom prst="rect">
            <a:avLst/>
          </a:prstGeom>
          <a:noFill/>
        </p:spPr>
        <p:txBody>
          <a:bodyPr lIns="76200" tIns="38100" rIns="76200" bIns="38100" anchor="t"/>
          <a:lstStyle/>
          <a:p>
            <a:pPr algn="l">
              <a:defRPr sz="2400">
                <a:solidFill>
                  <a:srgbClr val="17202A"/>
                </a:solidFill>
                <a:latin typeface="Microsoft YaHei"/>
                <a:ea typeface="Microsoft YaHei"/>
                <a:cs typeface="Microsoft YaHei"/>
              </a:defRPr>
            </a:pPr>
            <a:r>
              <a:rPr sz="2400" b="1">
                <a:solidFill>
                  <a:srgbClr val="17202A"/>
                </a:solidFill>
                <a:latin typeface="Microsoft YaHei"/>
                <a:ea typeface="Microsoft YaHei"/>
                <a:cs typeface="Microsoft YaHei"/>
              </a:rPr>
              <a:t>核心业务系统需要把阅读体验、数据一致性和高并发访问拆开治理</a:t>
            </a:r>
          </a:p>
        </p:txBody>
      </p:sp>
      <p:sp>
        <p:nvSpPr>
          <p:cNvPr id="8" name="直接连接符 7">
            <a:extLst>
              <a:ext uri="{FF2B5EF4-FFF2-40B4-BE49-F238E27FC236}">
                <a16:creationId xmlns:a16="http://schemas.microsoft.com/office/drawing/2014/main" id="{545C1C26-13EC-4735-9DF0-A2B0C4531526}"/>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B886160F-AE54-4985-97FE-50687E056BD7}"/>
              </a:ext>
            </a:extLst>
          </p:cNvPr>
          <p:cNvSpPr>
            <a:spLocks noGrp="1"/>
          </p:cNvSpPr>
          <p:nvPr/>
        </p:nvSpPr>
        <p:spPr>
          <a:xfrm>
            <a:off x="628650" y="1524000"/>
            <a:ext cx="10763250" cy="552450"/>
          </a:xfrm>
          <a:prstGeom prst="rect">
            <a:avLst/>
          </a:prstGeom>
          <a:solidFill>
            <a:srgbClr val="FBEDE8"/>
          </a:solidFill>
          <a:ln w="9525">
            <a:solidFill>
              <a:srgbClr val="D8D1C4"/>
            </a:solidFill>
          </a:ln>
        </p:spPr>
      </p:sp>
      <p:sp>
        <p:nvSpPr>
          <p:cNvPr id="10" name="矩形 9">
            <a:extLst>
              <a:ext uri="{FF2B5EF4-FFF2-40B4-BE49-F238E27FC236}">
                <a16:creationId xmlns:a16="http://schemas.microsoft.com/office/drawing/2014/main" id="{77D16F49-F290-4153-88C5-6A0FEE127ABE}"/>
              </a:ext>
            </a:extLst>
          </p:cNvPr>
          <p:cNvSpPr>
            <a:spLocks noGrp="1"/>
          </p:cNvSpPr>
          <p:nvPr/>
        </p:nvSpPr>
        <p:spPr>
          <a:xfrm>
            <a:off x="781050" y="1666875"/>
            <a:ext cx="1143000" cy="247650"/>
          </a:xfrm>
          <a:prstGeom prst="rect">
            <a:avLst/>
          </a:prstGeom>
          <a:noFill/>
        </p:spPr>
        <p:txBody>
          <a:bodyPr lIns="76200" tIns="38100" rIns="76200" bIns="38100" anchor="t"/>
          <a:lstStyle/>
          <a:p>
            <a:pPr algn="l">
              <a:defRPr sz="1200">
                <a:solidFill>
                  <a:srgbClr val="5C6670"/>
                </a:solidFill>
                <a:latin typeface="Microsoft YaHei"/>
                <a:ea typeface="Microsoft YaHei"/>
                <a:cs typeface="Microsoft YaHei"/>
              </a:defRPr>
            </a:pPr>
            <a:r>
              <a:rPr sz="1200" b="1">
                <a:solidFill>
                  <a:srgbClr val="5C6670"/>
                </a:solidFill>
                <a:latin typeface="Microsoft YaHei"/>
                <a:ea typeface="Microsoft YaHei"/>
                <a:cs typeface="Microsoft YaHei"/>
              </a:rPr>
              <a:t>用户入口</a:t>
            </a:r>
          </a:p>
        </p:txBody>
      </p:sp>
      <p:sp>
        <p:nvSpPr>
          <p:cNvPr id="11" name="矩形 10">
            <a:extLst>
              <a:ext uri="{FF2B5EF4-FFF2-40B4-BE49-F238E27FC236}">
                <a16:creationId xmlns:a16="http://schemas.microsoft.com/office/drawing/2014/main" id="{0182985E-C8E5-4E5A-B08F-751FAF82DA37}"/>
              </a:ext>
            </a:extLst>
          </p:cNvPr>
          <p:cNvSpPr>
            <a:spLocks noGrp="1"/>
          </p:cNvSpPr>
          <p:nvPr/>
        </p:nvSpPr>
        <p:spPr>
          <a:xfrm>
            <a:off x="628650" y="2190750"/>
            <a:ext cx="10763250" cy="552450"/>
          </a:xfrm>
          <a:prstGeom prst="rect">
            <a:avLst/>
          </a:prstGeom>
          <a:solidFill>
            <a:srgbClr val="FFFDF8"/>
          </a:solidFill>
          <a:ln w="9525">
            <a:solidFill>
              <a:srgbClr val="D8D1C4"/>
            </a:solidFill>
          </a:ln>
        </p:spPr>
      </p:sp>
      <p:sp>
        <p:nvSpPr>
          <p:cNvPr id="12" name="矩形 11">
            <a:extLst>
              <a:ext uri="{FF2B5EF4-FFF2-40B4-BE49-F238E27FC236}">
                <a16:creationId xmlns:a16="http://schemas.microsoft.com/office/drawing/2014/main" id="{78CED382-7DDF-47F2-9414-44AEE7CCD730}"/>
              </a:ext>
            </a:extLst>
          </p:cNvPr>
          <p:cNvSpPr>
            <a:spLocks noGrp="1"/>
          </p:cNvSpPr>
          <p:nvPr/>
        </p:nvSpPr>
        <p:spPr>
          <a:xfrm>
            <a:off x="781050" y="2333625"/>
            <a:ext cx="1143000" cy="247650"/>
          </a:xfrm>
          <a:prstGeom prst="rect">
            <a:avLst/>
          </a:prstGeom>
          <a:noFill/>
        </p:spPr>
        <p:txBody>
          <a:bodyPr lIns="76200" tIns="38100" rIns="76200" bIns="38100" anchor="t"/>
          <a:lstStyle/>
          <a:p>
            <a:pPr algn="l">
              <a:defRPr sz="1200">
                <a:solidFill>
                  <a:srgbClr val="5C6670"/>
                </a:solidFill>
                <a:latin typeface="Microsoft YaHei"/>
                <a:ea typeface="Microsoft YaHei"/>
                <a:cs typeface="Microsoft YaHei"/>
              </a:defRPr>
            </a:pPr>
            <a:r>
              <a:rPr sz="1200" b="1">
                <a:solidFill>
                  <a:srgbClr val="5C6670"/>
                </a:solidFill>
                <a:latin typeface="Microsoft YaHei"/>
                <a:ea typeface="Microsoft YaHei"/>
                <a:cs typeface="Microsoft YaHei"/>
              </a:rPr>
              <a:t>接入层</a:t>
            </a:r>
          </a:p>
        </p:txBody>
      </p:sp>
      <p:sp>
        <p:nvSpPr>
          <p:cNvPr id="13" name="矩形 12">
            <a:extLst>
              <a:ext uri="{FF2B5EF4-FFF2-40B4-BE49-F238E27FC236}">
                <a16:creationId xmlns:a16="http://schemas.microsoft.com/office/drawing/2014/main" id="{85D2E76F-99DF-4782-840F-66EA924F4B50}"/>
              </a:ext>
            </a:extLst>
          </p:cNvPr>
          <p:cNvSpPr>
            <a:spLocks noGrp="1"/>
          </p:cNvSpPr>
          <p:nvPr/>
        </p:nvSpPr>
        <p:spPr>
          <a:xfrm>
            <a:off x="628650" y="2933699"/>
            <a:ext cx="10763250" cy="923925"/>
          </a:xfrm>
          <a:prstGeom prst="rect">
            <a:avLst/>
          </a:prstGeom>
          <a:solidFill>
            <a:srgbClr val="FFFFFF"/>
          </a:solidFill>
          <a:ln w="9525">
            <a:solidFill>
              <a:srgbClr val="D8D1C4"/>
            </a:solidFill>
          </a:ln>
        </p:spPr>
      </p:sp>
      <p:sp>
        <p:nvSpPr>
          <p:cNvPr id="14" name="矩形 13">
            <a:extLst>
              <a:ext uri="{FF2B5EF4-FFF2-40B4-BE49-F238E27FC236}">
                <a16:creationId xmlns:a16="http://schemas.microsoft.com/office/drawing/2014/main" id="{945EA8A5-ED9C-459D-BEBF-238ECCD64A5C}"/>
              </a:ext>
            </a:extLst>
          </p:cNvPr>
          <p:cNvSpPr>
            <a:spLocks noGrp="1"/>
          </p:cNvSpPr>
          <p:nvPr/>
        </p:nvSpPr>
        <p:spPr>
          <a:xfrm>
            <a:off x="781050" y="3076575"/>
            <a:ext cx="1143000" cy="247650"/>
          </a:xfrm>
          <a:prstGeom prst="rect">
            <a:avLst/>
          </a:prstGeom>
          <a:noFill/>
        </p:spPr>
        <p:txBody>
          <a:bodyPr lIns="76200" tIns="38100" rIns="76200" bIns="38100" anchor="t"/>
          <a:lstStyle/>
          <a:p>
            <a:pPr algn="l">
              <a:defRPr sz="1200">
                <a:solidFill>
                  <a:srgbClr val="5C6670"/>
                </a:solidFill>
                <a:latin typeface="Microsoft YaHei"/>
                <a:ea typeface="Microsoft YaHei"/>
                <a:cs typeface="Microsoft YaHei"/>
              </a:defRPr>
            </a:pPr>
            <a:r>
              <a:rPr sz="1200" b="1">
                <a:solidFill>
                  <a:srgbClr val="5C6670"/>
                </a:solidFill>
                <a:latin typeface="Microsoft YaHei"/>
                <a:ea typeface="Microsoft YaHei"/>
                <a:cs typeface="Microsoft YaHei"/>
              </a:rPr>
              <a:t>业务服务层</a:t>
            </a:r>
          </a:p>
        </p:txBody>
      </p:sp>
      <p:sp>
        <p:nvSpPr>
          <p:cNvPr id="15" name="矩形 14">
            <a:extLst>
              <a:ext uri="{FF2B5EF4-FFF2-40B4-BE49-F238E27FC236}">
                <a16:creationId xmlns:a16="http://schemas.microsoft.com/office/drawing/2014/main" id="{846C1086-CFC0-4893-80BB-18DFF42C8E30}"/>
              </a:ext>
            </a:extLst>
          </p:cNvPr>
          <p:cNvSpPr>
            <a:spLocks noGrp="1"/>
          </p:cNvSpPr>
          <p:nvPr/>
        </p:nvSpPr>
        <p:spPr>
          <a:xfrm>
            <a:off x="628650" y="4114800"/>
            <a:ext cx="10763250" cy="666750"/>
          </a:xfrm>
          <a:prstGeom prst="rect">
            <a:avLst/>
          </a:prstGeom>
          <a:solidFill>
            <a:srgbClr val="E7F0EE"/>
          </a:solidFill>
          <a:ln w="9525">
            <a:solidFill>
              <a:srgbClr val="D8D1C4"/>
            </a:solidFill>
          </a:ln>
        </p:spPr>
      </p:sp>
      <p:sp>
        <p:nvSpPr>
          <p:cNvPr id="16" name="矩形 15">
            <a:extLst>
              <a:ext uri="{FF2B5EF4-FFF2-40B4-BE49-F238E27FC236}">
                <a16:creationId xmlns:a16="http://schemas.microsoft.com/office/drawing/2014/main" id="{C8D13689-FE72-45B4-AD2C-FCF75CE2374C}"/>
              </a:ext>
            </a:extLst>
          </p:cNvPr>
          <p:cNvSpPr>
            <a:spLocks noGrp="1"/>
          </p:cNvSpPr>
          <p:nvPr/>
        </p:nvSpPr>
        <p:spPr>
          <a:xfrm>
            <a:off x="781050" y="4257675"/>
            <a:ext cx="1143000" cy="247650"/>
          </a:xfrm>
          <a:prstGeom prst="rect">
            <a:avLst/>
          </a:prstGeom>
          <a:noFill/>
        </p:spPr>
        <p:txBody>
          <a:bodyPr lIns="76200" tIns="38100" rIns="76200" bIns="38100" anchor="t"/>
          <a:lstStyle/>
          <a:p>
            <a:pPr algn="l">
              <a:defRPr sz="1200">
                <a:solidFill>
                  <a:srgbClr val="5C6670"/>
                </a:solidFill>
                <a:latin typeface="Microsoft YaHei"/>
                <a:ea typeface="Microsoft YaHei"/>
                <a:cs typeface="Microsoft YaHei"/>
              </a:defRPr>
            </a:pPr>
            <a:r>
              <a:rPr sz="1200" b="1">
                <a:solidFill>
                  <a:srgbClr val="5C6670"/>
                </a:solidFill>
                <a:latin typeface="Microsoft YaHei"/>
                <a:ea typeface="Microsoft YaHei"/>
                <a:cs typeface="Microsoft YaHei"/>
              </a:rPr>
              <a:t>基础中间件</a:t>
            </a:r>
          </a:p>
        </p:txBody>
      </p:sp>
      <p:sp>
        <p:nvSpPr>
          <p:cNvPr id="17" name="矩形 16">
            <a:extLst>
              <a:ext uri="{FF2B5EF4-FFF2-40B4-BE49-F238E27FC236}">
                <a16:creationId xmlns:a16="http://schemas.microsoft.com/office/drawing/2014/main" id="{227B1B18-7C28-4D4B-A546-E29C75BFEDCA}"/>
              </a:ext>
            </a:extLst>
          </p:cNvPr>
          <p:cNvSpPr>
            <a:spLocks noGrp="1"/>
          </p:cNvSpPr>
          <p:nvPr/>
        </p:nvSpPr>
        <p:spPr>
          <a:xfrm>
            <a:off x="628650" y="5010150"/>
            <a:ext cx="10763250" cy="742950"/>
          </a:xfrm>
          <a:prstGeom prst="rect">
            <a:avLst/>
          </a:prstGeom>
          <a:solidFill>
            <a:srgbClr val="EEF2F7"/>
          </a:solidFill>
          <a:ln w="9525">
            <a:solidFill>
              <a:srgbClr val="D8D1C4"/>
            </a:solidFill>
          </a:ln>
        </p:spPr>
      </p:sp>
      <p:sp>
        <p:nvSpPr>
          <p:cNvPr id="18" name="矩形 17">
            <a:extLst>
              <a:ext uri="{FF2B5EF4-FFF2-40B4-BE49-F238E27FC236}">
                <a16:creationId xmlns:a16="http://schemas.microsoft.com/office/drawing/2014/main" id="{CB81A455-A1A2-4F16-B9A9-CEA668DE2659}"/>
              </a:ext>
            </a:extLst>
          </p:cNvPr>
          <p:cNvSpPr>
            <a:spLocks noGrp="1"/>
          </p:cNvSpPr>
          <p:nvPr/>
        </p:nvSpPr>
        <p:spPr>
          <a:xfrm>
            <a:off x="781050" y="5153025"/>
            <a:ext cx="1333500" cy="228601"/>
          </a:xfrm>
          <a:prstGeom prst="rect">
            <a:avLst/>
          </a:prstGeom>
          <a:noFill/>
        </p:spPr>
        <p:txBody>
          <a:bodyPr lIns="76200" tIns="38100" rIns="76200" bIns="38100" anchor="t"/>
          <a:lstStyle/>
          <a:p>
            <a:pPr algn="l">
              <a:defRPr sz="1200">
                <a:solidFill>
                  <a:srgbClr val="5C6670"/>
                </a:solidFill>
                <a:latin typeface="Microsoft YaHei"/>
                <a:ea typeface="Microsoft YaHei"/>
                <a:cs typeface="Microsoft YaHei"/>
              </a:defRPr>
            </a:pPr>
            <a:r>
              <a:rPr sz="1200" b="1" dirty="0" err="1">
                <a:solidFill>
                  <a:srgbClr val="5C6670"/>
                </a:solidFill>
                <a:latin typeface="Microsoft YaHei"/>
                <a:ea typeface="Microsoft YaHei"/>
                <a:cs typeface="Microsoft YaHei"/>
              </a:rPr>
              <a:t>数据与内容存储</a:t>
            </a:r>
            <a:endParaRPr sz="1200" b="1" dirty="0">
              <a:solidFill>
                <a:srgbClr val="5C6670"/>
              </a:solidFill>
              <a:latin typeface="Microsoft YaHei"/>
              <a:ea typeface="Microsoft YaHei"/>
              <a:cs typeface="Microsoft YaHei"/>
            </a:endParaRPr>
          </a:p>
        </p:txBody>
      </p:sp>
      <p:sp>
        <p:nvSpPr>
          <p:cNvPr id="19" name="矩形 18">
            <a:extLst>
              <a:ext uri="{FF2B5EF4-FFF2-40B4-BE49-F238E27FC236}">
                <a16:creationId xmlns:a16="http://schemas.microsoft.com/office/drawing/2014/main" id="{241D8B06-6275-47D6-90B9-1680A391DFDB}"/>
              </a:ext>
            </a:extLst>
          </p:cNvPr>
          <p:cNvSpPr>
            <a:spLocks noGrp="1"/>
          </p:cNvSpPr>
          <p:nvPr/>
        </p:nvSpPr>
        <p:spPr>
          <a:xfrm>
            <a:off x="2190750" y="1657350"/>
            <a:ext cx="895350" cy="26670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a:solidFill>
                  <a:srgbClr val="17202A"/>
                </a:solidFill>
                <a:latin typeface="Microsoft YaHei"/>
                <a:ea typeface="Microsoft YaHei"/>
                <a:cs typeface="Microsoft YaHei"/>
              </a:rPr>
              <a:t>App</a:t>
            </a:r>
          </a:p>
        </p:txBody>
      </p:sp>
      <p:sp>
        <p:nvSpPr>
          <p:cNvPr id="20" name="矩形 19">
            <a:extLst>
              <a:ext uri="{FF2B5EF4-FFF2-40B4-BE49-F238E27FC236}">
                <a16:creationId xmlns:a16="http://schemas.microsoft.com/office/drawing/2014/main" id="{F413CDF8-447F-4DBF-B3D6-BD143EB08F82}"/>
              </a:ext>
            </a:extLst>
          </p:cNvPr>
          <p:cNvSpPr>
            <a:spLocks noGrp="1"/>
          </p:cNvSpPr>
          <p:nvPr/>
        </p:nvSpPr>
        <p:spPr>
          <a:xfrm>
            <a:off x="3333750" y="1657350"/>
            <a:ext cx="895350" cy="26670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a:solidFill>
                  <a:srgbClr val="17202A"/>
                </a:solidFill>
                <a:latin typeface="Microsoft YaHei"/>
                <a:ea typeface="Microsoft YaHei"/>
                <a:cs typeface="Microsoft YaHei"/>
              </a:rPr>
              <a:t>Web/H5</a:t>
            </a:r>
          </a:p>
        </p:txBody>
      </p:sp>
      <p:sp>
        <p:nvSpPr>
          <p:cNvPr id="21" name="矩形 20">
            <a:extLst>
              <a:ext uri="{FF2B5EF4-FFF2-40B4-BE49-F238E27FC236}">
                <a16:creationId xmlns:a16="http://schemas.microsoft.com/office/drawing/2014/main" id="{AA0BE9E0-8A91-44DA-AFF3-47C9B31EA35E}"/>
              </a:ext>
            </a:extLst>
          </p:cNvPr>
          <p:cNvSpPr>
            <a:spLocks noGrp="1"/>
          </p:cNvSpPr>
          <p:nvPr/>
        </p:nvSpPr>
        <p:spPr>
          <a:xfrm>
            <a:off x="4476750" y="1657350"/>
            <a:ext cx="895350" cy="26670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a:solidFill>
                  <a:srgbClr val="17202A"/>
                </a:solidFill>
                <a:latin typeface="Microsoft YaHei"/>
                <a:ea typeface="Microsoft YaHei"/>
                <a:cs typeface="Microsoft YaHei"/>
              </a:rPr>
              <a:t>运营后台</a:t>
            </a:r>
          </a:p>
        </p:txBody>
      </p:sp>
      <p:sp>
        <p:nvSpPr>
          <p:cNvPr id="22" name="矩形 21">
            <a:extLst>
              <a:ext uri="{FF2B5EF4-FFF2-40B4-BE49-F238E27FC236}">
                <a16:creationId xmlns:a16="http://schemas.microsoft.com/office/drawing/2014/main" id="{1868C388-9AFB-407E-8E10-59A7FE010138}"/>
              </a:ext>
            </a:extLst>
          </p:cNvPr>
          <p:cNvSpPr>
            <a:spLocks noGrp="1"/>
          </p:cNvSpPr>
          <p:nvPr/>
        </p:nvSpPr>
        <p:spPr>
          <a:xfrm>
            <a:off x="5619750" y="1657350"/>
            <a:ext cx="895350" cy="26670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a:solidFill>
                  <a:srgbClr val="17202A"/>
                </a:solidFill>
                <a:latin typeface="Microsoft YaHei"/>
                <a:ea typeface="Microsoft YaHei"/>
                <a:cs typeface="Microsoft YaHei"/>
              </a:rPr>
              <a:t>作者后台</a:t>
            </a:r>
          </a:p>
        </p:txBody>
      </p:sp>
      <p:sp>
        <p:nvSpPr>
          <p:cNvPr id="23" name="矩形 22">
            <a:extLst>
              <a:ext uri="{FF2B5EF4-FFF2-40B4-BE49-F238E27FC236}">
                <a16:creationId xmlns:a16="http://schemas.microsoft.com/office/drawing/2014/main" id="{0EEA3C45-AA2F-457A-9F14-40CF82BCADB7}"/>
              </a:ext>
            </a:extLst>
          </p:cNvPr>
          <p:cNvSpPr>
            <a:spLocks noGrp="1"/>
          </p:cNvSpPr>
          <p:nvPr/>
        </p:nvSpPr>
        <p:spPr>
          <a:xfrm>
            <a:off x="2333625" y="2305050"/>
            <a:ext cx="5095875" cy="304800"/>
          </a:xfrm>
          <a:prstGeom prst="rect">
            <a:avLst/>
          </a:prstGeom>
          <a:solidFill>
            <a:srgbClr val="FFFFFF"/>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b="1">
                <a:solidFill>
                  <a:srgbClr val="17202A"/>
                </a:solidFill>
                <a:latin typeface="Microsoft YaHei"/>
                <a:ea typeface="Microsoft YaHei"/>
                <a:cs typeface="Microsoft YaHei"/>
              </a:rPr>
              <a:t>CDN / WAF / 负载均衡 / API 网关</a:t>
            </a:r>
          </a:p>
        </p:txBody>
      </p:sp>
      <p:sp>
        <p:nvSpPr>
          <p:cNvPr id="24" name="矩形 23">
            <a:extLst>
              <a:ext uri="{FF2B5EF4-FFF2-40B4-BE49-F238E27FC236}">
                <a16:creationId xmlns:a16="http://schemas.microsoft.com/office/drawing/2014/main" id="{739A4CF8-70B6-4510-990F-A25A46C2F18E}"/>
              </a:ext>
            </a:extLst>
          </p:cNvPr>
          <p:cNvSpPr>
            <a:spLocks noGrp="1"/>
          </p:cNvSpPr>
          <p:nvPr/>
        </p:nvSpPr>
        <p:spPr>
          <a:xfrm>
            <a:off x="7667625" y="2305050"/>
            <a:ext cx="3143250" cy="304800"/>
          </a:xfrm>
          <a:prstGeom prst="rect">
            <a:avLst/>
          </a:prstGeom>
          <a:solidFill>
            <a:srgbClr val="FFFFFF"/>
          </a:solidFill>
          <a:ln w="9525">
            <a:solidFill>
              <a:srgbClr val="D8D1C4"/>
            </a:solidFill>
          </a:ln>
        </p:spPr>
        <p:txBody>
          <a:bodyPr lIns="114300" tIns="95250" rIns="114300" bIns="95250" anchor="ctr"/>
          <a:lstStyle/>
          <a:p>
            <a:pPr algn="ctr">
              <a:defRPr sz="1125">
                <a:solidFill>
                  <a:srgbClr val="17202A"/>
                </a:solidFill>
                <a:latin typeface="Microsoft YaHei"/>
                <a:ea typeface="Microsoft YaHei"/>
                <a:cs typeface="Microsoft YaHei"/>
              </a:defRPr>
            </a:pPr>
            <a:r>
              <a:rPr sz="1125">
                <a:solidFill>
                  <a:srgbClr val="17202A"/>
                </a:solidFill>
                <a:latin typeface="Microsoft YaHei"/>
                <a:ea typeface="Microsoft YaHei"/>
                <a:cs typeface="Microsoft YaHei"/>
              </a:rPr>
              <a:t>认证鉴权 / 限流降级 / 灰度发布</a:t>
            </a:r>
          </a:p>
        </p:txBody>
      </p:sp>
      <p:sp>
        <p:nvSpPr>
          <p:cNvPr id="25" name="矩形 24">
            <a:extLst>
              <a:ext uri="{FF2B5EF4-FFF2-40B4-BE49-F238E27FC236}">
                <a16:creationId xmlns:a16="http://schemas.microsoft.com/office/drawing/2014/main" id="{E4988F50-10DA-4ECE-8278-0D254F689284}"/>
              </a:ext>
            </a:extLst>
          </p:cNvPr>
          <p:cNvSpPr>
            <a:spLocks noGrp="1"/>
          </p:cNvSpPr>
          <p:nvPr/>
        </p:nvSpPr>
        <p:spPr>
          <a:xfrm>
            <a:off x="2171700" y="3028950"/>
            <a:ext cx="1333500" cy="323850"/>
          </a:xfrm>
          <a:prstGeom prst="rect">
            <a:avLst/>
          </a:prstGeom>
          <a:solidFill>
            <a:srgbClr val="FFFDF8"/>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用户服务</a:t>
            </a:r>
          </a:p>
        </p:txBody>
      </p:sp>
      <p:sp>
        <p:nvSpPr>
          <p:cNvPr id="26" name="矩形 25">
            <a:extLst>
              <a:ext uri="{FF2B5EF4-FFF2-40B4-BE49-F238E27FC236}">
                <a16:creationId xmlns:a16="http://schemas.microsoft.com/office/drawing/2014/main" id="{877A251E-E264-4C27-A708-64388DB43064}"/>
              </a:ext>
            </a:extLst>
          </p:cNvPr>
          <p:cNvSpPr>
            <a:spLocks noGrp="1"/>
          </p:cNvSpPr>
          <p:nvPr/>
        </p:nvSpPr>
        <p:spPr>
          <a:xfrm>
            <a:off x="3981450" y="3028950"/>
            <a:ext cx="1333500" cy="32385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书籍章节</a:t>
            </a:r>
          </a:p>
        </p:txBody>
      </p:sp>
      <p:sp>
        <p:nvSpPr>
          <p:cNvPr id="27" name="矩形 26">
            <a:extLst>
              <a:ext uri="{FF2B5EF4-FFF2-40B4-BE49-F238E27FC236}">
                <a16:creationId xmlns:a16="http://schemas.microsoft.com/office/drawing/2014/main" id="{A5DFE36A-4351-436D-B017-BBB49791921A}"/>
              </a:ext>
            </a:extLst>
          </p:cNvPr>
          <p:cNvSpPr>
            <a:spLocks noGrp="1"/>
          </p:cNvSpPr>
          <p:nvPr/>
        </p:nvSpPr>
        <p:spPr>
          <a:xfrm>
            <a:off x="5791200" y="3028950"/>
            <a:ext cx="1333500" cy="323850"/>
          </a:xfrm>
          <a:prstGeom prst="rect">
            <a:avLst/>
          </a:prstGeom>
          <a:solidFill>
            <a:srgbClr val="FFFDF8"/>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书架进度</a:t>
            </a:r>
          </a:p>
        </p:txBody>
      </p:sp>
      <p:sp>
        <p:nvSpPr>
          <p:cNvPr id="28" name="矩形 27">
            <a:extLst>
              <a:ext uri="{FF2B5EF4-FFF2-40B4-BE49-F238E27FC236}">
                <a16:creationId xmlns:a16="http://schemas.microsoft.com/office/drawing/2014/main" id="{76A672B1-15F6-4F1A-83B1-EDB8CA575546}"/>
              </a:ext>
            </a:extLst>
          </p:cNvPr>
          <p:cNvSpPr>
            <a:spLocks noGrp="1"/>
          </p:cNvSpPr>
          <p:nvPr/>
        </p:nvSpPr>
        <p:spPr>
          <a:xfrm>
            <a:off x="7600950" y="3028950"/>
            <a:ext cx="1333500" cy="32385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搜索服务</a:t>
            </a:r>
          </a:p>
        </p:txBody>
      </p:sp>
      <p:sp>
        <p:nvSpPr>
          <p:cNvPr id="29" name="矩形 28">
            <a:extLst>
              <a:ext uri="{FF2B5EF4-FFF2-40B4-BE49-F238E27FC236}">
                <a16:creationId xmlns:a16="http://schemas.microsoft.com/office/drawing/2014/main" id="{4BF6A68C-4FCD-4503-AAE5-CC6F5D27747A}"/>
              </a:ext>
            </a:extLst>
          </p:cNvPr>
          <p:cNvSpPr>
            <a:spLocks noGrp="1"/>
          </p:cNvSpPr>
          <p:nvPr/>
        </p:nvSpPr>
        <p:spPr>
          <a:xfrm>
            <a:off x="2171700" y="3505200"/>
            <a:ext cx="1333500" cy="323850"/>
          </a:xfrm>
          <a:prstGeom prst="rect">
            <a:avLst/>
          </a:prstGeom>
          <a:solidFill>
            <a:srgbClr val="FFFDF8"/>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评论互动</a:t>
            </a:r>
          </a:p>
        </p:txBody>
      </p:sp>
      <p:sp>
        <p:nvSpPr>
          <p:cNvPr id="30" name="矩形 29">
            <a:extLst>
              <a:ext uri="{FF2B5EF4-FFF2-40B4-BE49-F238E27FC236}">
                <a16:creationId xmlns:a16="http://schemas.microsoft.com/office/drawing/2014/main" id="{C74FF89A-8B2D-4797-BF92-A04B724F4C47}"/>
              </a:ext>
            </a:extLst>
          </p:cNvPr>
          <p:cNvSpPr>
            <a:spLocks noGrp="1"/>
          </p:cNvSpPr>
          <p:nvPr/>
        </p:nvSpPr>
        <p:spPr>
          <a:xfrm>
            <a:off x="3981450" y="3505200"/>
            <a:ext cx="1333500" cy="32385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广告服务</a:t>
            </a:r>
          </a:p>
        </p:txBody>
      </p:sp>
      <p:sp>
        <p:nvSpPr>
          <p:cNvPr id="31" name="矩形 30">
            <a:extLst>
              <a:ext uri="{FF2B5EF4-FFF2-40B4-BE49-F238E27FC236}">
                <a16:creationId xmlns:a16="http://schemas.microsoft.com/office/drawing/2014/main" id="{6A1B9E8C-433F-4560-B4C2-0D529850DBFA}"/>
              </a:ext>
            </a:extLst>
          </p:cNvPr>
          <p:cNvSpPr>
            <a:spLocks noGrp="1"/>
          </p:cNvSpPr>
          <p:nvPr/>
        </p:nvSpPr>
        <p:spPr>
          <a:xfrm>
            <a:off x="5791200" y="3505200"/>
            <a:ext cx="1333500" cy="323850"/>
          </a:xfrm>
          <a:prstGeom prst="rect">
            <a:avLst/>
          </a:prstGeom>
          <a:solidFill>
            <a:srgbClr val="FFFDF8"/>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作者/审核</a:t>
            </a:r>
          </a:p>
        </p:txBody>
      </p:sp>
      <p:sp>
        <p:nvSpPr>
          <p:cNvPr id="32" name="矩形 31">
            <a:extLst>
              <a:ext uri="{FF2B5EF4-FFF2-40B4-BE49-F238E27FC236}">
                <a16:creationId xmlns:a16="http://schemas.microsoft.com/office/drawing/2014/main" id="{7B78CCD4-EC91-4A98-93F6-775D3ED919E1}"/>
              </a:ext>
            </a:extLst>
          </p:cNvPr>
          <p:cNvSpPr>
            <a:spLocks noGrp="1"/>
          </p:cNvSpPr>
          <p:nvPr/>
        </p:nvSpPr>
        <p:spPr>
          <a:xfrm>
            <a:off x="7600950" y="3505200"/>
            <a:ext cx="1333500" cy="323850"/>
          </a:xfrm>
          <a:prstGeom prst="rect">
            <a:avLst/>
          </a:prstGeom>
          <a:solidFill>
            <a:srgbClr val="FFFFFF"/>
          </a:solidFill>
          <a:ln w="9525">
            <a:solidFill>
              <a:srgbClr val="D8D1C4"/>
            </a:solidFill>
          </a:ln>
        </p:spPr>
        <p:txBody>
          <a:bodyPr lIns="114300" tIns="95250" rIns="114300" bIns="95250" anchor="ctr"/>
          <a:lstStyle/>
          <a:p>
            <a:pPr algn="ctr">
              <a:defRPr sz="1050">
                <a:solidFill>
                  <a:srgbClr val="17202A"/>
                </a:solidFill>
                <a:latin typeface="Microsoft YaHei"/>
                <a:ea typeface="Microsoft YaHei"/>
                <a:cs typeface="Microsoft YaHei"/>
              </a:defRPr>
            </a:pPr>
            <a:r>
              <a:rPr sz="1050" b="1">
                <a:solidFill>
                  <a:srgbClr val="17202A"/>
                </a:solidFill>
                <a:latin typeface="Microsoft YaHei"/>
                <a:ea typeface="Microsoft YaHei"/>
                <a:cs typeface="Microsoft YaHei"/>
              </a:rPr>
              <a:t>推荐接口</a:t>
            </a:r>
          </a:p>
        </p:txBody>
      </p:sp>
      <p:sp>
        <p:nvSpPr>
          <p:cNvPr id="33" name="矩形 32">
            <a:extLst>
              <a:ext uri="{FF2B5EF4-FFF2-40B4-BE49-F238E27FC236}">
                <a16:creationId xmlns:a16="http://schemas.microsoft.com/office/drawing/2014/main" id="{13A78A86-77B9-49CA-8170-84A6D462749C}"/>
              </a:ext>
            </a:extLst>
          </p:cNvPr>
          <p:cNvSpPr>
            <a:spLocks noGrp="1"/>
          </p:cNvSpPr>
          <p:nvPr/>
        </p:nvSpPr>
        <p:spPr>
          <a:xfrm>
            <a:off x="2333625" y="4248150"/>
            <a:ext cx="1619250" cy="323850"/>
          </a:xfrm>
          <a:prstGeom prst="rect">
            <a:avLst/>
          </a:prstGeom>
          <a:solidFill>
            <a:srgbClr val="FFFFFF"/>
          </a:solidFill>
          <a:ln w="9525">
            <a:solidFill>
              <a:srgbClr val="E85D4F"/>
            </a:solidFill>
          </a:ln>
        </p:spPr>
        <p:txBody>
          <a:bodyPr lIns="114300" tIns="95250" rIns="114300" bIns="95250" anchor="ctr"/>
          <a:lstStyle/>
          <a:p>
            <a:pPr algn="ctr">
              <a:defRPr sz="1050">
                <a:solidFill>
                  <a:srgbClr val="E85D4F"/>
                </a:solidFill>
                <a:latin typeface="Microsoft YaHei"/>
                <a:ea typeface="Microsoft YaHei"/>
                <a:cs typeface="Microsoft YaHei"/>
              </a:defRPr>
            </a:pPr>
            <a:r>
              <a:rPr sz="1050" b="1">
                <a:solidFill>
                  <a:srgbClr val="E85D4F"/>
                </a:solidFill>
                <a:latin typeface="Microsoft YaHei"/>
                <a:ea typeface="Microsoft YaHei"/>
                <a:cs typeface="Microsoft YaHei"/>
              </a:rPr>
              <a:t>Redis 缓存</a:t>
            </a:r>
          </a:p>
        </p:txBody>
      </p:sp>
      <p:sp>
        <p:nvSpPr>
          <p:cNvPr id="34" name="矩形 33">
            <a:extLst>
              <a:ext uri="{FF2B5EF4-FFF2-40B4-BE49-F238E27FC236}">
                <a16:creationId xmlns:a16="http://schemas.microsoft.com/office/drawing/2014/main" id="{C2ADCB55-BFF4-49B6-A1EF-0B4468B70B97}"/>
              </a:ext>
            </a:extLst>
          </p:cNvPr>
          <p:cNvSpPr>
            <a:spLocks noGrp="1"/>
          </p:cNvSpPr>
          <p:nvPr/>
        </p:nvSpPr>
        <p:spPr>
          <a:xfrm>
            <a:off x="4619625" y="4248150"/>
            <a:ext cx="1619250" cy="323850"/>
          </a:xfrm>
          <a:prstGeom prst="rect">
            <a:avLst/>
          </a:prstGeom>
          <a:solidFill>
            <a:srgbClr val="FFFFFF"/>
          </a:solidFill>
          <a:ln w="9525">
            <a:solidFill>
              <a:srgbClr val="287D79"/>
            </a:solidFill>
          </a:ln>
        </p:spPr>
        <p:txBody>
          <a:bodyPr lIns="114300" tIns="95250" rIns="114300" bIns="95250" anchor="ctr"/>
          <a:lstStyle/>
          <a:p>
            <a:pPr algn="ctr">
              <a:defRPr sz="1050">
                <a:solidFill>
                  <a:srgbClr val="287D79"/>
                </a:solidFill>
                <a:latin typeface="Microsoft YaHei"/>
                <a:ea typeface="Microsoft YaHei"/>
                <a:cs typeface="Microsoft YaHei"/>
              </a:defRPr>
            </a:pPr>
            <a:r>
              <a:rPr sz="1050" b="1">
                <a:solidFill>
                  <a:srgbClr val="287D79"/>
                </a:solidFill>
                <a:latin typeface="Microsoft YaHei"/>
                <a:ea typeface="Microsoft YaHei"/>
                <a:cs typeface="Microsoft YaHei"/>
              </a:rPr>
              <a:t>MQ/Kafka</a:t>
            </a:r>
          </a:p>
        </p:txBody>
      </p:sp>
      <p:sp>
        <p:nvSpPr>
          <p:cNvPr id="35" name="矩形 34">
            <a:extLst>
              <a:ext uri="{FF2B5EF4-FFF2-40B4-BE49-F238E27FC236}">
                <a16:creationId xmlns:a16="http://schemas.microsoft.com/office/drawing/2014/main" id="{85DB73BE-976F-4077-83A2-90E39840343D}"/>
              </a:ext>
            </a:extLst>
          </p:cNvPr>
          <p:cNvSpPr>
            <a:spLocks noGrp="1"/>
          </p:cNvSpPr>
          <p:nvPr/>
        </p:nvSpPr>
        <p:spPr>
          <a:xfrm>
            <a:off x="6905625" y="4248150"/>
            <a:ext cx="1619250" cy="323850"/>
          </a:xfrm>
          <a:prstGeom prst="rect">
            <a:avLst/>
          </a:prstGeom>
          <a:solidFill>
            <a:srgbClr val="FFFFFF"/>
          </a:solidFill>
          <a:ln w="9525">
            <a:solidFill>
              <a:srgbClr val="315C97"/>
            </a:solidFill>
          </a:ln>
        </p:spPr>
        <p:txBody>
          <a:bodyPr lIns="114300" tIns="95250" rIns="114300" bIns="95250" anchor="ctr"/>
          <a:lstStyle/>
          <a:p>
            <a:pPr algn="ctr">
              <a:defRPr sz="1050">
                <a:solidFill>
                  <a:srgbClr val="315C97"/>
                </a:solidFill>
                <a:latin typeface="Microsoft YaHei"/>
                <a:ea typeface="Microsoft YaHei"/>
                <a:cs typeface="Microsoft YaHei"/>
              </a:defRPr>
            </a:pPr>
            <a:r>
              <a:rPr sz="1050" b="1">
                <a:solidFill>
                  <a:srgbClr val="315C97"/>
                </a:solidFill>
                <a:latin typeface="Microsoft YaHei"/>
                <a:ea typeface="Microsoft YaHei"/>
                <a:cs typeface="Microsoft YaHei"/>
              </a:rPr>
              <a:t>ElasticSearch</a:t>
            </a:r>
          </a:p>
        </p:txBody>
      </p:sp>
      <p:sp>
        <p:nvSpPr>
          <p:cNvPr id="36" name="矩形 35">
            <a:extLst>
              <a:ext uri="{FF2B5EF4-FFF2-40B4-BE49-F238E27FC236}">
                <a16:creationId xmlns:a16="http://schemas.microsoft.com/office/drawing/2014/main" id="{464552A7-4ADD-4CF1-ADCF-4E88F46E49F5}"/>
              </a:ext>
            </a:extLst>
          </p:cNvPr>
          <p:cNvSpPr>
            <a:spLocks noGrp="1"/>
          </p:cNvSpPr>
          <p:nvPr/>
        </p:nvSpPr>
        <p:spPr>
          <a:xfrm>
            <a:off x="9191625" y="4248150"/>
            <a:ext cx="1619250" cy="323850"/>
          </a:xfrm>
          <a:prstGeom prst="rect">
            <a:avLst/>
          </a:prstGeom>
          <a:solidFill>
            <a:srgbClr val="FFFFFF"/>
          </a:solidFill>
          <a:ln w="9525">
            <a:solidFill>
              <a:srgbClr val="B2832F"/>
            </a:solidFill>
          </a:ln>
        </p:spPr>
        <p:txBody>
          <a:bodyPr lIns="114300" tIns="95250" rIns="114300" bIns="95250" anchor="ctr"/>
          <a:lstStyle/>
          <a:p>
            <a:pPr algn="ctr">
              <a:defRPr sz="1050">
                <a:solidFill>
                  <a:srgbClr val="B2832F"/>
                </a:solidFill>
                <a:latin typeface="Microsoft YaHei"/>
                <a:ea typeface="Microsoft YaHei"/>
                <a:cs typeface="Microsoft YaHei"/>
              </a:defRPr>
            </a:pPr>
            <a:r>
              <a:rPr sz="1050" b="1">
                <a:solidFill>
                  <a:srgbClr val="B2832F"/>
                </a:solidFill>
                <a:latin typeface="Microsoft YaHei"/>
                <a:ea typeface="Microsoft YaHei"/>
                <a:cs typeface="Microsoft YaHei"/>
              </a:rPr>
              <a:t>配置/监控</a:t>
            </a:r>
          </a:p>
        </p:txBody>
      </p:sp>
      <p:sp>
        <p:nvSpPr>
          <p:cNvPr id="37" name="矩形 36">
            <a:extLst>
              <a:ext uri="{FF2B5EF4-FFF2-40B4-BE49-F238E27FC236}">
                <a16:creationId xmlns:a16="http://schemas.microsoft.com/office/drawing/2014/main" id="{EC19369E-9D05-491D-8316-F269586CC614}"/>
              </a:ext>
            </a:extLst>
          </p:cNvPr>
          <p:cNvSpPr>
            <a:spLocks noGrp="1"/>
          </p:cNvSpPr>
          <p:nvPr/>
        </p:nvSpPr>
        <p:spPr>
          <a:xfrm>
            <a:off x="2114550" y="5124450"/>
            <a:ext cx="1714500" cy="476250"/>
          </a:xfrm>
          <a:prstGeom prst="rect">
            <a:avLst/>
          </a:prstGeom>
          <a:solidFill>
            <a:srgbClr val="FFFFFF"/>
          </a:solidFill>
          <a:ln w="9525">
            <a:solidFill>
              <a:srgbClr val="D8D1C4"/>
            </a:solidFill>
          </a:ln>
        </p:spPr>
        <p:txBody>
          <a:bodyPr lIns="114300" tIns="95250" rIns="114300" bIns="95250" anchor="ctr"/>
          <a:lstStyle/>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MySQL/Sharding</a:t>
            </a:r>
          </a:p>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业务事务库</a:t>
            </a:r>
          </a:p>
        </p:txBody>
      </p:sp>
      <p:sp>
        <p:nvSpPr>
          <p:cNvPr id="38" name="矩形 37">
            <a:extLst>
              <a:ext uri="{FF2B5EF4-FFF2-40B4-BE49-F238E27FC236}">
                <a16:creationId xmlns:a16="http://schemas.microsoft.com/office/drawing/2014/main" id="{DDCED8F3-3E1D-4DC4-831B-B4AE773F3931}"/>
              </a:ext>
            </a:extLst>
          </p:cNvPr>
          <p:cNvSpPr>
            <a:spLocks noGrp="1"/>
          </p:cNvSpPr>
          <p:nvPr/>
        </p:nvSpPr>
        <p:spPr>
          <a:xfrm>
            <a:off x="4305300" y="5124450"/>
            <a:ext cx="1714500" cy="476250"/>
          </a:xfrm>
          <a:prstGeom prst="rect">
            <a:avLst/>
          </a:prstGeom>
          <a:solidFill>
            <a:srgbClr val="FFFFFF"/>
          </a:solidFill>
          <a:ln w="9525">
            <a:solidFill>
              <a:srgbClr val="D8D1C4"/>
            </a:solidFill>
          </a:ln>
        </p:spPr>
        <p:txBody>
          <a:bodyPr lIns="114300" tIns="95250" rIns="114300" bIns="95250" anchor="ctr"/>
          <a:lstStyle/>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Object Storage</a:t>
            </a:r>
          </a:p>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图片/封面/静态资源</a:t>
            </a:r>
          </a:p>
        </p:txBody>
      </p:sp>
      <p:sp>
        <p:nvSpPr>
          <p:cNvPr id="39" name="矩形 38">
            <a:extLst>
              <a:ext uri="{FF2B5EF4-FFF2-40B4-BE49-F238E27FC236}">
                <a16:creationId xmlns:a16="http://schemas.microsoft.com/office/drawing/2014/main" id="{800C358E-862D-425D-8872-E05B849F3BBD}"/>
              </a:ext>
            </a:extLst>
          </p:cNvPr>
          <p:cNvSpPr>
            <a:spLocks noGrp="1"/>
          </p:cNvSpPr>
          <p:nvPr/>
        </p:nvSpPr>
        <p:spPr>
          <a:xfrm>
            <a:off x="6496050" y="5124450"/>
            <a:ext cx="1714500" cy="476250"/>
          </a:xfrm>
          <a:prstGeom prst="rect">
            <a:avLst/>
          </a:prstGeom>
          <a:solidFill>
            <a:srgbClr val="FFFFFF"/>
          </a:solidFill>
          <a:ln w="9525">
            <a:solidFill>
              <a:srgbClr val="D8D1C4"/>
            </a:solidFill>
          </a:ln>
        </p:spPr>
        <p:txBody>
          <a:bodyPr lIns="114300" tIns="95250" rIns="114300" bIns="95250" anchor="ctr"/>
          <a:lstStyle/>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Content Store</a:t>
            </a:r>
          </a:p>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章节文本</a:t>
            </a:r>
          </a:p>
        </p:txBody>
      </p:sp>
      <p:sp>
        <p:nvSpPr>
          <p:cNvPr id="40" name="矩形 39">
            <a:extLst>
              <a:ext uri="{FF2B5EF4-FFF2-40B4-BE49-F238E27FC236}">
                <a16:creationId xmlns:a16="http://schemas.microsoft.com/office/drawing/2014/main" id="{5B63BE2C-7E65-40F1-B830-C87A5F0A2630}"/>
              </a:ext>
            </a:extLst>
          </p:cNvPr>
          <p:cNvSpPr>
            <a:spLocks noGrp="1"/>
          </p:cNvSpPr>
          <p:nvPr/>
        </p:nvSpPr>
        <p:spPr>
          <a:xfrm>
            <a:off x="8686800" y="5124450"/>
            <a:ext cx="1714500" cy="476250"/>
          </a:xfrm>
          <a:prstGeom prst="rect">
            <a:avLst/>
          </a:prstGeom>
          <a:solidFill>
            <a:srgbClr val="FFFFFF"/>
          </a:solidFill>
          <a:ln w="9525">
            <a:solidFill>
              <a:srgbClr val="D8D1C4"/>
            </a:solidFill>
          </a:ln>
        </p:spPr>
        <p:txBody>
          <a:bodyPr lIns="114300" tIns="95250" rIns="114300" bIns="95250" anchor="ctr"/>
          <a:lstStyle/>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Log Store</a:t>
            </a:r>
          </a:p>
          <a:p>
            <a:pPr algn="ctr">
              <a:defRPr sz="1013">
                <a:solidFill>
                  <a:srgbClr val="17202A"/>
                </a:solidFill>
                <a:latin typeface="Microsoft YaHei"/>
                <a:ea typeface="Microsoft YaHei"/>
                <a:cs typeface="Microsoft YaHei"/>
              </a:defRPr>
            </a:pPr>
            <a:r>
              <a:rPr sz="1013">
                <a:solidFill>
                  <a:srgbClr val="17202A"/>
                </a:solidFill>
                <a:latin typeface="Microsoft YaHei"/>
                <a:ea typeface="Microsoft YaHei"/>
                <a:cs typeface="Microsoft YaHei"/>
              </a:rPr>
              <a:t>行为日志暂存</a:t>
            </a:r>
          </a:p>
        </p:txBody>
      </p:sp>
      <p:sp>
        <p:nvSpPr>
          <p:cNvPr id="45" name="矩形 44">
            <a:extLst>
              <a:ext uri="{FF2B5EF4-FFF2-40B4-BE49-F238E27FC236}">
                <a16:creationId xmlns:a16="http://schemas.microsoft.com/office/drawing/2014/main" id="{5EADE0F3-0706-420D-A2B8-9E7616BC48DA}"/>
              </a:ext>
            </a:extLst>
          </p:cNvPr>
          <p:cNvSpPr>
            <a:spLocks noGrp="1"/>
          </p:cNvSpPr>
          <p:nvPr/>
        </p:nvSpPr>
        <p:spPr>
          <a:xfrm>
            <a:off x="800100" y="5829300"/>
            <a:ext cx="1181100" cy="266700"/>
          </a:xfrm>
          <a:prstGeom prst="rect">
            <a:avLst/>
          </a:prstGeom>
          <a:solidFill>
            <a:srgbClr val="FFFFFF"/>
          </a:solidFill>
          <a:ln w="9525">
            <a:solidFill>
              <a:srgbClr val="E85D4F"/>
            </a:solidFill>
          </a:ln>
        </p:spPr>
        <p:txBody>
          <a:bodyPr lIns="57150" tIns="38100" rIns="57150" bIns="38100" anchor="ctr"/>
          <a:lstStyle/>
          <a:p>
            <a:pPr algn="ctr">
              <a:defRPr sz="975">
                <a:solidFill>
                  <a:srgbClr val="E85D4F"/>
                </a:solidFill>
                <a:latin typeface="Microsoft YaHei"/>
                <a:ea typeface="Microsoft YaHei"/>
                <a:cs typeface="Microsoft YaHei"/>
              </a:defRPr>
            </a:pPr>
            <a:r>
              <a:rPr sz="975" b="1">
                <a:solidFill>
                  <a:srgbClr val="E85D4F"/>
                </a:solidFill>
                <a:latin typeface="Microsoft YaHei"/>
                <a:ea typeface="Microsoft YaHei"/>
                <a:cs typeface="Microsoft YaHei"/>
              </a:rPr>
              <a:t>实时响应</a:t>
            </a:r>
          </a:p>
        </p:txBody>
      </p:sp>
      <p:sp>
        <p:nvSpPr>
          <p:cNvPr id="46" name="矩形 45">
            <a:extLst>
              <a:ext uri="{FF2B5EF4-FFF2-40B4-BE49-F238E27FC236}">
                <a16:creationId xmlns:a16="http://schemas.microsoft.com/office/drawing/2014/main" id="{055F2E36-0967-4406-962F-F87BF316107E}"/>
              </a:ext>
            </a:extLst>
          </p:cNvPr>
          <p:cNvSpPr>
            <a:spLocks noGrp="1"/>
          </p:cNvSpPr>
          <p:nvPr/>
        </p:nvSpPr>
        <p:spPr>
          <a:xfrm>
            <a:off x="2171700" y="5829300"/>
            <a:ext cx="1181100" cy="266700"/>
          </a:xfrm>
          <a:prstGeom prst="rect">
            <a:avLst/>
          </a:prstGeom>
          <a:solidFill>
            <a:srgbClr val="FFFFFF"/>
          </a:solidFill>
          <a:ln w="9525">
            <a:solidFill>
              <a:srgbClr val="315C97"/>
            </a:solidFill>
          </a:ln>
        </p:spPr>
        <p:txBody>
          <a:bodyPr lIns="57150" tIns="38100" rIns="57150" bIns="38100" anchor="ctr"/>
          <a:lstStyle/>
          <a:p>
            <a:pPr algn="ctr">
              <a:defRPr sz="975">
                <a:solidFill>
                  <a:srgbClr val="315C97"/>
                </a:solidFill>
                <a:latin typeface="Microsoft YaHei"/>
                <a:ea typeface="Microsoft YaHei"/>
                <a:cs typeface="Microsoft YaHei"/>
              </a:defRPr>
            </a:pPr>
            <a:r>
              <a:rPr sz="975" b="1">
                <a:solidFill>
                  <a:srgbClr val="315C97"/>
                </a:solidFill>
                <a:latin typeface="Microsoft YaHei"/>
                <a:ea typeface="Microsoft YaHei"/>
                <a:cs typeface="Microsoft YaHei"/>
              </a:rPr>
              <a:t>事务一致性</a:t>
            </a:r>
          </a:p>
        </p:txBody>
      </p:sp>
      <p:sp>
        <p:nvSpPr>
          <p:cNvPr id="47" name="矩形 46">
            <a:extLst>
              <a:ext uri="{FF2B5EF4-FFF2-40B4-BE49-F238E27FC236}">
                <a16:creationId xmlns:a16="http://schemas.microsoft.com/office/drawing/2014/main" id="{A6357810-FD42-4CC1-9FFD-2587FA804971}"/>
              </a:ext>
            </a:extLst>
          </p:cNvPr>
          <p:cNvSpPr>
            <a:spLocks noGrp="1"/>
          </p:cNvSpPr>
          <p:nvPr/>
        </p:nvSpPr>
        <p:spPr>
          <a:xfrm>
            <a:off x="3543300" y="5829300"/>
            <a:ext cx="1181100" cy="266700"/>
          </a:xfrm>
          <a:prstGeom prst="rect">
            <a:avLst/>
          </a:prstGeom>
          <a:solidFill>
            <a:srgbClr val="FFFFFF"/>
          </a:solidFill>
          <a:ln w="9525">
            <a:solidFill>
              <a:srgbClr val="287D79"/>
            </a:solidFill>
          </a:ln>
        </p:spPr>
        <p:txBody>
          <a:bodyPr lIns="57150" tIns="38100" rIns="57150" bIns="38100" anchor="ctr"/>
          <a:lstStyle/>
          <a:p>
            <a:pPr algn="ctr">
              <a:defRPr sz="975">
                <a:solidFill>
                  <a:srgbClr val="287D79"/>
                </a:solidFill>
                <a:latin typeface="Microsoft YaHei"/>
                <a:ea typeface="Microsoft YaHei"/>
                <a:cs typeface="Microsoft YaHei"/>
              </a:defRPr>
            </a:pPr>
            <a:r>
              <a:rPr sz="975" b="1">
                <a:solidFill>
                  <a:srgbClr val="287D79"/>
                </a:solidFill>
                <a:latin typeface="Microsoft YaHei"/>
                <a:ea typeface="Microsoft YaHei"/>
                <a:cs typeface="Microsoft YaHei"/>
              </a:rPr>
              <a:t>可扩展</a:t>
            </a:r>
          </a:p>
        </p:txBody>
      </p:sp>
      <p:sp>
        <p:nvSpPr>
          <p:cNvPr id="48" name="矩形 47">
            <a:extLst>
              <a:ext uri="{FF2B5EF4-FFF2-40B4-BE49-F238E27FC236}">
                <a16:creationId xmlns:a16="http://schemas.microsoft.com/office/drawing/2014/main" id="{E51613B4-96A8-4D74-B30C-A61ECCB11686}"/>
              </a:ext>
            </a:extLst>
          </p:cNvPr>
          <p:cNvSpPr>
            <a:spLocks noGrp="1"/>
          </p:cNvSpPr>
          <p:nvPr/>
        </p:nvSpPr>
        <p:spPr>
          <a:xfrm>
            <a:off x="4914900" y="5829300"/>
            <a:ext cx="1181100" cy="266700"/>
          </a:xfrm>
          <a:prstGeom prst="rect">
            <a:avLst/>
          </a:prstGeom>
          <a:solidFill>
            <a:srgbClr val="FFFFFF"/>
          </a:solidFill>
          <a:ln w="9525">
            <a:solidFill>
              <a:srgbClr val="B2832F"/>
            </a:solidFill>
          </a:ln>
        </p:spPr>
        <p:txBody>
          <a:bodyPr lIns="57150" tIns="38100" rIns="57150" bIns="38100" anchor="ctr"/>
          <a:lstStyle/>
          <a:p>
            <a:pPr algn="ctr">
              <a:defRPr sz="975">
                <a:solidFill>
                  <a:srgbClr val="B2832F"/>
                </a:solidFill>
                <a:latin typeface="Microsoft YaHei"/>
                <a:ea typeface="Microsoft YaHei"/>
                <a:cs typeface="Microsoft YaHei"/>
              </a:defRPr>
            </a:pPr>
            <a:r>
              <a:rPr sz="975" b="1">
                <a:solidFill>
                  <a:srgbClr val="B2832F"/>
                </a:solidFill>
                <a:latin typeface="Microsoft YaHei"/>
                <a:ea typeface="Microsoft YaHei"/>
                <a:cs typeface="Microsoft YaHei"/>
              </a:rPr>
              <a:t>可观测</a:t>
            </a:r>
          </a:p>
        </p:txBody>
      </p:sp>
    </p:spTree>
    <p:extLst>
      <p:ext uri="{BB962C8B-B14F-4D97-AF65-F5344CB8AC3E}">
        <p14:creationId xmlns:p14="http://schemas.microsoft.com/office/powerpoint/2010/main" val="1950314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B3BC8797-BC49-4C3B-B940-B346CF931CBB}"/>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FFB913FE-7E1C-4A92-9C62-E85EC690A9CD}"/>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ACCEA171-14A3-4583-9F26-F012B2A1C19E}"/>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b: reasons why OLTP bears large-scale business volume.</a:t>
            </a:r>
          </a:p>
        </p:txBody>
      </p:sp>
      <p:sp>
        <p:nvSpPr>
          <p:cNvPr id="4" name="矩形 3">
            <a:extLst>
              <a:ext uri="{FF2B5EF4-FFF2-40B4-BE49-F238E27FC236}">
                <a16:creationId xmlns:a16="http://schemas.microsoft.com/office/drawing/2014/main" id="{65FB3640-7696-4733-B4BE-202510A7DCF5}"/>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06</a:t>
            </a:r>
          </a:p>
        </p:txBody>
      </p:sp>
      <p:sp>
        <p:nvSpPr>
          <p:cNvPr id="5" name="椭圆 4">
            <a:extLst>
              <a:ext uri="{FF2B5EF4-FFF2-40B4-BE49-F238E27FC236}">
                <a16:creationId xmlns:a16="http://schemas.microsoft.com/office/drawing/2014/main" id="{972AFB1A-7A7B-4A63-A295-BCAFF510999D}"/>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499C4763-61DA-499A-BE30-717AF58B2CAE}"/>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b  LOAD REASONS</a:t>
            </a:r>
          </a:p>
        </p:txBody>
      </p:sp>
      <p:sp>
        <p:nvSpPr>
          <p:cNvPr id="7" name="矩形 6">
            <a:extLst>
              <a:ext uri="{FF2B5EF4-FFF2-40B4-BE49-F238E27FC236}">
                <a16:creationId xmlns:a16="http://schemas.microsoft.com/office/drawing/2014/main" id="{AAC3DB6A-330F-465E-A244-570DBF9126E7}"/>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大规模业务量来自高频阅读行为、持续写入和内容平台网络效应</a:t>
            </a:r>
          </a:p>
        </p:txBody>
      </p:sp>
      <p:sp>
        <p:nvSpPr>
          <p:cNvPr id="8" name="直接连接符 7">
            <a:extLst>
              <a:ext uri="{FF2B5EF4-FFF2-40B4-BE49-F238E27FC236}">
                <a16:creationId xmlns:a16="http://schemas.microsoft.com/office/drawing/2014/main" id="{D2E6E96A-D466-4C68-905E-8AA47D6DCCB7}"/>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DAC8136B-3517-40F4-AC9F-8C17D393BF58}"/>
              </a:ext>
            </a:extLst>
          </p:cNvPr>
          <p:cNvSpPr>
            <a:spLocks noGrp="1"/>
          </p:cNvSpPr>
          <p:nvPr/>
        </p:nvSpPr>
        <p:spPr>
          <a:xfrm>
            <a:off x="685800" y="1504950"/>
            <a:ext cx="17145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业务量来源</a:t>
            </a:r>
          </a:p>
        </p:txBody>
      </p:sp>
      <p:sp>
        <p:nvSpPr>
          <p:cNvPr id="10" name="矩形 9">
            <a:extLst>
              <a:ext uri="{FF2B5EF4-FFF2-40B4-BE49-F238E27FC236}">
                <a16:creationId xmlns:a16="http://schemas.microsoft.com/office/drawing/2014/main" id="{51C99E91-B3CF-4523-93EF-661D2C55186E}"/>
              </a:ext>
            </a:extLst>
          </p:cNvPr>
          <p:cNvSpPr>
            <a:spLocks noGrp="1"/>
          </p:cNvSpPr>
          <p:nvPr/>
        </p:nvSpPr>
        <p:spPr>
          <a:xfrm>
            <a:off x="2400300" y="1504950"/>
            <a:ext cx="409575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在番茄小说类平台中的表现</a:t>
            </a:r>
          </a:p>
        </p:txBody>
      </p:sp>
      <p:sp>
        <p:nvSpPr>
          <p:cNvPr id="11" name="矩形 10">
            <a:extLst>
              <a:ext uri="{FF2B5EF4-FFF2-40B4-BE49-F238E27FC236}">
                <a16:creationId xmlns:a16="http://schemas.microsoft.com/office/drawing/2014/main" id="{D0D55A2D-5FE1-433B-A9AE-D0BB786A867F}"/>
              </a:ext>
            </a:extLst>
          </p:cNvPr>
          <p:cNvSpPr>
            <a:spLocks noGrp="1"/>
          </p:cNvSpPr>
          <p:nvPr/>
        </p:nvSpPr>
        <p:spPr>
          <a:xfrm>
            <a:off x="6496050" y="1504950"/>
            <a:ext cx="49530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对应系统设施</a:t>
            </a:r>
          </a:p>
        </p:txBody>
      </p:sp>
      <p:sp>
        <p:nvSpPr>
          <p:cNvPr id="12" name="矩形 11">
            <a:extLst>
              <a:ext uri="{FF2B5EF4-FFF2-40B4-BE49-F238E27FC236}">
                <a16:creationId xmlns:a16="http://schemas.microsoft.com/office/drawing/2014/main" id="{2C091ABD-C867-4497-BFC1-A92488C71093}"/>
              </a:ext>
            </a:extLst>
          </p:cNvPr>
          <p:cNvSpPr>
            <a:spLocks noGrp="1"/>
          </p:cNvSpPr>
          <p:nvPr/>
        </p:nvSpPr>
        <p:spPr>
          <a:xfrm>
            <a:off x="685800" y="1828800"/>
            <a:ext cx="1714500" cy="723900"/>
          </a:xfrm>
          <a:prstGeom prst="rect">
            <a:avLst/>
          </a:prstGeom>
          <a:solidFill>
            <a:srgbClr val="FFFDF8"/>
          </a:solidFill>
          <a:ln w="9525">
            <a:solidFill>
              <a:srgbClr val="D8D1C4"/>
            </a:solidFill>
          </a:ln>
        </p:spPr>
        <p:txBody>
          <a:bodyPr lIns="95250" tIns="76200" rIns="95250" bIns="76200" anchor="ctr"/>
          <a:lstStyle/>
          <a:p>
            <a:pPr algn="ctr">
              <a:defRPr sz="1073">
                <a:solidFill>
                  <a:srgbClr val="E85D4F"/>
                </a:solidFill>
                <a:latin typeface="Microsoft YaHei"/>
                <a:ea typeface="Microsoft YaHei"/>
                <a:cs typeface="Microsoft YaHei"/>
              </a:defRPr>
            </a:pPr>
            <a:r>
              <a:rPr sz="1073" b="1">
                <a:solidFill>
                  <a:srgbClr val="E85D4F"/>
                </a:solidFill>
                <a:latin typeface="Microsoft YaHei"/>
                <a:ea typeface="Microsoft YaHei"/>
                <a:cs typeface="Microsoft YaHei"/>
              </a:rPr>
              <a:t>高频读请求</a:t>
            </a:r>
          </a:p>
        </p:txBody>
      </p:sp>
      <p:sp>
        <p:nvSpPr>
          <p:cNvPr id="13" name="矩形 12">
            <a:extLst>
              <a:ext uri="{FF2B5EF4-FFF2-40B4-BE49-F238E27FC236}">
                <a16:creationId xmlns:a16="http://schemas.microsoft.com/office/drawing/2014/main" id="{DAD16B3E-54E0-462B-9EB1-FEE3942B979B}"/>
              </a:ext>
            </a:extLst>
          </p:cNvPr>
          <p:cNvSpPr>
            <a:spLocks noGrp="1"/>
          </p:cNvSpPr>
          <p:nvPr/>
        </p:nvSpPr>
        <p:spPr>
          <a:xfrm>
            <a:off x="2400300" y="1828800"/>
            <a:ext cx="4095750" cy="723900"/>
          </a:xfrm>
          <a:prstGeom prst="rect">
            <a:avLst/>
          </a:prstGeom>
          <a:solidFill>
            <a:srgbClr val="FFFDF8"/>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用户打开首页、榜单、书籍详情和章节正文，读请求远高于写请求</a:t>
            </a:r>
          </a:p>
        </p:txBody>
      </p:sp>
      <p:sp>
        <p:nvSpPr>
          <p:cNvPr id="14" name="矩形 13">
            <a:extLst>
              <a:ext uri="{FF2B5EF4-FFF2-40B4-BE49-F238E27FC236}">
                <a16:creationId xmlns:a16="http://schemas.microsoft.com/office/drawing/2014/main" id="{0145A079-8684-46F2-9CAD-BD667D82CBC5}"/>
              </a:ext>
            </a:extLst>
          </p:cNvPr>
          <p:cNvSpPr>
            <a:spLocks noGrp="1"/>
          </p:cNvSpPr>
          <p:nvPr/>
        </p:nvSpPr>
        <p:spPr>
          <a:xfrm>
            <a:off x="6496050" y="1828800"/>
            <a:ext cx="4953000" cy="723900"/>
          </a:xfrm>
          <a:prstGeom prst="rect">
            <a:avLst/>
          </a:prstGeom>
          <a:solidFill>
            <a:srgbClr val="FFFDF8"/>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热门内容缓存、CDN、读写分离、章节内容独立存储</a:t>
            </a:r>
          </a:p>
        </p:txBody>
      </p:sp>
      <p:sp>
        <p:nvSpPr>
          <p:cNvPr id="15" name="矩形 14">
            <a:extLst>
              <a:ext uri="{FF2B5EF4-FFF2-40B4-BE49-F238E27FC236}">
                <a16:creationId xmlns:a16="http://schemas.microsoft.com/office/drawing/2014/main" id="{BA03D6A2-92E0-4B0E-A907-6C75F316D731}"/>
              </a:ext>
            </a:extLst>
          </p:cNvPr>
          <p:cNvSpPr>
            <a:spLocks noGrp="1"/>
          </p:cNvSpPr>
          <p:nvPr/>
        </p:nvSpPr>
        <p:spPr>
          <a:xfrm>
            <a:off x="685800" y="2628900"/>
            <a:ext cx="1714500" cy="723900"/>
          </a:xfrm>
          <a:prstGeom prst="rect">
            <a:avLst/>
          </a:prstGeom>
          <a:solidFill>
            <a:srgbClr val="FFFFFF"/>
          </a:solidFill>
          <a:ln w="9525">
            <a:solidFill>
              <a:srgbClr val="D8D1C4"/>
            </a:solidFill>
          </a:ln>
        </p:spPr>
        <p:txBody>
          <a:bodyPr lIns="95250" tIns="76200" rIns="95250" bIns="76200" anchor="ctr"/>
          <a:lstStyle/>
          <a:p>
            <a:pPr algn="ctr">
              <a:defRPr sz="1073">
                <a:solidFill>
                  <a:srgbClr val="287D79"/>
                </a:solidFill>
                <a:latin typeface="Microsoft YaHei"/>
                <a:ea typeface="Microsoft YaHei"/>
                <a:cs typeface="Microsoft YaHei"/>
              </a:defRPr>
            </a:pPr>
            <a:r>
              <a:rPr sz="1073" b="1">
                <a:solidFill>
                  <a:srgbClr val="287D79"/>
                </a:solidFill>
                <a:latin typeface="Microsoft YaHei"/>
                <a:ea typeface="Microsoft YaHei"/>
                <a:cs typeface="Microsoft YaHei"/>
              </a:rPr>
              <a:t>持续写请求</a:t>
            </a:r>
          </a:p>
        </p:txBody>
      </p:sp>
      <p:sp>
        <p:nvSpPr>
          <p:cNvPr id="16" name="矩形 15">
            <a:extLst>
              <a:ext uri="{FF2B5EF4-FFF2-40B4-BE49-F238E27FC236}">
                <a16:creationId xmlns:a16="http://schemas.microsoft.com/office/drawing/2014/main" id="{669B3EF0-B0E4-40EC-B910-1B03CEFD5B5E}"/>
              </a:ext>
            </a:extLst>
          </p:cNvPr>
          <p:cNvSpPr>
            <a:spLocks noGrp="1"/>
          </p:cNvSpPr>
          <p:nvPr/>
        </p:nvSpPr>
        <p:spPr>
          <a:xfrm>
            <a:off x="2400300" y="2628900"/>
            <a:ext cx="4095750" cy="723900"/>
          </a:xfrm>
          <a:prstGeom prst="rect">
            <a:avLst/>
          </a:prstGeom>
          <a:solidFill>
            <a:srgbClr val="FFFFFF"/>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阅读进度、书架变更、评论互动、广告曝光等不断产生状态变化</a:t>
            </a:r>
          </a:p>
        </p:txBody>
      </p:sp>
      <p:sp>
        <p:nvSpPr>
          <p:cNvPr id="17" name="矩形 16">
            <a:extLst>
              <a:ext uri="{FF2B5EF4-FFF2-40B4-BE49-F238E27FC236}">
                <a16:creationId xmlns:a16="http://schemas.microsoft.com/office/drawing/2014/main" id="{B188B622-D313-431A-B077-4AA4D8D6E1F6}"/>
              </a:ext>
            </a:extLst>
          </p:cNvPr>
          <p:cNvSpPr>
            <a:spLocks noGrp="1"/>
          </p:cNvSpPr>
          <p:nvPr/>
        </p:nvSpPr>
        <p:spPr>
          <a:xfrm>
            <a:off x="6496050" y="2628900"/>
            <a:ext cx="4953000" cy="723900"/>
          </a:xfrm>
          <a:prstGeom prst="rect">
            <a:avLst/>
          </a:prstGeom>
          <a:solidFill>
            <a:srgbClr val="FFFFFF"/>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核心状态同步写入，非核心日志/通知异步进入 MQ</a:t>
            </a:r>
          </a:p>
        </p:txBody>
      </p:sp>
      <p:sp>
        <p:nvSpPr>
          <p:cNvPr id="18" name="矩形 17">
            <a:extLst>
              <a:ext uri="{FF2B5EF4-FFF2-40B4-BE49-F238E27FC236}">
                <a16:creationId xmlns:a16="http://schemas.microsoft.com/office/drawing/2014/main" id="{756D5367-827E-415D-B13D-42B95A335AFA}"/>
              </a:ext>
            </a:extLst>
          </p:cNvPr>
          <p:cNvSpPr>
            <a:spLocks noGrp="1"/>
          </p:cNvSpPr>
          <p:nvPr/>
        </p:nvSpPr>
        <p:spPr>
          <a:xfrm>
            <a:off x="685800" y="3429000"/>
            <a:ext cx="1714500" cy="723900"/>
          </a:xfrm>
          <a:prstGeom prst="rect">
            <a:avLst/>
          </a:prstGeom>
          <a:solidFill>
            <a:srgbClr val="FFFDF8"/>
          </a:solidFill>
          <a:ln w="9525">
            <a:solidFill>
              <a:srgbClr val="D8D1C4"/>
            </a:solidFill>
          </a:ln>
        </p:spPr>
        <p:txBody>
          <a:bodyPr lIns="95250" tIns="76200" rIns="95250" bIns="76200" anchor="ctr"/>
          <a:lstStyle/>
          <a:p>
            <a:pPr algn="ctr">
              <a:defRPr sz="1073">
                <a:solidFill>
                  <a:srgbClr val="315C97"/>
                </a:solidFill>
                <a:latin typeface="Microsoft YaHei"/>
                <a:ea typeface="Microsoft YaHei"/>
                <a:cs typeface="Microsoft YaHei"/>
              </a:defRPr>
            </a:pPr>
            <a:r>
              <a:rPr sz="1073" b="1">
                <a:solidFill>
                  <a:srgbClr val="315C97"/>
                </a:solidFill>
                <a:latin typeface="Microsoft YaHei"/>
                <a:ea typeface="Microsoft YaHei"/>
                <a:cs typeface="Microsoft YaHei"/>
              </a:rPr>
              <a:t>搜索与推荐流量</a:t>
            </a:r>
          </a:p>
        </p:txBody>
      </p:sp>
      <p:sp>
        <p:nvSpPr>
          <p:cNvPr id="19" name="矩形 18">
            <a:extLst>
              <a:ext uri="{FF2B5EF4-FFF2-40B4-BE49-F238E27FC236}">
                <a16:creationId xmlns:a16="http://schemas.microsoft.com/office/drawing/2014/main" id="{6D046B9E-C730-41C1-B54A-3FB93121C703}"/>
              </a:ext>
            </a:extLst>
          </p:cNvPr>
          <p:cNvSpPr>
            <a:spLocks noGrp="1"/>
          </p:cNvSpPr>
          <p:nvPr/>
        </p:nvSpPr>
        <p:spPr>
          <a:xfrm>
            <a:off x="2400300" y="3429000"/>
            <a:ext cx="4095750" cy="723900"/>
          </a:xfrm>
          <a:prstGeom prst="rect">
            <a:avLst/>
          </a:prstGeom>
          <a:solidFill>
            <a:srgbClr val="FFFDF8"/>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用户频繁搜索书名、作者、题材，并不断刷新推荐流</a:t>
            </a:r>
          </a:p>
        </p:txBody>
      </p:sp>
      <p:sp>
        <p:nvSpPr>
          <p:cNvPr id="20" name="矩形 19">
            <a:extLst>
              <a:ext uri="{FF2B5EF4-FFF2-40B4-BE49-F238E27FC236}">
                <a16:creationId xmlns:a16="http://schemas.microsoft.com/office/drawing/2014/main" id="{18E4770C-8A7E-4064-A562-ADA2536640BF}"/>
              </a:ext>
            </a:extLst>
          </p:cNvPr>
          <p:cNvSpPr>
            <a:spLocks noGrp="1"/>
          </p:cNvSpPr>
          <p:nvPr/>
        </p:nvSpPr>
        <p:spPr>
          <a:xfrm>
            <a:off x="6496050" y="3429000"/>
            <a:ext cx="4953000" cy="723900"/>
          </a:xfrm>
          <a:prstGeom prst="rect">
            <a:avLst/>
          </a:prstGeom>
          <a:solidFill>
            <a:srgbClr val="FFFDF8"/>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搜索索引、推荐接口独立服务化，避免拖慢核心阅读链路</a:t>
            </a:r>
          </a:p>
        </p:txBody>
      </p:sp>
      <p:sp>
        <p:nvSpPr>
          <p:cNvPr id="21" name="矩形 20">
            <a:extLst>
              <a:ext uri="{FF2B5EF4-FFF2-40B4-BE49-F238E27FC236}">
                <a16:creationId xmlns:a16="http://schemas.microsoft.com/office/drawing/2014/main" id="{075E72BA-11B0-499F-9D16-0D22DC1A337F}"/>
              </a:ext>
            </a:extLst>
          </p:cNvPr>
          <p:cNvSpPr>
            <a:spLocks noGrp="1"/>
          </p:cNvSpPr>
          <p:nvPr/>
        </p:nvSpPr>
        <p:spPr>
          <a:xfrm>
            <a:off x="685800" y="4229100"/>
            <a:ext cx="1714500" cy="723900"/>
          </a:xfrm>
          <a:prstGeom prst="rect">
            <a:avLst/>
          </a:prstGeom>
          <a:solidFill>
            <a:srgbClr val="FFFFFF"/>
          </a:solidFill>
          <a:ln w="9525">
            <a:solidFill>
              <a:srgbClr val="D8D1C4"/>
            </a:solidFill>
          </a:ln>
        </p:spPr>
        <p:txBody>
          <a:bodyPr lIns="95250" tIns="76200" rIns="95250" bIns="76200" anchor="ctr"/>
          <a:lstStyle/>
          <a:p>
            <a:pPr algn="ctr">
              <a:defRPr sz="1073">
                <a:solidFill>
                  <a:srgbClr val="B2832F"/>
                </a:solidFill>
                <a:latin typeface="Microsoft YaHei"/>
                <a:ea typeface="Microsoft YaHei"/>
                <a:cs typeface="Microsoft YaHei"/>
              </a:defRPr>
            </a:pPr>
            <a:r>
              <a:rPr sz="1073" b="1">
                <a:solidFill>
                  <a:srgbClr val="B2832F"/>
                </a:solidFill>
                <a:latin typeface="Microsoft YaHei"/>
                <a:ea typeface="Microsoft YaHei"/>
                <a:cs typeface="Microsoft YaHei"/>
              </a:rPr>
              <a:t>活动与爆款峰值</a:t>
            </a:r>
          </a:p>
        </p:txBody>
      </p:sp>
      <p:sp>
        <p:nvSpPr>
          <p:cNvPr id="22" name="矩形 21">
            <a:extLst>
              <a:ext uri="{FF2B5EF4-FFF2-40B4-BE49-F238E27FC236}">
                <a16:creationId xmlns:a16="http://schemas.microsoft.com/office/drawing/2014/main" id="{12A9268B-3627-4B90-9ADA-A02A4A3F296C}"/>
              </a:ext>
            </a:extLst>
          </p:cNvPr>
          <p:cNvSpPr>
            <a:spLocks noGrp="1"/>
          </p:cNvSpPr>
          <p:nvPr/>
        </p:nvSpPr>
        <p:spPr>
          <a:xfrm>
            <a:off x="2400300" y="4229100"/>
            <a:ext cx="4095750" cy="723900"/>
          </a:xfrm>
          <a:prstGeom prst="rect">
            <a:avLst/>
          </a:prstGeom>
          <a:solidFill>
            <a:srgbClr val="FFFFFF"/>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年度榜单、运营活动、爆款作品更新会造成瞬时流量</a:t>
            </a:r>
          </a:p>
        </p:txBody>
      </p:sp>
      <p:sp>
        <p:nvSpPr>
          <p:cNvPr id="23" name="矩形 22">
            <a:extLst>
              <a:ext uri="{FF2B5EF4-FFF2-40B4-BE49-F238E27FC236}">
                <a16:creationId xmlns:a16="http://schemas.microsoft.com/office/drawing/2014/main" id="{EDD46E01-48F0-4987-AD91-DD6FA5DFB586}"/>
              </a:ext>
            </a:extLst>
          </p:cNvPr>
          <p:cNvSpPr>
            <a:spLocks noGrp="1"/>
          </p:cNvSpPr>
          <p:nvPr/>
        </p:nvSpPr>
        <p:spPr>
          <a:xfrm>
            <a:off x="6496050" y="4229100"/>
            <a:ext cx="4953000" cy="723900"/>
          </a:xfrm>
          <a:prstGeom prst="rect">
            <a:avLst/>
          </a:prstGeom>
          <a:solidFill>
            <a:srgbClr val="FFFFFF"/>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限流、降级、熔断、弹性扩容，优先保障阅读和登录</a:t>
            </a:r>
          </a:p>
        </p:txBody>
      </p:sp>
      <p:sp>
        <p:nvSpPr>
          <p:cNvPr id="24" name="矩形 23">
            <a:extLst>
              <a:ext uri="{FF2B5EF4-FFF2-40B4-BE49-F238E27FC236}">
                <a16:creationId xmlns:a16="http://schemas.microsoft.com/office/drawing/2014/main" id="{B502FE8E-8A90-45DC-9984-54E8DDC269D3}"/>
              </a:ext>
            </a:extLst>
          </p:cNvPr>
          <p:cNvSpPr>
            <a:spLocks noGrp="1"/>
          </p:cNvSpPr>
          <p:nvPr/>
        </p:nvSpPr>
        <p:spPr>
          <a:xfrm>
            <a:off x="685800" y="5029200"/>
            <a:ext cx="1714500" cy="723900"/>
          </a:xfrm>
          <a:prstGeom prst="rect">
            <a:avLst/>
          </a:prstGeom>
          <a:solidFill>
            <a:srgbClr val="FFFDF8"/>
          </a:solidFill>
          <a:ln w="9525">
            <a:solidFill>
              <a:srgbClr val="D8D1C4"/>
            </a:solidFill>
          </a:ln>
        </p:spPr>
        <p:txBody>
          <a:bodyPr lIns="95250" tIns="76200" rIns="95250" bIns="76200" anchor="ctr"/>
          <a:lstStyle/>
          <a:p>
            <a:pPr algn="ctr">
              <a:defRPr sz="1073">
                <a:solidFill>
                  <a:srgbClr val="E85D4F"/>
                </a:solidFill>
                <a:latin typeface="Microsoft YaHei"/>
                <a:ea typeface="Microsoft YaHei"/>
                <a:cs typeface="Microsoft YaHei"/>
              </a:defRPr>
            </a:pPr>
            <a:r>
              <a:rPr sz="1073" b="1">
                <a:solidFill>
                  <a:srgbClr val="E85D4F"/>
                </a:solidFill>
                <a:latin typeface="Microsoft YaHei"/>
                <a:ea typeface="Microsoft YaHei"/>
                <a:cs typeface="Microsoft YaHei"/>
              </a:rPr>
              <a:t>平台规模效应</a:t>
            </a:r>
          </a:p>
        </p:txBody>
      </p:sp>
      <p:sp>
        <p:nvSpPr>
          <p:cNvPr id="25" name="矩形 24">
            <a:extLst>
              <a:ext uri="{FF2B5EF4-FFF2-40B4-BE49-F238E27FC236}">
                <a16:creationId xmlns:a16="http://schemas.microsoft.com/office/drawing/2014/main" id="{85C5D18F-6DA5-4539-AE90-BD855EC0AB7E}"/>
              </a:ext>
            </a:extLst>
          </p:cNvPr>
          <p:cNvSpPr>
            <a:spLocks noGrp="1"/>
          </p:cNvSpPr>
          <p:nvPr/>
        </p:nvSpPr>
        <p:spPr>
          <a:xfrm>
            <a:off x="2400300" y="5029200"/>
            <a:ext cx="4095750" cy="723900"/>
          </a:xfrm>
          <a:prstGeom prst="rect">
            <a:avLst/>
          </a:prstGeom>
          <a:solidFill>
            <a:srgbClr val="FFFDF8"/>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用户、作者、作品、章节、评论规模长期增长</a:t>
            </a:r>
          </a:p>
        </p:txBody>
      </p:sp>
      <p:sp>
        <p:nvSpPr>
          <p:cNvPr id="26" name="矩形 25">
            <a:extLst>
              <a:ext uri="{FF2B5EF4-FFF2-40B4-BE49-F238E27FC236}">
                <a16:creationId xmlns:a16="http://schemas.microsoft.com/office/drawing/2014/main" id="{AD5A47F7-2AF5-478A-A56C-397650874A02}"/>
              </a:ext>
            </a:extLst>
          </p:cNvPr>
          <p:cNvSpPr>
            <a:spLocks noGrp="1"/>
          </p:cNvSpPr>
          <p:nvPr/>
        </p:nvSpPr>
        <p:spPr>
          <a:xfrm>
            <a:off x="6496050" y="5029200"/>
            <a:ext cx="4953000" cy="723900"/>
          </a:xfrm>
          <a:prstGeom prst="rect">
            <a:avLst/>
          </a:prstGeom>
          <a:solidFill>
            <a:srgbClr val="FFFDF8"/>
          </a:solidFill>
          <a:ln w="9525">
            <a:solidFill>
              <a:srgbClr val="D8D1C4"/>
            </a:solidFill>
          </a:ln>
        </p:spPr>
        <p:txBody>
          <a:bodyPr lIns="95250" tIns="76200" rIns="95250" bIns="76200" anchor="ctr"/>
          <a:lstStyle/>
          <a:p>
            <a:pPr algn="l">
              <a:defRPr sz="1073">
                <a:solidFill>
                  <a:srgbClr val="17202A"/>
                </a:solidFill>
                <a:latin typeface="Microsoft YaHei"/>
                <a:ea typeface="Microsoft YaHei"/>
                <a:cs typeface="Microsoft YaHei"/>
              </a:defRPr>
            </a:pPr>
            <a:r>
              <a:rPr sz="1073">
                <a:solidFill>
                  <a:srgbClr val="17202A"/>
                </a:solidFill>
                <a:latin typeface="Microsoft YaHei"/>
                <a:ea typeface="Microsoft YaHei"/>
                <a:cs typeface="Microsoft YaHei"/>
              </a:rPr>
              <a:t>分库分表、冷热分层、归档策略、监控告警与容量规划</a:t>
            </a:r>
          </a:p>
        </p:txBody>
      </p:sp>
    </p:spTree>
    <p:extLst>
      <p:ext uri="{BB962C8B-B14F-4D97-AF65-F5344CB8AC3E}">
        <p14:creationId xmlns:p14="http://schemas.microsoft.com/office/powerpoint/2010/main" val="455751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BEA03320-8248-4F60-95F7-E3BD73433762}"/>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17A9D198-8CE0-48A3-A197-452CEFE36B70}"/>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E2D17E31-3DB4-4589-9489-5D6EBCFC1F90}"/>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b: system facilities for large-scale OLTP.</a:t>
            </a:r>
          </a:p>
        </p:txBody>
      </p:sp>
      <p:sp>
        <p:nvSpPr>
          <p:cNvPr id="4" name="矩形 3">
            <a:extLst>
              <a:ext uri="{FF2B5EF4-FFF2-40B4-BE49-F238E27FC236}">
                <a16:creationId xmlns:a16="http://schemas.microsoft.com/office/drawing/2014/main" id="{EF4E4262-1E85-4964-9863-0E5CD776EBA2}"/>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07</a:t>
            </a:r>
          </a:p>
        </p:txBody>
      </p:sp>
      <p:sp>
        <p:nvSpPr>
          <p:cNvPr id="5" name="椭圆 4">
            <a:extLst>
              <a:ext uri="{FF2B5EF4-FFF2-40B4-BE49-F238E27FC236}">
                <a16:creationId xmlns:a16="http://schemas.microsoft.com/office/drawing/2014/main" id="{62CEEC5E-899F-4894-BF85-E4E59F0F2130}"/>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06F294F9-F6DA-4154-BDB7-AE51305208C8}"/>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b  SYSTEM FACILITIES</a:t>
            </a:r>
          </a:p>
        </p:txBody>
      </p:sp>
      <p:sp>
        <p:nvSpPr>
          <p:cNvPr id="7" name="矩形 6">
            <a:extLst>
              <a:ext uri="{FF2B5EF4-FFF2-40B4-BE49-F238E27FC236}">
                <a16:creationId xmlns:a16="http://schemas.microsoft.com/office/drawing/2014/main" id="{E6B1FA11-5AFB-41E9-8181-AB6A283CFB6B}"/>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OLTP 承载能力不是单点数据库能力，而是多层设施协同结果</a:t>
            </a:r>
          </a:p>
        </p:txBody>
      </p:sp>
      <p:sp>
        <p:nvSpPr>
          <p:cNvPr id="8" name="直接连接符 7">
            <a:extLst>
              <a:ext uri="{FF2B5EF4-FFF2-40B4-BE49-F238E27FC236}">
                <a16:creationId xmlns:a16="http://schemas.microsoft.com/office/drawing/2014/main" id="{14684CB9-2AE5-4DA1-BC64-A449C449E17E}"/>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520FFCEF-FFA1-435D-A754-8AE3CA6DA35A}"/>
              </a:ext>
            </a:extLst>
          </p:cNvPr>
          <p:cNvSpPr>
            <a:spLocks noGrp="1"/>
          </p:cNvSpPr>
          <p:nvPr/>
        </p:nvSpPr>
        <p:spPr>
          <a:xfrm>
            <a:off x="819150" y="1562100"/>
            <a:ext cx="3048000" cy="1219200"/>
          </a:xfrm>
          <a:prstGeom prst="rect">
            <a:avLst/>
          </a:prstGeom>
          <a:solidFill>
            <a:srgbClr val="FFFFFF"/>
          </a:solidFill>
          <a:ln w="9525">
            <a:solidFill>
              <a:srgbClr val="D8D1C4"/>
            </a:solidFill>
          </a:ln>
        </p:spPr>
        <p:txBody>
          <a:bodyPr lIns="114300" tIns="95250" rIns="114300" bIns="95250" anchor="ctr"/>
          <a:lstStyle/>
          <a:p>
            <a:endParaRPr/>
          </a:p>
        </p:txBody>
      </p:sp>
      <p:sp>
        <p:nvSpPr>
          <p:cNvPr id="10" name="矩形 9">
            <a:extLst>
              <a:ext uri="{FF2B5EF4-FFF2-40B4-BE49-F238E27FC236}">
                <a16:creationId xmlns:a16="http://schemas.microsoft.com/office/drawing/2014/main" id="{AAA9BE68-4533-4D41-8F5E-6A70C7B09308}"/>
              </a:ext>
            </a:extLst>
          </p:cNvPr>
          <p:cNvSpPr>
            <a:spLocks noGrp="1"/>
          </p:cNvSpPr>
          <p:nvPr/>
        </p:nvSpPr>
        <p:spPr>
          <a:xfrm>
            <a:off x="819150" y="1562100"/>
            <a:ext cx="3048000" cy="57150"/>
          </a:xfrm>
          <a:prstGeom prst="rect">
            <a:avLst/>
          </a:prstGeom>
          <a:solidFill>
            <a:srgbClr val="E85D4F"/>
          </a:solidFill>
          <a:ln w="0">
            <a:solidFill>
              <a:srgbClr val="E85D4F"/>
            </a:solidFill>
          </a:ln>
        </p:spPr>
      </p:sp>
      <p:sp>
        <p:nvSpPr>
          <p:cNvPr id="11" name="矩形 10">
            <a:extLst>
              <a:ext uri="{FF2B5EF4-FFF2-40B4-BE49-F238E27FC236}">
                <a16:creationId xmlns:a16="http://schemas.microsoft.com/office/drawing/2014/main" id="{D400969E-F6D1-42FA-8D1D-929569F8F437}"/>
              </a:ext>
            </a:extLst>
          </p:cNvPr>
          <p:cNvSpPr>
            <a:spLocks noGrp="1"/>
          </p:cNvSpPr>
          <p:nvPr/>
        </p:nvSpPr>
        <p:spPr>
          <a:xfrm>
            <a:off x="952500" y="1704975"/>
            <a:ext cx="2781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缓存层</a:t>
            </a:r>
          </a:p>
        </p:txBody>
      </p:sp>
      <p:sp>
        <p:nvSpPr>
          <p:cNvPr id="12" name="矩形 11">
            <a:extLst>
              <a:ext uri="{FF2B5EF4-FFF2-40B4-BE49-F238E27FC236}">
                <a16:creationId xmlns:a16="http://schemas.microsoft.com/office/drawing/2014/main" id="{1092070D-EBFB-42AB-94E6-A790A28C2113}"/>
              </a:ext>
            </a:extLst>
          </p:cNvPr>
          <p:cNvSpPr>
            <a:spLocks noGrp="1"/>
          </p:cNvSpPr>
          <p:nvPr/>
        </p:nvSpPr>
        <p:spPr>
          <a:xfrm>
            <a:off x="952500" y="1981200"/>
            <a:ext cx="2781300" cy="7239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Redis 缓存热门书籍、章节元数据、用户会话，降低数据库读压力</a:t>
            </a:r>
          </a:p>
        </p:txBody>
      </p:sp>
      <p:sp>
        <p:nvSpPr>
          <p:cNvPr id="13" name="矩形 12">
            <a:extLst>
              <a:ext uri="{FF2B5EF4-FFF2-40B4-BE49-F238E27FC236}">
                <a16:creationId xmlns:a16="http://schemas.microsoft.com/office/drawing/2014/main" id="{5FDC4326-09E4-4D5A-847D-7412B37CE1E8}"/>
              </a:ext>
            </a:extLst>
          </p:cNvPr>
          <p:cNvSpPr>
            <a:spLocks noGrp="1"/>
          </p:cNvSpPr>
          <p:nvPr/>
        </p:nvSpPr>
        <p:spPr>
          <a:xfrm>
            <a:off x="4438650" y="1562100"/>
            <a:ext cx="3048000" cy="1219200"/>
          </a:xfrm>
          <a:prstGeom prst="rect">
            <a:avLst/>
          </a:prstGeom>
          <a:solidFill>
            <a:srgbClr val="FFFFFF"/>
          </a:solidFill>
          <a:ln w="9525">
            <a:solidFill>
              <a:srgbClr val="D8D1C4"/>
            </a:solidFill>
          </a:ln>
        </p:spPr>
        <p:txBody>
          <a:bodyPr lIns="114300" tIns="95250" rIns="114300" bIns="95250" anchor="ctr"/>
          <a:lstStyle/>
          <a:p>
            <a:endParaRPr/>
          </a:p>
        </p:txBody>
      </p:sp>
      <p:sp>
        <p:nvSpPr>
          <p:cNvPr id="14" name="矩形 13">
            <a:extLst>
              <a:ext uri="{FF2B5EF4-FFF2-40B4-BE49-F238E27FC236}">
                <a16:creationId xmlns:a16="http://schemas.microsoft.com/office/drawing/2014/main" id="{1EEBD9A3-17A5-4B30-A12B-C934F382D53F}"/>
              </a:ext>
            </a:extLst>
          </p:cNvPr>
          <p:cNvSpPr>
            <a:spLocks noGrp="1"/>
          </p:cNvSpPr>
          <p:nvPr/>
        </p:nvSpPr>
        <p:spPr>
          <a:xfrm>
            <a:off x="4438650" y="1562100"/>
            <a:ext cx="3048000" cy="57150"/>
          </a:xfrm>
          <a:prstGeom prst="rect">
            <a:avLst/>
          </a:prstGeom>
          <a:solidFill>
            <a:srgbClr val="315C97"/>
          </a:solidFill>
          <a:ln w="0">
            <a:solidFill>
              <a:srgbClr val="315C97"/>
            </a:solidFill>
          </a:ln>
        </p:spPr>
      </p:sp>
      <p:sp>
        <p:nvSpPr>
          <p:cNvPr id="15" name="矩形 14">
            <a:extLst>
              <a:ext uri="{FF2B5EF4-FFF2-40B4-BE49-F238E27FC236}">
                <a16:creationId xmlns:a16="http://schemas.microsoft.com/office/drawing/2014/main" id="{0F9B6F01-0809-4C7A-85D3-0C32851550C8}"/>
              </a:ext>
            </a:extLst>
          </p:cNvPr>
          <p:cNvSpPr>
            <a:spLocks noGrp="1"/>
          </p:cNvSpPr>
          <p:nvPr/>
        </p:nvSpPr>
        <p:spPr>
          <a:xfrm>
            <a:off x="4572000" y="1704975"/>
            <a:ext cx="2781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数据库层</a:t>
            </a:r>
          </a:p>
        </p:txBody>
      </p:sp>
      <p:sp>
        <p:nvSpPr>
          <p:cNvPr id="16" name="矩形 15">
            <a:extLst>
              <a:ext uri="{FF2B5EF4-FFF2-40B4-BE49-F238E27FC236}">
                <a16:creationId xmlns:a16="http://schemas.microsoft.com/office/drawing/2014/main" id="{58F4951B-52BC-4F09-8446-500F081F5758}"/>
              </a:ext>
            </a:extLst>
          </p:cNvPr>
          <p:cNvSpPr>
            <a:spLocks noGrp="1"/>
          </p:cNvSpPr>
          <p:nvPr/>
        </p:nvSpPr>
        <p:spPr>
          <a:xfrm>
            <a:off x="4572000" y="1981200"/>
            <a:ext cx="2781300" cy="7239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业务库按用户/作品/时间等维度分库分表；读写分离支撑查询</a:t>
            </a:r>
          </a:p>
        </p:txBody>
      </p:sp>
      <p:sp>
        <p:nvSpPr>
          <p:cNvPr id="17" name="矩形 16">
            <a:extLst>
              <a:ext uri="{FF2B5EF4-FFF2-40B4-BE49-F238E27FC236}">
                <a16:creationId xmlns:a16="http://schemas.microsoft.com/office/drawing/2014/main" id="{00C9471C-7A9B-4134-A3EA-F00BAB60CB79}"/>
              </a:ext>
            </a:extLst>
          </p:cNvPr>
          <p:cNvSpPr>
            <a:spLocks noGrp="1"/>
          </p:cNvSpPr>
          <p:nvPr/>
        </p:nvSpPr>
        <p:spPr>
          <a:xfrm>
            <a:off x="8058150" y="1562100"/>
            <a:ext cx="3048000" cy="1219200"/>
          </a:xfrm>
          <a:prstGeom prst="rect">
            <a:avLst/>
          </a:prstGeom>
          <a:solidFill>
            <a:srgbClr val="FFFFFF"/>
          </a:solidFill>
          <a:ln w="9525">
            <a:solidFill>
              <a:srgbClr val="D8D1C4"/>
            </a:solidFill>
          </a:ln>
        </p:spPr>
        <p:txBody>
          <a:bodyPr lIns="114300" tIns="95250" rIns="114300" bIns="95250" anchor="ctr"/>
          <a:lstStyle/>
          <a:p>
            <a:endParaRPr/>
          </a:p>
        </p:txBody>
      </p:sp>
      <p:sp>
        <p:nvSpPr>
          <p:cNvPr id="18" name="矩形 17">
            <a:extLst>
              <a:ext uri="{FF2B5EF4-FFF2-40B4-BE49-F238E27FC236}">
                <a16:creationId xmlns:a16="http://schemas.microsoft.com/office/drawing/2014/main" id="{03C4097A-CE70-43AE-9D75-EAD09C3EA3FE}"/>
              </a:ext>
            </a:extLst>
          </p:cNvPr>
          <p:cNvSpPr>
            <a:spLocks noGrp="1"/>
          </p:cNvSpPr>
          <p:nvPr/>
        </p:nvSpPr>
        <p:spPr>
          <a:xfrm>
            <a:off x="8058150" y="1562100"/>
            <a:ext cx="3048000" cy="57150"/>
          </a:xfrm>
          <a:prstGeom prst="rect">
            <a:avLst/>
          </a:prstGeom>
          <a:solidFill>
            <a:srgbClr val="287D79"/>
          </a:solidFill>
          <a:ln w="0">
            <a:solidFill>
              <a:srgbClr val="287D79"/>
            </a:solidFill>
          </a:ln>
        </p:spPr>
      </p:sp>
      <p:sp>
        <p:nvSpPr>
          <p:cNvPr id="19" name="矩形 18">
            <a:extLst>
              <a:ext uri="{FF2B5EF4-FFF2-40B4-BE49-F238E27FC236}">
                <a16:creationId xmlns:a16="http://schemas.microsoft.com/office/drawing/2014/main" id="{7F827684-111D-4F74-96CE-8E58C551E056}"/>
              </a:ext>
            </a:extLst>
          </p:cNvPr>
          <p:cNvSpPr>
            <a:spLocks noGrp="1"/>
          </p:cNvSpPr>
          <p:nvPr/>
        </p:nvSpPr>
        <p:spPr>
          <a:xfrm>
            <a:off x="8191500" y="1704975"/>
            <a:ext cx="2781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消息队列</a:t>
            </a:r>
          </a:p>
        </p:txBody>
      </p:sp>
      <p:sp>
        <p:nvSpPr>
          <p:cNvPr id="20" name="矩形 19">
            <a:extLst>
              <a:ext uri="{FF2B5EF4-FFF2-40B4-BE49-F238E27FC236}">
                <a16:creationId xmlns:a16="http://schemas.microsoft.com/office/drawing/2014/main" id="{0AA6CD54-B27C-4C90-A70D-05396515B316}"/>
              </a:ext>
            </a:extLst>
          </p:cNvPr>
          <p:cNvSpPr>
            <a:spLocks noGrp="1"/>
          </p:cNvSpPr>
          <p:nvPr/>
        </p:nvSpPr>
        <p:spPr>
          <a:xfrm>
            <a:off x="8191500" y="1981200"/>
            <a:ext cx="2781300" cy="7239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评论通知、广告曝光、行为日志、推荐反馈异步化，削峰填谷</a:t>
            </a:r>
          </a:p>
        </p:txBody>
      </p:sp>
      <p:sp>
        <p:nvSpPr>
          <p:cNvPr id="21" name="矩形 20">
            <a:extLst>
              <a:ext uri="{FF2B5EF4-FFF2-40B4-BE49-F238E27FC236}">
                <a16:creationId xmlns:a16="http://schemas.microsoft.com/office/drawing/2014/main" id="{EDC98B46-2007-4432-9E31-D9D5B3757F75}"/>
              </a:ext>
            </a:extLst>
          </p:cNvPr>
          <p:cNvSpPr>
            <a:spLocks noGrp="1"/>
          </p:cNvSpPr>
          <p:nvPr/>
        </p:nvSpPr>
        <p:spPr>
          <a:xfrm>
            <a:off x="819150" y="3295650"/>
            <a:ext cx="3048000" cy="1219200"/>
          </a:xfrm>
          <a:prstGeom prst="rect">
            <a:avLst/>
          </a:prstGeom>
          <a:solidFill>
            <a:srgbClr val="FFFFFF"/>
          </a:solidFill>
          <a:ln w="9525">
            <a:solidFill>
              <a:srgbClr val="D8D1C4"/>
            </a:solidFill>
          </a:ln>
        </p:spPr>
        <p:txBody>
          <a:bodyPr lIns="114300" tIns="95250" rIns="114300" bIns="95250" anchor="ctr"/>
          <a:lstStyle/>
          <a:p>
            <a:endParaRPr/>
          </a:p>
        </p:txBody>
      </p:sp>
      <p:sp>
        <p:nvSpPr>
          <p:cNvPr id="22" name="矩形 21">
            <a:extLst>
              <a:ext uri="{FF2B5EF4-FFF2-40B4-BE49-F238E27FC236}">
                <a16:creationId xmlns:a16="http://schemas.microsoft.com/office/drawing/2014/main" id="{C56BEB1A-6C51-4DD3-BA2D-8A8BDA1D8A17}"/>
              </a:ext>
            </a:extLst>
          </p:cNvPr>
          <p:cNvSpPr>
            <a:spLocks noGrp="1"/>
          </p:cNvSpPr>
          <p:nvPr/>
        </p:nvSpPr>
        <p:spPr>
          <a:xfrm>
            <a:off x="819150" y="3295650"/>
            <a:ext cx="3048000" cy="57150"/>
          </a:xfrm>
          <a:prstGeom prst="rect">
            <a:avLst/>
          </a:prstGeom>
          <a:solidFill>
            <a:srgbClr val="B2832F"/>
          </a:solidFill>
          <a:ln w="0">
            <a:solidFill>
              <a:srgbClr val="B2832F"/>
            </a:solidFill>
          </a:ln>
        </p:spPr>
      </p:sp>
      <p:sp>
        <p:nvSpPr>
          <p:cNvPr id="23" name="矩形 22">
            <a:extLst>
              <a:ext uri="{FF2B5EF4-FFF2-40B4-BE49-F238E27FC236}">
                <a16:creationId xmlns:a16="http://schemas.microsoft.com/office/drawing/2014/main" id="{8BC5B8FC-CDC4-4AF4-9E40-A2B3D6FE07DF}"/>
              </a:ext>
            </a:extLst>
          </p:cNvPr>
          <p:cNvSpPr>
            <a:spLocks noGrp="1"/>
          </p:cNvSpPr>
          <p:nvPr/>
        </p:nvSpPr>
        <p:spPr>
          <a:xfrm>
            <a:off x="952500" y="3438525"/>
            <a:ext cx="2781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搜索索引</a:t>
            </a:r>
          </a:p>
        </p:txBody>
      </p:sp>
      <p:sp>
        <p:nvSpPr>
          <p:cNvPr id="24" name="矩形 23">
            <a:extLst>
              <a:ext uri="{FF2B5EF4-FFF2-40B4-BE49-F238E27FC236}">
                <a16:creationId xmlns:a16="http://schemas.microsoft.com/office/drawing/2014/main" id="{FBD57114-D1BC-4559-B1DD-5DC08A12937C}"/>
              </a:ext>
            </a:extLst>
          </p:cNvPr>
          <p:cNvSpPr>
            <a:spLocks noGrp="1"/>
          </p:cNvSpPr>
          <p:nvPr/>
        </p:nvSpPr>
        <p:spPr>
          <a:xfrm>
            <a:off x="952500" y="3714750"/>
            <a:ext cx="2781300" cy="7239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书名、作者、题材、标签等进入搜索索引，避免复杂查询压业务库</a:t>
            </a:r>
          </a:p>
        </p:txBody>
      </p:sp>
      <p:sp>
        <p:nvSpPr>
          <p:cNvPr id="25" name="矩形 24">
            <a:extLst>
              <a:ext uri="{FF2B5EF4-FFF2-40B4-BE49-F238E27FC236}">
                <a16:creationId xmlns:a16="http://schemas.microsoft.com/office/drawing/2014/main" id="{69192A1C-08B8-4874-9A85-7AAAC95BF5DE}"/>
              </a:ext>
            </a:extLst>
          </p:cNvPr>
          <p:cNvSpPr>
            <a:spLocks noGrp="1"/>
          </p:cNvSpPr>
          <p:nvPr/>
        </p:nvSpPr>
        <p:spPr>
          <a:xfrm>
            <a:off x="4438650" y="3295650"/>
            <a:ext cx="3048000" cy="1219200"/>
          </a:xfrm>
          <a:prstGeom prst="rect">
            <a:avLst/>
          </a:prstGeom>
          <a:solidFill>
            <a:srgbClr val="FFFFFF"/>
          </a:solidFill>
          <a:ln w="9525">
            <a:solidFill>
              <a:srgbClr val="D8D1C4"/>
            </a:solidFill>
          </a:ln>
        </p:spPr>
        <p:txBody>
          <a:bodyPr lIns="114300" tIns="95250" rIns="114300" bIns="95250" anchor="ctr"/>
          <a:lstStyle/>
          <a:p>
            <a:endParaRPr/>
          </a:p>
        </p:txBody>
      </p:sp>
      <p:sp>
        <p:nvSpPr>
          <p:cNvPr id="26" name="矩形 25">
            <a:extLst>
              <a:ext uri="{FF2B5EF4-FFF2-40B4-BE49-F238E27FC236}">
                <a16:creationId xmlns:a16="http://schemas.microsoft.com/office/drawing/2014/main" id="{CC17CF82-F33E-4E75-8374-6FDC4675F6A3}"/>
              </a:ext>
            </a:extLst>
          </p:cNvPr>
          <p:cNvSpPr>
            <a:spLocks noGrp="1"/>
          </p:cNvSpPr>
          <p:nvPr/>
        </p:nvSpPr>
        <p:spPr>
          <a:xfrm>
            <a:off x="4438650" y="3295650"/>
            <a:ext cx="3048000" cy="57150"/>
          </a:xfrm>
          <a:prstGeom prst="rect">
            <a:avLst/>
          </a:prstGeom>
          <a:solidFill>
            <a:srgbClr val="E85D4F"/>
          </a:solidFill>
          <a:ln w="0">
            <a:solidFill>
              <a:srgbClr val="E85D4F"/>
            </a:solidFill>
          </a:ln>
        </p:spPr>
      </p:sp>
      <p:sp>
        <p:nvSpPr>
          <p:cNvPr id="27" name="矩形 26">
            <a:extLst>
              <a:ext uri="{FF2B5EF4-FFF2-40B4-BE49-F238E27FC236}">
                <a16:creationId xmlns:a16="http://schemas.microsoft.com/office/drawing/2014/main" id="{81E9EB61-0C5C-4C01-903D-C068D1FEE2DE}"/>
              </a:ext>
            </a:extLst>
          </p:cNvPr>
          <p:cNvSpPr>
            <a:spLocks noGrp="1"/>
          </p:cNvSpPr>
          <p:nvPr/>
        </p:nvSpPr>
        <p:spPr>
          <a:xfrm>
            <a:off x="4572000" y="3438525"/>
            <a:ext cx="2781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可用性保障</a:t>
            </a:r>
          </a:p>
        </p:txBody>
      </p:sp>
      <p:sp>
        <p:nvSpPr>
          <p:cNvPr id="28" name="矩形 27">
            <a:extLst>
              <a:ext uri="{FF2B5EF4-FFF2-40B4-BE49-F238E27FC236}">
                <a16:creationId xmlns:a16="http://schemas.microsoft.com/office/drawing/2014/main" id="{BDFC40BC-BD87-4D1B-98DF-82748970DE82}"/>
              </a:ext>
            </a:extLst>
          </p:cNvPr>
          <p:cNvSpPr>
            <a:spLocks noGrp="1"/>
          </p:cNvSpPr>
          <p:nvPr/>
        </p:nvSpPr>
        <p:spPr>
          <a:xfrm>
            <a:off x="4572000" y="3714750"/>
            <a:ext cx="2781300" cy="7239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多实例部署、健康检查、灰度发布、监控告警和故障回滚</a:t>
            </a:r>
          </a:p>
        </p:txBody>
      </p:sp>
      <p:sp>
        <p:nvSpPr>
          <p:cNvPr id="29" name="矩形 28">
            <a:extLst>
              <a:ext uri="{FF2B5EF4-FFF2-40B4-BE49-F238E27FC236}">
                <a16:creationId xmlns:a16="http://schemas.microsoft.com/office/drawing/2014/main" id="{929F2E54-0CD5-42E7-B0FF-9E6813B53C51}"/>
              </a:ext>
            </a:extLst>
          </p:cNvPr>
          <p:cNvSpPr>
            <a:spLocks noGrp="1"/>
          </p:cNvSpPr>
          <p:nvPr/>
        </p:nvSpPr>
        <p:spPr>
          <a:xfrm>
            <a:off x="8058150" y="3295650"/>
            <a:ext cx="3048000" cy="1219200"/>
          </a:xfrm>
          <a:prstGeom prst="rect">
            <a:avLst/>
          </a:prstGeom>
          <a:solidFill>
            <a:srgbClr val="FFFFFF"/>
          </a:solidFill>
          <a:ln w="9525">
            <a:solidFill>
              <a:srgbClr val="D8D1C4"/>
            </a:solidFill>
          </a:ln>
        </p:spPr>
        <p:txBody>
          <a:bodyPr lIns="114300" tIns="95250" rIns="114300" bIns="95250" anchor="ctr"/>
          <a:lstStyle/>
          <a:p>
            <a:endParaRPr/>
          </a:p>
        </p:txBody>
      </p:sp>
      <p:sp>
        <p:nvSpPr>
          <p:cNvPr id="30" name="矩形 29">
            <a:extLst>
              <a:ext uri="{FF2B5EF4-FFF2-40B4-BE49-F238E27FC236}">
                <a16:creationId xmlns:a16="http://schemas.microsoft.com/office/drawing/2014/main" id="{19608AEC-A8D7-4DC7-B12A-F6FDA2730DAD}"/>
              </a:ext>
            </a:extLst>
          </p:cNvPr>
          <p:cNvSpPr>
            <a:spLocks noGrp="1"/>
          </p:cNvSpPr>
          <p:nvPr/>
        </p:nvSpPr>
        <p:spPr>
          <a:xfrm>
            <a:off x="8058150" y="3295650"/>
            <a:ext cx="3048000" cy="57150"/>
          </a:xfrm>
          <a:prstGeom prst="rect">
            <a:avLst/>
          </a:prstGeom>
          <a:solidFill>
            <a:srgbClr val="315C97"/>
          </a:solidFill>
          <a:ln w="0">
            <a:solidFill>
              <a:srgbClr val="315C97"/>
            </a:solidFill>
          </a:ln>
        </p:spPr>
      </p:sp>
      <p:sp>
        <p:nvSpPr>
          <p:cNvPr id="31" name="矩形 30">
            <a:extLst>
              <a:ext uri="{FF2B5EF4-FFF2-40B4-BE49-F238E27FC236}">
                <a16:creationId xmlns:a16="http://schemas.microsoft.com/office/drawing/2014/main" id="{6F767B05-1CEA-41D4-933D-A17C5C7A1463}"/>
              </a:ext>
            </a:extLst>
          </p:cNvPr>
          <p:cNvSpPr>
            <a:spLocks noGrp="1"/>
          </p:cNvSpPr>
          <p:nvPr/>
        </p:nvSpPr>
        <p:spPr>
          <a:xfrm>
            <a:off x="8191500" y="3438525"/>
            <a:ext cx="27813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一致性设计</a:t>
            </a:r>
          </a:p>
        </p:txBody>
      </p:sp>
      <p:sp>
        <p:nvSpPr>
          <p:cNvPr id="32" name="矩形 31">
            <a:extLst>
              <a:ext uri="{FF2B5EF4-FFF2-40B4-BE49-F238E27FC236}">
                <a16:creationId xmlns:a16="http://schemas.microsoft.com/office/drawing/2014/main" id="{B0973DA1-344A-4DE9-9B3A-8B9D649BE29C}"/>
              </a:ext>
            </a:extLst>
          </p:cNvPr>
          <p:cNvSpPr>
            <a:spLocks noGrp="1"/>
          </p:cNvSpPr>
          <p:nvPr/>
        </p:nvSpPr>
        <p:spPr>
          <a:xfrm>
            <a:off x="8191500" y="3714750"/>
            <a:ext cx="2781300" cy="7239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阅读进度、书架、评论等核心状态保证正确；日志允许异步最终落库</a:t>
            </a:r>
          </a:p>
        </p:txBody>
      </p:sp>
      <p:sp>
        <p:nvSpPr>
          <p:cNvPr id="33" name="矩形 32">
            <a:extLst>
              <a:ext uri="{FF2B5EF4-FFF2-40B4-BE49-F238E27FC236}">
                <a16:creationId xmlns:a16="http://schemas.microsoft.com/office/drawing/2014/main" id="{DCDB8EF8-0924-489D-8196-3421926EEBBB}"/>
              </a:ext>
            </a:extLst>
          </p:cNvPr>
          <p:cNvSpPr>
            <a:spLocks noGrp="1"/>
          </p:cNvSpPr>
          <p:nvPr/>
        </p:nvSpPr>
        <p:spPr>
          <a:xfrm>
            <a:off x="1200150" y="5219700"/>
            <a:ext cx="9810750" cy="609600"/>
          </a:xfrm>
          <a:prstGeom prst="rect">
            <a:avLst/>
          </a:prstGeom>
          <a:solidFill>
            <a:srgbClr val="1E2732"/>
          </a:solidFill>
          <a:ln w="9525">
            <a:solidFill>
              <a:srgbClr val="1E2732"/>
            </a:solidFill>
          </a:ln>
        </p:spPr>
        <p:txBody>
          <a:bodyPr lIns="114300" tIns="95250" rIns="114300" bIns="95250" anchor="ctr"/>
          <a:lstStyle/>
          <a:p>
            <a:pPr algn="ctr">
              <a:defRPr sz="1350">
                <a:solidFill>
                  <a:srgbClr val="FFFFFF"/>
                </a:solidFill>
                <a:latin typeface="Microsoft YaHei"/>
                <a:ea typeface="Microsoft YaHei"/>
                <a:cs typeface="Microsoft YaHei"/>
              </a:defRPr>
            </a:pPr>
            <a:r>
              <a:rPr sz="1350" dirty="0" err="1">
                <a:solidFill>
                  <a:srgbClr val="FFFFFF"/>
                </a:solidFill>
                <a:latin typeface="Microsoft YaHei"/>
                <a:ea typeface="Microsoft YaHei"/>
                <a:cs typeface="Microsoft YaHei"/>
              </a:rPr>
              <a:t>回答</a:t>
            </a:r>
            <a:r>
              <a:rPr sz="1350" dirty="0">
                <a:solidFill>
                  <a:srgbClr val="FFFFFF"/>
                </a:solidFill>
                <a:latin typeface="Microsoft YaHei"/>
                <a:ea typeface="Microsoft YaHei"/>
                <a:cs typeface="Microsoft YaHei"/>
              </a:rPr>
              <a:t> b </a:t>
            </a:r>
            <a:r>
              <a:rPr sz="1350" dirty="0" err="1">
                <a:solidFill>
                  <a:srgbClr val="FFFFFF"/>
                </a:solidFill>
                <a:latin typeface="Microsoft YaHei"/>
                <a:ea typeface="Microsoft YaHei"/>
                <a:cs typeface="Microsoft YaHei"/>
              </a:rPr>
              <a:t>的核心：大型</a:t>
            </a:r>
            <a:r>
              <a:rPr sz="1350" dirty="0">
                <a:solidFill>
                  <a:srgbClr val="FFFFFF"/>
                </a:solidFill>
                <a:latin typeface="Microsoft YaHei"/>
                <a:ea typeface="Microsoft YaHei"/>
                <a:cs typeface="Microsoft YaHei"/>
              </a:rPr>
              <a:t> OLTP </a:t>
            </a:r>
            <a:r>
              <a:rPr sz="1350" dirty="0" err="1">
                <a:solidFill>
                  <a:srgbClr val="FFFFFF"/>
                </a:solidFill>
                <a:latin typeface="Microsoft YaHei"/>
                <a:ea typeface="Microsoft YaHei"/>
                <a:cs typeface="Microsoft YaHei"/>
              </a:rPr>
              <a:t>系统不是让一个数据库承受所有压力，而是通过缓存、索引、分库分表、消息队列、限流降级和监控运维把不同压力拆开处理</a:t>
            </a:r>
            <a:r>
              <a:rPr sz="1350" dirty="0">
                <a:solidFill>
                  <a:srgbClr val="FFFFFF"/>
                </a:solidFill>
                <a:latin typeface="Microsoft YaHei"/>
                <a:ea typeface="Microsoft YaHei"/>
                <a:cs typeface="Microsoft YaHei"/>
              </a:rPr>
              <a:t>。</a:t>
            </a:r>
          </a:p>
        </p:txBody>
      </p:sp>
    </p:spTree>
    <p:extLst>
      <p:ext uri="{BB962C8B-B14F-4D97-AF65-F5344CB8AC3E}">
        <p14:creationId xmlns:p14="http://schemas.microsoft.com/office/powerpoint/2010/main" val="2103144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7FE1232E-4C8B-4077-9B11-82FAC2B7C5A9}"/>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648B7151-1DDF-40B8-B71B-19A30691F42F}"/>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82057EB1-7176-4AE2-AC07-06C3DCC6C840}"/>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c: data-flow relationship between OLTP and big-data platform.</a:t>
            </a:r>
          </a:p>
        </p:txBody>
      </p:sp>
      <p:sp>
        <p:nvSpPr>
          <p:cNvPr id="4" name="矩形 3">
            <a:extLst>
              <a:ext uri="{FF2B5EF4-FFF2-40B4-BE49-F238E27FC236}">
                <a16:creationId xmlns:a16="http://schemas.microsoft.com/office/drawing/2014/main" id="{F3442E7F-BFF5-4BC0-AABB-84A91AE80FD7}"/>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08</a:t>
            </a:r>
          </a:p>
        </p:txBody>
      </p:sp>
      <p:sp>
        <p:nvSpPr>
          <p:cNvPr id="5" name="椭圆 4">
            <a:extLst>
              <a:ext uri="{FF2B5EF4-FFF2-40B4-BE49-F238E27FC236}">
                <a16:creationId xmlns:a16="http://schemas.microsoft.com/office/drawing/2014/main" id="{B64A5865-C853-40CF-A66D-C759E8DB1BEF}"/>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A96E2315-B594-4FF5-A99A-DB6208BC46AB}"/>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c  OLTP TO BIG DATA</a:t>
            </a:r>
          </a:p>
        </p:txBody>
      </p:sp>
      <p:sp>
        <p:nvSpPr>
          <p:cNvPr id="7" name="矩形 6">
            <a:extLst>
              <a:ext uri="{FF2B5EF4-FFF2-40B4-BE49-F238E27FC236}">
                <a16:creationId xmlns:a16="http://schemas.microsoft.com/office/drawing/2014/main" id="{027A2E44-98BF-4F3D-A989-2A36B8344E93}"/>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OLTP 产生业务事实，大数据平台沉淀行为过程并支持分析反馈</a:t>
            </a:r>
          </a:p>
        </p:txBody>
      </p:sp>
      <p:sp>
        <p:nvSpPr>
          <p:cNvPr id="8" name="直接连接符 7">
            <a:extLst>
              <a:ext uri="{FF2B5EF4-FFF2-40B4-BE49-F238E27FC236}">
                <a16:creationId xmlns:a16="http://schemas.microsoft.com/office/drawing/2014/main" id="{3D2D51A9-8472-403C-B6A9-F158F9742541}"/>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B0F79E25-287D-4FE1-9939-5FF7AC7129BC}"/>
              </a:ext>
            </a:extLst>
          </p:cNvPr>
          <p:cNvSpPr>
            <a:spLocks noGrp="1"/>
          </p:cNvSpPr>
          <p:nvPr/>
        </p:nvSpPr>
        <p:spPr>
          <a:xfrm>
            <a:off x="514350" y="1809750"/>
            <a:ext cx="1809750" cy="1428750"/>
          </a:xfrm>
          <a:prstGeom prst="rect">
            <a:avLst/>
          </a:prstGeom>
          <a:solidFill>
            <a:srgbClr val="FFFFFF"/>
          </a:solidFill>
          <a:ln w="9525">
            <a:solidFill>
              <a:srgbClr val="D8D1C4"/>
            </a:solidFill>
          </a:ln>
        </p:spPr>
        <p:txBody>
          <a:bodyPr lIns="114300" tIns="95250" rIns="114300" bIns="95250" anchor="ctr"/>
          <a:lstStyle/>
          <a:p>
            <a:endParaRPr/>
          </a:p>
        </p:txBody>
      </p:sp>
      <p:sp>
        <p:nvSpPr>
          <p:cNvPr id="10" name="矩形 9">
            <a:extLst>
              <a:ext uri="{FF2B5EF4-FFF2-40B4-BE49-F238E27FC236}">
                <a16:creationId xmlns:a16="http://schemas.microsoft.com/office/drawing/2014/main" id="{7ABF0986-58CC-438E-BF29-108E8375478B}"/>
              </a:ext>
            </a:extLst>
          </p:cNvPr>
          <p:cNvSpPr>
            <a:spLocks noGrp="1"/>
          </p:cNvSpPr>
          <p:nvPr/>
        </p:nvSpPr>
        <p:spPr>
          <a:xfrm>
            <a:off x="514350" y="1809750"/>
            <a:ext cx="1809750" cy="57150"/>
          </a:xfrm>
          <a:prstGeom prst="rect">
            <a:avLst/>
          </a:prstGeom>
          <a:solidFill>
            <a:srgbClr val="315C97"/>
          </a:solidFill>
          <a:ln w="0">
            <a:solidFill>
              <a:srgbClr val="315C97"/>
            </a:solidFill>
          </a:ln>
        </p:spPr>
      </p:sp>
      <p:sp>
        <p:nvSpPr>
          <p:cNvPr id="11" name="矩形 10">
            <a:extLst>
              <a:ext uri="{FF2B5EF4-FFF2-40B4-BE49-F238E27FC236}">
                <a16:creationId xmlns:a16="http://schemas.microsoft.com/office/drawing/2014/main" id="{7FA6F0CD-474A-4124-A1A2-11A8D268416F}"/>
              </a:ext>
            </a:extLst>
          </p:cNvPr>
          <p:cNvSpPr>
            <a:spLocks noGrp="1"/>
          </p:cNvSpPr>
          <p:nvPr/>
        </p:nvSpPr>
        <p:spPr>
          <a:xfrm>
            <a:off x="647700" y="1952625"/>
            <a:ext cx="15430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OLTP 业务库</a:t>
            </a:r>
          </a:p>
        </p:txBody>
      </p:sp>
      <p:sp>
        <p:nvSpPr>
          <p:cNvPr id="12" name="矩形 11">
            <a:extLst>
              <a:ext uri="{FF2B5EF4-FFF2-40B4-BE49-F238E27FC236}">
                <a16:creationId xmlns:a16="http://schemas.microsoft.com/office/drawing/2014/main" id="{13D718EF-9FE6-4B90-A03D-7D2723A039A8}"/>
              </a:ext>
            </a:extLst>
          </p:cNvPr>
          <p:cNvSpPr>
            <a:spLocks noGrp="1"/>
          </p:cNvSpPr>
          <p:nvPr/>
        </p:nvSpPr>
        <p:spPr>
          <a:xfrm>
            <a:off x="647700" y="2228850"/>
            <a:ext cx="1543050" cy="9334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用户、书籍、章节、书架、阅读进度、评论、广告状态</a:t>
            </a:r>
          </a:p>
        </p:txBody>
      </p:sp>
      <p:sp>
        <p:nvSpPr>
          <p:cNvPr id="13" name="箭头: 右 12">
            <a:extLst>
              <a:ext uri="{FF2B5EF4-FFF2-40B4-BE49-F238E27FC236}">
                <a16:creationId xmlns:a16="http://schemas.microsoft.com/office/drawing/2014/main" id="{0EA2E8CF-2A05-408E-A398-CF4D0FB093CA}"/>
              </a:ext>
            </a:extLst>
          </p:cNvPr>
          <p:cNvSpPr>
            <a:spLocks noGrp="1"/>
          </p:cNvSpPr>
          <p:nvPr/>
        </p:nvSpPr>
        <p:spPr>
          <a:xfrm>
            <a:off x="2362200" y="2400300"/>
            <a:ext cx="323850" cy="190500"/>
          </a:xfrm>
          <a:prstGeom prst="rightArrow">
            <a:avLst/>
          </a:prstGeom>
          <a:solidFill>
            <a:srgbClr val="315C97"/>
          </a:solidFill>
          <a:ln w="0">
            <a:solidFill>
              <a:srgbClr val="315C97"/>
            </a:solidFill>
          </a:ln>
        </p:spPr>
      </p:sp>
      <p:sp>
        <p:nvSpPr>
          <p:cNvPr id="14" name="矩形 13">
            <a:extLst>
              <a:ext uri="{FF2B5EF4-FFF2-40B4-BE49-F238E27FC236}">
                <a16:creationId xmlns:a16="http://schemas.microsoft.com/office/drawing/2014/main" id="{5D2E5CF9-EA48-4646-AD4A-5EC572675130}"/>
              </a:ext>
            </a:extLst>
          </p:cNvPr>
          <p:cNvSpPr>
            <a:spLocks noGrp="1"/>
          </p:cNvSpPr>
          <p:nvPr/>
        </p:nvSpPr>
        <p:spPr>
          <a:xfrm>
            <a:off x="2819400" y="1809750"/>
            <a:ext cx="1809750" cy="1428750"/>
          </a:xfrm>
          <a:prstGeom prst="rect">
            <a:avLst/>
          </a:prstGeom>
          <a:solidFill>
            <a:srgbClr val="FFFFFF"/>
          </a:solidFill>
          <a:ln w="9525">
            <a:solidFill>
              <a:srgbClr val="D8D1C4"/>
            </a:solidFill>
          </a:ln>
        </p:spPr>
        <p:txBody>
          <a:bodyPr lIns="114300" tIns="95250" rIns="114300" bIns="95250" anchor="ctr"/>
          <a:lstStyle/>
          <a:p>
            <a:endParaRPr/>
          </a:p>
        </p:txBody>
      </p:sp>
      <p:sp>
        <p:nvSpPr>
          <p:cNvPr id="15" name="矩形 14">
            <a:extLst>
              <a:ext uri="{FF2B5EF4-FFF2-40B4-BE49-F238E27FC236}">
                <a16:creationId xmlns:a16="http://schemas.microsoft.com/office/drawing/2014/main" id="{87BF7D5B-9F51-4D02-B1E1-EBC8DAD1F279}"/>
              </a:ext>
            </a:extLst>
          </p:cNvPr>
          <p:cNvSpPr>
            <a:spLocks noGrp="1"/>
          </p:cNvSpPr>
          <p:nvPr/>
        </p:nvSpPr>
        <p:spPr>
          <a:xfrm>
            <a:off x="2819400" y="1809750"/>
            <a:ext cx="1809750" cy="57150"/>
          </a:xfrm>
          <a:prstGeom prst="rect">
            <a:avLst/>
          </a:prstGeom>
          <a:solidFill>
            <a:srgbClr val="287D79"/>
          </a:solidFill>
          <a:ln w="0">
            <a:solidFill>
              <a:srgbClr val="287D79"/>
            </a:solidFill>
          </a:ln>
        </p:spPr>
      </p:sp>
      <p:sp>
        <p:nvSpPr>
          <p:cNvPr id="16" name="矩形 15">
            <a:extLst>
              <a:ext uri="{FF2B5EF4-FFF2-40B4-BE49-F238E27FC236}">
                <a16:creationId xmlns:a16="http://schemas.microsoft.com/office/drawing/2014/main" id="{600500C0-E4B0-4928-A0B0-5296AF054902}"/>
              </a:ext>
            </a:extLst>
          </p:cNvPr>
          <p:cNvSpPr>
            <a:spLocks noGrp="1"/>
          </p:cNvSpPr>
          <p:nvPr/>
        </p:nvSpPr>
        <p:spPr>
          <a:xfrm>
            <a:off x="2952750" y="1952625"/>
            <a:ext cx="15430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行为日志</a:t>
            </a:r>
          </a:p>
        </p:txBody>
      </p:sp>
      <p:sp>
        <p:nvSpPr>
          <p:cNvPr id="17" name="矩形 16">
            <a:extLst>
              <a:ext uri="{FF2B5EF4-FFF2-40B4-BE49-F238E27FC236}">
                <a16:creationId xmlns:a16="http://schemas.microsoft.com/office/drawing/2014/main" id="{94D9AB24-124A-4A67-AD84-F7621322C0EC}"/>
              </a:ext>
            </a:extLst>
          </p:cNvPr>
          <p:cNvSpPr>
            <a:spLocks noGrp="1"/>
          </p:cNvSpPr>
          <p:nvPr/>
        </p:nvSpPr>
        <p:spPr>
          <a:xfrm>
            <a:off x="2952750" y="2228850"/>
            <a:ext cx="1543050" cy="9334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曝光、点击、搜索、翻页、停留时长、推荐位、设备地区</a:t>
            </a:r>
          </a:p>
        </p:txBody>
      </p:sp>
      <p:sp>
        <p:nvSpPr>
          <p:cNvPr id="18" name="箭头: 右 17">
            <a:extLst>
              <a:ext uri="{FF2B5EF4-FFF2-40B4-BE49-F238E27FC236}">
                <a16:creationId xmlns:a16="http://schemas.microsoft.com/office/drawing/2014/main" id="{ECB302EB-8085-48A4-9B69-522C0425DEAE}"/>
              </a:ext>
            </a:extLst>
          </p:cNvPr>
          <p:cNvSpPr>
            <a:spLocks noGrp="1"/>
          </p:cNvSpPr>
          <p:nvPr/>
        </p:nvSpPr>
        <p:spPr>
          <a:xfrm>
            <a:off x="4667250" y="2400300"/>
            <a:ext cx="323850" cy="190500"/>
          </a:xfrm>
          <a:prstGeom prst="rightArrow">
            <a:avLst/>
          </a:prstGeom>
          <a:solidFill>
            <a:srgbClr val="287D79"/>
          </a:solidFill>
          <a:ln w="0">
            <a:solidFill>
              <a:srgbClr val="287D79"/>
            </a:solidFill>
          </a:ln>
        </p:spPr>
      </p:sp>
      <p:sp>
        <p:nvSpPr>
          <p:cNvPr id="19" name="矩形 18">
            <a:extLst>
              <a:ext uri="{FF2B5EF4-FFF2-40B4-BE49-F238E27FC236}">
                <a16:creationId xmlns:a16="http://schemas.microsoft.com/office/drawing/2014/main" id="{818473D4-CD5B-45E7-8D2F-50E2E2C7EB11}"/>
              </a:ext>
            </a:extLst>
          </p:cNvPr>
          <p:cNvSpPr>
            <a:spLocks noGrp="1"/>
          </p:cNvSpPr>
          <p:nvPr/>
        </p:nvSpPr>
        <p:spPr>
          <a:xfrm>
            <a:off x="5124450" y="1809750"/>
            <a:ext cx="1809750" cy="1428750"/>
          </a:xfrm>
          <a:prstGeom prst="rect">
            <a:avLst/>
          </a:prstGeom>
          <a:solidFill>
            <a:srgbClr val="FFFFFF"/>
          </a:solidFill>
          <a:ln w="9525">
            <a:solidFill>
              <a:srgbClr val="D8D1C4"/>
            </a:solidFill>
          </a:ln>
        </p:spPr>
        <p:txBody>
          <a:bodyPr lIns="114300" tIns="95250" rIns="114300" bIns="95250" anchor="ctr"/>
          <a:lstStyle/>
          <a:p>
            <a:endParaRPr/>
          </a:p>
        </p:txBody>
      </p:sp>
      <p:sp>
        <p:nvSpPr>
          <p:cNvPr id="20" name="矩形 19">
            <a:extLst>
              <a:ext uri="{FF2B5EF4-FFF2-40B4-BE49-F238E27FC236}">
                <a16:creationId xmlns:a16="http://schemas.microsoft.com/office/drawing/2014/main" id="{F1E4403D-B1ED-4FCF-9AAC-4558A30E6A8F}"/>
              </a:ext>
            </a:extLst>
          </p:cNvPr>
          <p:cNvSpPr>
            <a:spLocks noGrp="1"/>
          </p:cNvSpPr>
          <p:nvPr/>
        </p:nvSpPr>
        <p:spPr>
          <a:xfrm>
            <a:off x="5124450" y="1809750"/>
            <a:ext cx="1809750" cy="57150"/>
          </a:xfrm>
          <a:prstGeom prst="rect">
            <a:avLst/>
          </a:prstGeom>
          <a:solidFill>
            <a:srgbClr val="E85D4F"/>
          </a:solidFill>
          <a:ln w="0">
            <a:solidFill>
              <a:srgbClr val="E85D4F"/>
            </a:solidFill>
          </a:ln>
        </p:spPr>
      </p:sp>
      <p:sp>
        <p:nvSpPr>
          <p:cNvPr id="21" name="矩形 20">
            <a:extLst>
              <a:ext uri="{FF2B5EF4-FFF2-40B4-BE49-F238E27FC236}">
                <a16:creationId xmlns:a16="http://schemas.microsoft.com/office/drawing/2014/main" id="{BB1C3DE8-F1CB-462A-B6FB-380864927CE1}"/>
              </a:ext>
            </a:extLst>
          </p:cNvPr>
          <p:cNvSpPr>
            <a:spLocks noGrp="1"/>
          </p:cNvSpPr>
          <p:nvPr/>
        </p:nvSpPr>
        <p:spPr>
          <a:xfrm>
            <a:off x="5257800" y="1952625"/>
            <a:ext cx="15430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数据采集</a:t>
            </a:r>
          </a:p>
        </p:txBody>
      </p:sp>
      <p:sp>
        <p:nvSpPr>
          <p:cNvPr id="22" name="矩形 21">
            <a:extLst>
              <a:ext uri="{FF2B5EF4-FFF2-40B4-BE49-F238E27FC236}">
                <a16:creationId xmlns:a16="http://schemas.microsoft.com/office/drawing/2014/main" id="{2F96D0BB-AC91-4F46-BC68-6E00594561B3}"/>
              </a:ext>
            </a:extLst>
          </p:cNvPr>
          <p:cNvSpPr>
            <a:spLocks noGrp="1"/>
          </p:cNvSpPr>
          <p:nvPr/>
        </p:nvSpPr>
        <p:spPr>
          <a:xfrm>
            <a:off x="5257800" y="2228850"/>
            <a:ext cx="1543050" cy="9334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CDC 同步业务库变化；埋点日志进入 Kafka；批量数据用 DataX</a:t>
            </a:r>
          </a:p>
        </p:txBody>
      </p:sp>
      <p:sp>
        <p:nvSpPr>
          <p:cNvPr id="23" name="箭头: 右 22">
            <a:extLst>
              <a:ext uri="{FF2B5EF4-FFF2-40B4-BE49-F238E27FC236}">
                <a16:creationId xmlns:a16="http://schemas.microsoft.com/office/drawing/2014/main" id="{9BCCC2CB-15FF-402F-B433-DD91530BE299}"/>
              </a:ext>
            </a:extLst>
          </p:cNvPr>
          <p:cNvSpPr>
            <a:spLocks noGrp="1"/>
          </p:cNvSpPr>
          <p:nvPr/>
        </p:nvSpPr>
        <p:spPr>
          <a:xfrm>
            <a:off x="6972300" y="2400300"/>
            <a:ext cx="323850" cy="190500"/>
          </a:xfrm>
          <a:prstGeom prst="rightArrow">
            <a:avLst/>
          </a:prstGeom>
          <a:solidFill>
            <a:srgbClr val="E85D4F"/>
          </a:solidFill>
          <a:ln w="0">
            <a:solidFill>
              <a:srgbClr val="E85D4F"/>
            </a:solidFill>
          </a:ln>
        </p:spPr>
      </p:sp>
      <p:sp>
        <p:nvSpPr>
          <p:cNvPr id="24" name="矩形 23">
            <a:extLst>
              <a:ext uri="{FF2B5EF4-FFF2-40B4-BE49-F238E27FC236}">
                <a16:creationId xmlns:a16="http://schemas.microsoft.com/office/drawing/2014/main" id="{262510FE-F89C-4643-B290-B3E9DC45CFB8}"/>
              </a:ext>
            </a:extLst>
          </p:cNvPr>
          <p:cNvSpPr>
            <a:spLocks noGrp="1"/>
          </p:cNvSpPr>
          <p:nvPr/>
        </p:nvSpPr>
        <p:spPr>
          <a:xfrm>
            <a:off x="7429500" y="1809750"/>
            <a:ext cx="1809750" cy="1428750"/>
          </a:xfrm>
          <a:prstGeom prst="rect">
            <a:avLst/>
          </a:prstGeom>
          <a:solidFill>
            <a:srgbClr val="FFFFFF"/>
          </a:solidFill>
          <a:ln w="9525">
            <a:solidFill>
              <a:srgbClr val="D8D1C4"/>
            </a:solidFill>
          </a:ln>
        </p:spPr>
        <p:txBody>
          <a:bodyPr lIns="114300" tIns="95250" rIns="114300" bIns="95250" anchor="ctr"/>
          <a:lstStyle/>
          <a:p>
            <a:endParaRPr/>
          </a:p>
        </p:txBody>
      </p:sp>
      <p:sp>
        <p:nvSpPr>
          <p:cNvPr id="25" name="矩形 24">
            <a:extLst>
              <a:ext uri="{FF2B5EF4-FFF2-40B4-BE49-F238E27FC236}">
                <a16:creationId xmlns:a16="http://schemas.microsoft.com/office/drawing/2014/main" id="{EE7529EB-16F4-4AB0-96B7-B2581115C8F3}"/>
              </a:ext>
            </a:extLst>
          </p:cNvPr>
          <p:cNvSpPr>
            <a:spLocks noGrp="1"/>
          </p:cNvSpPr>
          <p:nvPr/>
        </p:nvSpPr>
        <p:spPr>
          <a:xfrm>
            <a:off x="7429500" y="1809750"/>
            <a:ext cx="1809750" cy="57150"/>
          </a:xfrm>
          <a:prstGeom prst="rect">
            <a:avLst/>
          </a:prstGeom>
          <a:solidFill>
            <a:srgbClr val="B2832F"/>
          </a:solidFill>
          <a:ln w="0">
            <a:solidFill>
              <a:srgbClr val="B2832F"/>
            </a:solidFill>
          </a:ln>
        </p:spPr>
      </p:sp>
      <p:sp>
        <p:nvSpPr>
          <p:cNvPr id="26" name="矩形 25">
            <a:extLst>
              <a:ext uri="{FF2B5EF4-FFF2-40B4-BE49-F238E27FC236}">
                <a16:creationId xmlns:a16="http://schemas.microsoft.com/office/drawing/2014/main" id="{04C74839-4E69-42D9-80AF-7E00E56F870A}"/>
              </a:ext>
            </a:extLst>
          </p:cNvPr>
          <p:cNvSpPr>
            <a:spLocks noGrp="1"/>
          </p:cNvSpPr>
          <p:nvPr/>
        </p:nvSpPr>
        <p:spPr>
          <a:xfrm>
            <a:off x="7562850" y="1952625"/>
            <a:ext cx="15430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实时/离线计算</a:t>
            </a:r>
          </a:p>
        </p:txBody>
      </p:sp>
      <p:sp>
        <p:nvSpPr>
          <p:cNvPr id="27" name="矩形 26">
            <a:extLst>
              <a:ext uri="{FF2B5EF4-FFF2-40B4-BE49-F238E27FC236}">
                <a16:creationId xmlns:a16="http://schemas.microsoft.com/office/drawing/2014/main" id="{EB7C7AD8-BFB0-4BE2-AB8A-49894F3D3F58}"/>
              </a:ext>
            </a:extLst>
          </p:cNvPr>
          <p:cNvSpPr>
            <a:spLocks noGrp="1"/>
          </p:cNvSpPr>
          <p:nvPr/>
        </p:nvSpPr>
        <p:spPr>
          <a:xfrm>
            <a:off x="7562850" y="2228850"/>
            <a:ext cx="1543050" cy="9334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Flink 计算实时指标；Spark 处理历史数据和宽表</a:t>
            </a:r>
          </a:p>
        </p:txBody>
      </p:sp>
      <p:sp>
        <p:nvSpPr>
          <p:cNvPr id="28" name="箭头: 右 27">
            <a:extLst>
              <a:ext uri="{FF2B5EF4-FFF2-40B4-BE49-F238E27FC236}">
                <a16:creationId xmlns:a16="http://schemas.microsoft.com/office/drawing/2014/main" id="{45FD1034-03E7-4272-97D9-E3E02E5B6A44}"/>
              </a:ext>
            </a:extLst>
          </p:cNvPr>
          <p:cNvSpPr>
            <a:spLocks noGrp="1"/>
          </p:cNvSpPr>
          <p:nvPr/>
        </p:nvSpPr>
        <p:spPr>
          <a:xfrm>
            <a:off x="9277350" y="2400300"/>
            <a:ext cx="323850" cy="190500"/>
          </a:xfrm>
          <a:prstGeom prst="rightArrow">
            <a:avLst/>
          </a:prstGeom>
          <a:solidFill>
            <a:srgbClr val="B2832F"/>
          </a:solidFill>
          <a:ln w="0">
            <a:solidFill>
              <a:srgbClr val="B2832F"/>
            </a:solidFill>
          </a:ln>
        </p:spPr>
      </p:sp>
      <p:sp>
        <p:nvSpPr>
          <p:cNvPr id="29" name="矩形 28">
            <a:extLst>
              <a:ext uri="{FF2B5EF4-FFF2-40B4-BE49-F238E27FC236}">
                <a16:creationId xmlns:a16="http://schemas.microsoft.com/office/drawing/2014/main" id="{235A1A4B-9950-4338-B884-BB07704350D0}"/>
              </a:ext>
            </a:extLst>
          </p:cNvPr>
          <p:cNvSpPr>
            <a:spLocks noGrp="1"/>
          </p:cNvSpPr>
          <p:nvPr/>
        </p:nvSpPr>
        <p:spPr>
          <a:xfrm>
            <a:off x="9734550" y="1809750"/>
            <a:ext cx="1809750" cy="1428750"/>
          </a:xfrm>
          <a:prstGeom prst="rect">
            <a:avLst/>
          </a:prstGeom>
          <a:solidFill>
            <a:srgbClr val="FFFFFF"/>
          </a:solidFill>
          <a:ln w="9525">
            <a:solidFill>
              <a:srgbClr val="D8D1C4"/>
            </a:solidFill>
          </a:ln>
        </p:spPr>
        <p:txBody>
          <a:bodyPr lIns="114300" tIns="95250" rIns="114300" bIns="95250" anchor="ctr"/>
          <a:lstStyle/>
          <a:p>
            <a:endParaRPr/>
          </a:p>
        </p:txBody>
      </p:sp>
      <p:sp>
        <p:nvSpPr>
          <p:cNvPr id="30" name="矩形 29">
            <a:extLst>
              <a:ext uri="{FF2B5EF4-FFF2-40B4-BE49-F238E27FC236}">
                <a16:creationId xmlns:a16="http://schemas.microsoft.com/office/drawing/2014/main" id="{2B17B9EA-CB75-4B8F-9A01-87F8619789BF}"/>
              </a:ext>
            </a:extLst>
          </p:cNvPr>
          <p:cNvSpPr>
            <a:spLocks noGrp="1"/>
          </p:cNvSpPr>
          <p:nvPr/>
        </p:nvSpPr>
        <p:spPr>
          <a:xfrm>
            <a:off x="9734550" y="1809750"/>
            <a:ext cx="1809750" cy="57150"/>
          </a:xfrm>
          <a:prstGeom prst="rect">
            <a:avLst/>
          </a:prstGeom>
          <a:solidFill>
            <a:srgbClr val="E85D4F"/>
          </a:solidFill>
          <a:ln w="0">
            <a:solidFill>
              <a:srgbClr val="E85D4F"/>
            </a:solidFill>
          </a:ln>
        </p:spPr>
      </p:sp>
      <p:sp>
        <p:nvSpPr>
          <p:cNvPr id="31" name="矩形 30">
            <a:extLst>
              <a:ext uri="{FF2B5EF4-FFF2-40B4-BE49-F238E27FC236}">
                <a16:creationId xmlns:a16="http://schemas.microsoft.com/office/drawing/2014/main" id="{723B5C9F-2491-44CE-9214-8C819CA1ADA4}"/>
              </a:ext>
            </a:extLst>
          </p:cNvPr>
          <p:cNvSpPr>
            <a:spLocks noGrp="1"/>
          </p:cNvSpPr>
          <p:nvPr/>
        </p:nvSpPr>
        <p:spPr>
          <a:xfrm>
            <a:off x="9867900" y="1952625"/>
            <a:ext cx="15430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数仓/服务</a:t>
            </a:r>
          </a:p>
        </p:txBody>
      </p:sp>
      <p:sp>
        <p:nvSpPr>
          <p:cNvPr id="32" name="矩形 31">
            <a:extLst>
              <a:ext uri="{FF2B5EF4-FFF2-40B4-BE49-F238E27FC236}">
                <a16:creationId xmlns:a16="http://schemas.microsoft.com/office/drawing/2014/main" id="{D79DE40D-648D-426B-B13E-024A15C3F66B}"/>
              </a:ext>
            </a:extLst>
          </p:cNvPr>
          <p:cNvSpPr>
            <a:spLocks noGrp="1"/>
          </p:cNvSpPr>
          <p:nvPr/>
        </p:nvSpPr>
        <p:spPr>
          <a:xfrm>
            <a:off x="9867900" y="2228850"/>
            <a:ext cx="1543050" cy="93345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Hive/HDFS 分层沉淀；Doris/ClickHouse 支撑查询；结果回流推荐/风控/BI</a:t>
            </a:r>
          </a:p>
        </p:txBody>
      </p:sp>
      <p:sp>
        <p:nvSpPr>
          <p:cNvPr id="33" name="直接连接符 32">
            <a:extLst>
              <a:ext uri="{FF2B5EF4-FFF2-40B4-BE49-F238E27FC236}">
                <a16:creationId xmlns:a16="http://schemas.microsoft.com/office/drawing/2014/main" id="{4CC6EFAB-1A5E-462B-B371-1873DF115B33}"/>
              </a:ext>
            </a:extLst>
          </p:cNvPr>
          <p:cNvSpPr>
            <a:spLocks noGrp="1"/>
          </p:cNvSpPr>
          <p:nvPr/>
        </p:nvSpPr>
        <p:spPr>
          <a:xfrm>
            <a:off x="1428750" y="3371850"/>
            <a:ext cx="9525" cy="666750"/>
          </a:xfrm>
          <a:prstGeom prst="line">
            <a:avLst/>
          </a:prstGeom>
          <a:noFill/>
          <a:ln w="19050">
            <a:solidFill>
              <a:srgbClr val="D8D1C4"/>
            </a:solidFill>
          </a:ln>
        </p:spPr>
      </p:sp>
      <p:sp>
        <p:nvSpPr>
          <p:cNvPr id="34" name="直接连接符 33">
            <a:extLst>
              <a:ext uri="{FF2B5EF4-FFF2-40B4-BE49-F238E27FC236}">
                <a16:creationId xmlns:a16="http://schemas.microsoft.com/office/drawing/2014/main" id="{28BEC5E6-F148-466B-8B1D-17DA290183B7}"/>
              </a:ext>
            </a:extLst>
          </p:cNvPr>
          <p:cNvSpPr>
            <a:spLocks noGrp="1"/>
          </p:cNvSpPr>
          <p:nvPr/>
        </p:nvSpPr>
        <p:spPr>
          <a:xfrm>
            <a:off x="3733800" y="3371850"/>
            <a:ext cx="9525" cy="666750"/>
          </a:xfrm>
          <a:prstGeom prst="line">
            <a:avLst/>
          </a:prstGeom>
          <a:noFill/>
          <a:ln w="19050">
            <a:solidFill>
              <a:srgbClr val="D8D1C4"/>
            </a:solidFill>
          </a:ln>
        </p:spPr>
      </p:sp>
      <p:sp>
        <p:nvSpPr>
          <p:cNvPr id="35" name="直接连接符 34">
            <a:extLst>
              <a:ext uri="{FF2B5EF4-FFF2-40B4-BE49-F238E27FC236}">
                <a16:creationId xmlns:a16="http://schemas.microsoft.com/office/drawing/2014/main" id="{E0A8256D-4615-4704-AFE7-7960ACA2A1A4}"/>
              </a:ext>
            </a:extLst>
          </p:cNvPr>
          <p:cNvSpPr>
            <a:spLocks noGrp="1"/>
          </p:cNvSpPr>
          <p:nvPr/>
        </p:nvSpPr>
        <p:spPr>
          <a:xfrm>
            <a:off x="1428750" y="4038600"/>
            <a:ext cx="8382000" cy="9525"/>
          </a:xfrm>
          <a:prstGeom prst="line">
            <a:avLst/>
          </a:prstGeom>
          <a:noFill/>
          <a:ln w="19050">
            <a:solidFill>
              <a:srgbClr val="D8D1C4"/>
            </a:solidFill>
          </a:ln>
        </p:spPr>
      </p:sp>
      <p:sp>
        <p:nvSpPr>
          <p:cNvPr id="36" name="直接连接符 35">
            <a:extLst>
              <a:ext uri="{FF2B5EF4-FFF2-40B4-BE49-F238E27FC236}">
                <a16:creationId xmlns:a16="http://schemas.microsoft.com/office/drawing/2014/main" id="{300DBD44-8FFA-4529-B79D-934EC95009AE}"/>
              </a:ext>
            </a:extLst>
          </p:cNvPr>
          <p:cNvSpPr>
            <a:spLocks noGrp="1"/>
          </p:cNvSpPr>
          <p:nvPr/>
        </p:nvSpPr>
        <p:spPr>
          <a:xfrm>
            <a:off x="9810750" y="3371850"/>
            <a:ext cx="9525" cy="666750"/>
          </a:xfrm>
          <a:prstGeom prst="line">
            <a:avLst/>
          </a:prstGeom>
          <a:noFill/>
          <a:ln w="19050">
            <a:solidFill>
              <a:srgbClr val="D8D1C4"/>
            </a:solidFill>
          </a:ln>
        </p:spPr>
      </p:sp>
      <p:sp>
        <p:nvSpPr>
          <p:cNvPr id="37" name="矩形 36">
            <a:extLst>
              <a:ext uri="{FF2B5EF4-FFF2-40B4-BE49-F238E27FC236}">
                <a16:creationId xmlns:a16="http://schemas.microsoft.com/office/drawing/2014/main" id="{30A8E7ED-4481-4494-99EB-3ADDE4B04C33}"/>
              </a:ext>
            </a:extLst>
          </p:cNvPr>
          <p:cNvSpPr>
            <a:spLocks noGrp="1"/>
          </p:cNvSpPr>
          <p:nvPr/>
        </p:nvSpPr>
        <p:spPr>
          <a:xfrm>
            <a:off x="3200400" y="4343400"/>
            <a:ext cx="5715000" cy="495300"/>
          </a:xfrm>
          <a:prstGeom prst="rect">
            <a:avLst/>
          </a:prstGeom>
          <a:solidFill>
            <a:srgbClr val="E8F1EF"/>
          </a:solidFill>
          <a:ln w="9525">
            <a:solidFill>
              <a:srgbClr val="287D79"/>
            </a:solidFill>
          </a:ln>
        </p:spPr>
        <p:txBody>
          <a:bodyPr lIns="114300" tIns="95250" rIns="114300" bIns="95250" anchor="ctr"/>
          <a:lstStyle/>
          <a:p>
            <a:pPr algn="ctr">
              <a:defRPr sz="1275">
                <a:solidFill>
                  <a:srgbClr val="17202A"/>
                </a:solidFill>
                <a:latin typeface="Microsoft YaHei"/>
                <a:ea typeface="Microsoft YaHei"/>
                <a:cs typeface="Microsoft YaHei"/>
              </a:defRPr>
            </a:pPr>
            <a:r>
              <a:rPr sz="1275" b="1">
                <a:solidFill>
                  <a:srgbClr val="17202A"/>
                </a:solidFill>
                <a:latin typeface="Microsoft YaHei"/>
                <a:ea typeface="Microsoft YaHei"/>
                <a:cs typeface="Microsoft YaHei"/>
              </a:rPr>
              <a:t>结果回流：用户画像、作品热度、推荐特征、异常账号标签、广告效果指标</a:t>
            </a:r>
          </a:p>
        </p:txBody>
      </p:sp>
      <p:sp>
        <p:nvSpPr>
          <p:cNvPr id="38" name="矩形 37">
            <a:extLst>
              <a:ext uri="{FF2B5EF4-FFF2-40B4-BE49-F238E27FC236}">
                <a16:creationId xmlns:a16="http://schemas.microsoft.com/office/drawing/2014/main" id="{51FFBB33-02F1-4BDE-8473-5578F8D24550}"/>
              </a:ext>
            </a:extLst>
          </p:cNvPr>
          <p:cNvSpPr>
            <a:spLocks noGrp="1"/>
          </p:cNvSpPr>
          <p:nvPr/>
        </p:nvSpPr>
        <p:spPr>
          <a:xfrm>
            <a:off x="1126881" y="5448300"/>
            <a:ext cx="10036419" cy="552450"/>
          </a:xfrm>
          <a:prstGeom prst="rect">
            <a:avLst/>
          </a:prstGeom>
          <a:solidFill>
            <a:srgbClr val="1E2732"/>
          </a:solidFill>
          <a:ln w="9525">
            <a:solidFill>
              <a:srgbClr val="1E2732"/>
            </a:solidFill>
          </a:ln>
        </p:spPr>
        <p:txBody>
          <a:bodyPr lIns="114300" tIns="95250" rIns="114300" bIns="95250" anchor="ctr"/>
          <a:lstStyle/>
          <a:p>
            <a:pPr algn="ctr">
              <a:defRPr sz="1350">
                <a:solidFill>
                  <a:srgbClr val="FFFFFF"/>
                </a:solidFill>
                <a:latin typeface="Microsoft YaHei"/>
                <a:ea typeface="Microsoft YaHei"/>
                <a:cs typeface="Microsoft YaHei"/>
              </a:defRPr>
            </a:pPr>
            <a:r>
              <a:rPr sz="1350" dirty="0" err="1">
                <a:solidFill>
                  <a:srgbClr val="FFFFFF"/>
                </a:solidFill>
                <a:latin typeface="Microsoft YaHei"/>
                <a:ea typeface="Microsoft YaHei"/>
                <a:cs typeface="Microsoft YaHei"/>
              </a:rPr>
              <a:t>关系总结：OLTP</a:t>
            </a:r>
            <a:r>
              <a:rPr sz="1350" dirty="0">
                <a:solidFill>
                  <a:srgbClr val="FFFFFF"/>
                </a:solidFill>
                <a:latin typeface="Microsoft YaHei"/>
                <a:ea typeface="Microsoft YaHei"/>
                <a:cs typeface="Microsoft YaHei"/>
              </a:rPr>
              <a:t> 负责“</a:t>
            </a:r>
            <a:r>
              <a:rPr sz="1350" dirty="0" err="1">
                <a:solidFill>
                  <a:srgbClr val="FFFFFF"/>
                </a:solidFill>
                <a:latin typeface="Microsoft YaHei"/>
                <a:ea typeface="Microsoft YaHei"/>
                <a:cs typeface="Microsoft YaHei"/>
              </a:rPr>
              <a:t>业务发生</a:t>
            </a:r>
            <a:r>
              <a:rPr sz="1350" dirty="0">
                <a:solidFill>
                  <a:srgbClr val="FFFFFF"/>
                </a:solidFill>
                <a:latin typeface="Microsoft YaHei"/>
                <a:ea typeface="Microsoft YaHei"/>
                <a:cs typeface="Microsoft YaHei"/>
              </a:rPr>
              <a:t>”；大数据平台负责“</a:t>
            </a:r>
            <a:r>
              <a:rPr sz="1350" dirty="0" err="1">
                <a:solidFill>
                  <a:srgbClr val="FFFFFF"/>
                </a:solidFill>
                <a:latin typeface="Microsoft YaHei"/>
                <a:ea typeface="Microsoft YaHei"/>
                <a:cs typeface="Microsoft YaHei"/>
              </a:rPr>
              <a:t>理解业务</a:t>
            </a:r>
            <a:r>
              <a:rPr sz="1350" dirty="0">
                <a:solidFill>
                  <a:srgbClr val="FFFFFF"/>
                </a:solidFill>
                <a:latin typeface="Microsoft YaHei"/>
                <a:ea typeface="Microsoft YaHei"/>
                <a:cs typeface="Microsoft YaHei"/>
              </a:rPr>
              <a:t>”。</a:t>
            </a:r>
            <a:r>
              <a:rPr sz="1350" dirty="0" err="1">
                <a:solidFill>
                  <a:srgbClr val="FFFFFF"/>
                </a:solidFill>
                <a:latin typeface="Microsoft YaHei"/>
                <a:ea typeface="Microsoft YaHei"/>
                <a:cs typeface="Microsoft YaHei"/>
              </a:rPr>
              <a:t>二者通过业务库变更、行为日志和分析结果回流形成闭环</a:t>
            </a:r>
            <a:r>
              <a:rPr sz="1350" dirty="0">
                <a:solidFill>
                  <a:srgbClr val="FFFFFF"/>
                </a:solidFill>
                <a:latin typeface="Microsoft YaHei"/>
                <a:ea typeface="Microsoft YaHei"/>
                <a:cs typeface="Microsoft YaHei"/>
              </a:rPr>
              <a:t>。</a:t>
            </a:r>
          </a:p>
        </p:txBody>
      </p:sp>
    </p:spTree>
    <p:extLst>
      <p:ext uri="{BB962C8B-B14F-4D97-AF65-F5344CB8AC3E}">
        <p14:creationId xmlns:p14="http://schemas.microsoft.com/office/powerpoint/2010/main" val="1154100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6E587503-93F8-4081-AA45-95AF00B34A3B}"/>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DC3A55DC-2444-4D55-BAC6-100D23AA98B5}"/>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BDBA9E33-6827-4108-8201-8BBB6766A68D}"/>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c: user decision-support needs.</a:t>
            </a:r>
          </a:p>
        </p:txBody>
      </p:sp>
      <p:sp>
        <p:nvSpPr>
          <p:cNvPr id="4" name="矩形 3">
            <a:extLst>
              <a:ext uri="{FF2B5EF4-FFF2-40B4-BE49-F238E27FC236}">
                <a16:creationId xmlns:a16="http://schemas.microsoft.com/office/drawing/2014/main" id="{47859274-0A4C-4FBE-B1D2-53043952D436}"/>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09</a:t>
            </a:r>
          </a:p>
        </p:txBody>
      </p:sp>
      <p:sp>
        <p:nvSpPr>
          <p:cNvPr id="5" name="椭圆 4">
            <a:extLst>
              <a:ext uri="{FF2B5EF4-FFF2-40B4-BE49-F238E27FC236}">
                <a16:creationId xmlns:a16="http://schemas.microsoft.com/office/drawing/2014/main" id="{24A5F2E1-A5AE-4F50-BC36-C6CAF5DDC8B3}"/>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1B19218A-9670-468A-8D3A-B769AFA7FB64}"/>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c  DECISION NEEDS</a:t>
            </a:r>
          </a:p>
        </p:txBody>
      </p:sp>
      <p:sp>
        <p:nvSpPr>
          <p:cNvPr id="7" name="矩形 6">
            <a:extLst>
              <a:ext uri="{FF2B5EF4-FFF2-40B4-BE49-F238E27FC236}">
                <a16:creationId xmlns:a16="http://schemas.microsoft.com/office/drawing/2014/main" id="{4CBF6D35-A1C3-42F8-9346-B8E9E77E7157}"/>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数据分析系统服务的不是普通读者，而是平台内部决策用户</a:t>
            </a:r>
          </a:p>
        </p:txBody>
      </p:sp>
      <p:sp>
        <p:nvSpPr>
          <p:cNvPr id="8" name="直接连接符 7">
            <a:extLst>
              <a:ext uri="{FF2B5EF4-FFF2-40B4-BE49-F238E27FC236}">
                <a16:creationId xmlns:a16="http://schemas.microsoft.com/office/drawing/2014/main" id="{BE4BF00C-0B62-4A51-8B57-A486C3BDCA0D}"/>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E32FBDC0-910A-4BE8-AF63-D13A2342E9E0}"/>
              </a:ext>
            </a:extLst>
          </p:cNvPr>
          <p:cNvSpPr>
            <a:spLocks noGrp="1"/>
          </p:cNvSpPr>
          <p:nvPr/>
        </p:nvSpPr>
        <p:spPr>
          <a:xfrm>
            <a:off x="685800" y="1562100"/>
            <a:ext cx="161925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决策用户</a:t>
            </a:r>
          </a:p>
        </p:txBody>
      </p:sp>
      <p:sp>
        <p:nvSpPr>
          <p:cNvPr id="10" name="矩形 9">
            <a:extLst>
              <a:ext uri="{FF2B5EF4-FFF2-40B4-BE49-F238E27FC236}">
                <a16:creationId xmlns:a16="http://schemas.microsoft.com/office/drawing/2014/main" id="{212DC605-4C55-4E5B-830C-664133FC0134}"/>
              </a:ext>
            </a:extLst>
          </p:cNvPr>
          <p:cNvSpPr>
            <a:spLocks noGrp="1"/>
          </p:cNvSpPr>
          <p:nvPr/>
        </p:nvSpPr>
        <p:spPr>
          <a:xfrm>
            <a:off x="2305050" y="1562100"/>
            <a:ext cx="47625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需要的分析指标</a:t>
            </a:r>
          </a:p>
        </p:txBody>
      </p:sp>
      <p:sp>
        <p:nvSpPr>
          <p:cNvPr id="11" name="矩形 10">
            <a:extLst>
              <a:ext uri="{FF2B5EF4-FFF2-40B4-BE49-F238E27FC236}">
                <a16:creationId xmlns:a16="http://schemas.microsoft.com/office/drawing/2014/main" id="{2F0D7674-037E-40E1-B4E8-EC557BD81893}"/>
              </a:ext>
            </a:extLst>
          </p:cNvPr>
          <p:cNvSpPr>
            <a:spLocks noGrp="1"/>
          </p:cNvSpPr>
          <p:nvPr/>
        </p:nvSpPr>
        <p:spPr>
          <a:xfrm>
            <a:off x="7067550" y="1562100"/>
            <a:ext cx="43815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对应决策</a:t>
            </a:r>
          </a:p>
        </p:txBody>
      </p:sp>
      <p:sp>
        <p:nvSpPr>
          <p:cNvPr id="12" name="矩形 11">
            <a:extLst>
              <a:ext uri="{FF2B5EF4-FFF2-40B4-BE49-F238E27FC236}">
                <a16:creationId xmlns:a16="http://schemas.microsoft.com/office/drawing/2014/main" id="{9547DC42-201D-4ABF-A621-06AE5DC3DA59}"/>
              </a:ext>
            </a:extLst>
          </p:cNvPr>
          <p:cNvSpPr>
            <a:spLocks noGrp="1"/>
          </p:cNvSpPr>
          <p:nvPr/>
        </p:nvSpPr>
        <p:spPr>
          <a:xfrm>
            <a:off x="685800" y="1885950"/>
            <a:ext cx="1619250" cy="742950"/>
          </a:xfrm>
          <a:prstGeom prst="rect">
            <a:avLst/>
          </a:prstGeom>
          <a:solidFill>
            <a:srgbClr val="FFFDF8"/>
          </a:solidFill>
          <a:ln w="9525">
            <a:solidFill>
              <a:srgbClr val="D8D1C4"/>
            </a:solidFill>
          </a:ln>
        </p:spPr>
        <p:txBody>
          <a:bodyPr lIns="95250" tIns="76200" rIns="95250" bIns="76200" anchor="ctr"/>
          <a:lstStyle/>
          <a:p>
            <a:pPr algn="ctr">
              <a:defRPr sz="1088">
                <a:solidFill>
                  <a:srgbClr val="E85D4F"/>
                </a:solidFill>
                <a:latin typeface="Microsoft YaHei"/>
                <a:ea typeface="Microsoft YaHei"/>
                <a:cs typeface="Microsoft YaHei"/>
              </a:defRPr>
            </a:pPr>
            <a:r>
              <a:rPr sz="1088" b="1">
                <a:solidFill>
                  <a:srgbClr val="E85D4F"/>
                </a:solidFill>
                <a:latin typeface="Microsoft YaHei"/>
                <a:ea typeface="Microsoft YaHei"/>
                <a:cs typeface="Microsoft YaHei"/>
              </a:rPr>
              <a:t>产品/运营</a:t>
            </a:r>
          </a:p>
        </p:txBody>
      </p:sp>
      <p:sp>
        <p:nvSpPr>
          <p:cNvPr id="13" name="矩形 12">
            <a:extLst>
              <a:ext uri="{FF2B5EF4-FFF2-40B4-BE49-F238E27FC236}">
                <a16:creationId xmlns:a16="http://schemas.microsoft.com/office/drawing/2014/main" id="{98F424F7-8268-4A97-85B7-FF7051B74A4B}"/>
              </a:ext>
            </a:extLst>
          </p:cNvPr>
          <p:cNvSpPr>
            <a:spLocks noGrp="1"/>
          </p:cNvSpPr>
          <p:nvPr/>
        </p:nvSpPr>
        <p:spPr>
          <a:xfrm>
            <a:off x="2305050" y="1885950"/>
            <a:ext cx="4762500" cy="742950"/>
          </a:xfrm>
          <a:prstGeom prst="rect">
            <a:avLst/>
          </a:prstGeom>
          <a:solidFill>
            <a:srgbClr val="FFFDF8"/>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DAU、阅读时长、留存率、追更率、频道转化、活动效果</a:t>
            </a:r>
          </a:p>
        </p:txBody>
      </p:sp>
      <p:sp>
        <p:nvSpPr>
          <p:cNvPr id="14" name="矩形 13">
            <a:extLst>
              <a:ext uri="{FF2B5EF4-FFF2-40B4-BE49-F238E27FC236}">
                <a16:creationId xmlns:a16="http://schemas.microsoft.com/office/drawing/2014/main" id="{A9DAB1A8-FA73-4781-AB7E-458015287440}"/>
              </a:ext>
            </a:extLst>
          </p:cNvPr>
          <p:cNvSpPr>
            <a:spLocks noGrp="1"/>
          </p:cNvSpPr>
          <p:nvPr/>
        </p:nvSpPr>
        <p:spPr>
          <a:xfrm>
            <a:off x="7067550" y="1885950"/>
            <a:ext cx="4381500" cy="742950"/>
          </a:xfrm>
          <a:prstGeom prst="rect">
            <a:avLst/>
          </a:prstGeom>
          <a:solidFill>
            <a:srgbClr val="FFFDF8"/>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判断产品体验和运营策略是否有效</a:t>
            </a:r>
          </a:p>
        </p:txBody>
      </p:sp>
      <p:sp>
        <p:nvSpPr>
          <p:cNvPr id="15" name="矩形 14">
            <a:extLst>
              <a:ext uri="{FF2B5EF4-FFF2-40B4-BE49-F238E27FC236}">
                <a16:creationId xmlns:a16="http://schemas.microsoft.com/office/drawing/2014/main" id="{B5662D4D-B80B-47D1-96C8-B42F6C18DD38}"/>
              </a:ext>
            </a:extLst>
          </p:cNvPr>
          <p:cNvSpPr>
            <a:spLocks noGrp="1"/>
          </p:cNvSpPr>
          <p:nvPr/>
        </p:nvSpPr>
        <p:spPr>
          <a:xfrm>
            <a:off x="685800" y="2705100"/>
            <a:ext cx="1619250" cy="742950"/>
          </a:xfrm>
          <a:prstGeom prst="rect">
            <a:avLst/>
          </a:prstGeom>
          <a:solidFill>
            <a:srgbClr val="FFFFFF"/>
          </a:solidFill>
          <a:ln w="9525">
            <a:solidFill>
              <a:srgbClr val="D8D1C4"/>
            </a:solidFill>
          </a:ln>
        </p:spPr>
        <p:txBody>
          <a:bodyPr lIns="95250" tIns="76200" rIns="95250" bIns="76200" anchor="ctr"/>
          <a:lstStyle/>
          <a:p>
            <a:pPr algn="ctr">
              <a:defRPr sz="1088">
                <a:solidFill>
                  <a:srgbClr val="287D79"/>
                </a:solidFill>
                <a:latin typeface="Microsoft YaHei"/>
                <a:ea typeface="Microsoft YaHei"/>
                <a:cs typeface="Microsoft YaHei"/>
              </a:defRPr>
            </a:pPr>
            <a:r>
              <a:rPr sz="1088" b="1">
                <a:solidFill>
                  <a:srgbClr val="287D79"/>
                </a:solidFill>
                <a:latin typeface="Microsoft YaHei"/>
                <a:ea typeface="Microsoft YaHei"/>
                <a:cs typeface="Microsoft YaHei"/>
              </a:rPr>
              <a:t>推荐/算法</a:t>
            </a:r>
          </a:p>
        </p:txBody>
      </p:sp>
      <p:sp>
        <p:nvSpPr>
          <p:cNvPr id="16" name="矩形 15">
            <a:extLst>
              <a:ext uri="{FF2B5EF4-FFF2-40B4-BE49-F238E27FC236}">
                <a16:creationId xmlns:a16="http://schemas.microsoft.com/office/drawing/2014/main" id="{5B8A2346-C62A-4DA8-92C2-6AAB34392796}"/>
              </a:ext>
            </a:extLst>
          </p:cNvPr>
          <p:cNvSpPr>
            <a:spLocks noGrp="1"/>
          </p:cNvSpPr>
          <p:nvPr/>
        </p:nvSpPr>
        <p:spPr>
          <a:xfrm>
            <a:off x="2305050" y="2705100"/>
            <a:ext cx="4762500" cy="742950"/>
          </a:xfrm>
          <a:prstGeom prst="rect">
            <a:avLst/>
          </a:prstGeom>
          <a:solidFill>
            <a:srgbClr val="FFFFFF"/>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曝光、点击、完读率、题材偏好、用户画像、A/B 实验</a:t>
            </a:r>
          </a:p>
        </p:txBody>
      </p:sp>
      <p:sp>
        <p:nvSpPr>
          <p:cNvPr id="17" name="矩形 16">
            <a:extLst>
              <a:ext uri="{FF2B5EF4-FFF2-40B4-BE49-F238E27FC236}">
                <a16:creationId xmlns:a16="http://schemas.microsoft.com/office/drawing/2014/main" id="{43F6F2E0-3263-425A-8B09-4818DC951893}"/>
              </a:ext>
            </a:extLst>
          </p:cNvPr>
          <p:cNvSpPr>
            <a:spLocks noGrp="1"/>
          </p:cNvSpPr>
          <p:nvPr/>
        </p:nvSpPr>
        <p:spPr>
          <a:xfrm>
            <a:off x="7067550" y="2705100"/>
            <a:ext cx="4381500" cy="742950"/>
          </a:xfrm>
          <a:prstGeom prst="rect">
            <a:avLst/>
          </a:prstGeom>
          <a:solidFill>
            <a:srgbClr val="FFFFFF"/>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优化推荐策略，提高阅读转化和留存</a:t>
            </a:r>
          </a:p>
        </p:txBody>
      </p:sp>
      <p:sp>
        <p:nvSpPr>
          <p:cNvPr id="18" name="矩形 17">
            <a:extLst>
              <a:ext uri="{FF2B5EF4-FFF2-40B4-BE49-F238E27FC236}">
                <a16:creationId xmlns:a16="http://schemas.microsoft.com/office/drawing/2014/main" id="{2E698945-DE21-41F7-A711-74CA3F144224}"/>
              </a:ext>
            </a:extLst>
          </p:cNvPr>
          <p:cNvSpPr>
            <a:spLocks noGrp="1"/>
          </p:cNvSpPr>
          <p:nvPr/>
        </p:nvSpPr>
        <p:spPr>
          <a:xfrm>
            <a:off x="685800" y="3524250"/>
            <a:ext cx="1619250" cy="742950"/>
          </a:xfrm>
          <a:prstGeom prst="rect">
            <a:avLst/>
          </a:prstGeom>
          <a:solidFill>
            <a:srgbClr val="FFFDF8"/>
          </a:solidFill>
          <a:ln w="9525">
            <a:solidFill>
              <a:srgbClr val="D8D1C4"/>
            </a:solidFill>
          </a:ln>
        </p:spPr>
        <p:txBody>
          <a:bodyPr lIns="95250" tIns="76200" rIns="95250" bIns="76200" anchor="ctr"/>
          <a:lstStyle/>
          <a:p>
            <a:pPr algn="ctr">
              <a:defRPr sz="1088">
                <a:solidFill>
                  <a:srgbClr val="315C97"/>
                </a:solidFill>
                <a:latin typeface="Microsoft YaHei"/>
                <a:ea typeface="Microsoft YaHei"/>
                <a:cs typeface="Microsoft YaHei"/>
              </a:defRPr>
            </a:pPr>
            <a:r>
              <a:rPr sz="1088" b="1">
                <a:solidFill>
                  <a:srgbClr val="315C97"/>
                </a:solidFill>
                <a:latin typeface="Microsoft YaHei"/>
                <a:ea typeface="Microsoft YaHei"/>
                <a:cs typeface="Microsoft YaHei"/>
              </a:rPr>
              <a:t>内容运营</a:t>
            </a:r>
          </a:p>
        </p:txBody>
      </p:sp>
      <p:sp>
        <p:nvSpPr>
          <p:cNvPr id="19" name="矩形 18">
            <a:extLst>
              <a:ext uri="{FF2B5EF4-FFF2-40B4-BE49-F238E27FC236}">
                <a16:creationId xmlns:a16="http://schemas.microsoft.com/office/drawing/2014/main" id="{886D0859-1EC6-45C4-BFFF-1619BA7D4309}"/>
              </a:ext>
            </a:extLst>
          </p:cNvPr>
          <p:cNvSpPr>
            <a:spLocks noGrp="1"/>
          </p:cNvSpPr>
          <p:nvPr/>
        </p:nvSpPr>
        <p:spPr>
          <a:xfrm>
            <a:off x="2305050" y="3524250"/>
            <a:ext cx="4762500" cy="742950"/>
          </a:xfrm>
          <a:prstGeom prst="rect">
            <a:avLst/>
          </a:prstGeom>
          <a:solidFill>
            <a:srgbClr val="FFFDF8"/>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作品热度、章节更新效果、题材趋势、作者收益、完读率</a:t>
            </a:r>
          </a:p>
        </p:txBody>
      </p:sp>
      <p:sp>
        <p:nvSpPr>
          <p:cNvPr id="20" name="矩形 19">
            <a:extLst>
              <a:ext uri="{FF2B5EF4-FFF2-40B4-BE49-F238E27FC236}">
                <a16:creationId xmlns:a16="http://schemas.microsoft.com/office/drawing/2014/main" id="{6F5F1691-9011-4862-A6ED-76DBE01D320B}"/>
              </a:ext>
            </a:extLst>
          </p:cNvPr>
          <p:cNvSpPr>
            <a:spLocks noGrp="1"/>
          </p:cNvSpPr>
          <p:nvPr/>
        </p:nvSpPr>
        <p:spPr>
          <a:xfrm>
            <a:off x="7067550" y="3524250"/>
            <a:ext cx="4381500" cy="742950"/>
          </a:xfrm>
          <a:prstGeom prst="rect">
            <a:avLst/>
          </a:prstGeom>
          <a:solidFill>
            <a:srgbClr val="FFFDF8"/>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扶持优质作品和作者，规划内容供给</a:t>
            </a:r>
          </a:p>
        </p:txBody>
      </p:sp>
      <p:sp>
        <p:nvSpPr>
          <p:cNvPr id="21" name="矩形 20">
            <a:extLst>
              <a:ext uri="{FF2B5EF4-FFF2-40B4-BE49-F238E27FC236}">
                <a16:creationId xmlns:a16="http://schemas.microsoft.com/office/drawing/2014/main" id="{6990FFD9-487E-409A-92D1-F488D10F807F}"/>
              </a:ext>
            </a:extLst>
          </p:cNvPr>
          <p:cNvSpPr>
            <a:spLocks noGrp="1"/>
          </p:cNvSpPr>
          <p:nvPr/>
        </p:nvSpPr>
        <p:spPr>
          <a:xfrm>
            <a:off x="685800" y="4343400"/>
            <a:ext cx="1619250" cy="742950"/>
          </a:xfrm>
          <a:prstGeom prst="rect">
            <a:avLst/>
          </a:prstGeom>
          <a:solidFill>
            <a:srgbClr val="FFFFFF"/>
          </a:solidFill>
          <a:ln w="9525">
            <a:solidFill>
              <a:srgbClr val="D8D1C4"/>
            </a:solidFill>
          </a:ln>
        </p:spPr>
        <p:txBody>
          <a:bodyPr lIns="95250" tIns="76200" rIns="95250" bIns="76200" anchor="ctr"/>
          <a:lstStyle/>
          <a:p>
            <a:pPr algn="ctr">
              <a:defRPr sz="1088">
                <a:solidFill>
                  <a:srgbClr val="B2832F"/>
                </a:solidFill>
                <a:latin typeface="Microsoft YaHei"/>
                <a:ea typeface="Microsoft YaHei"/>
                <a:cs typeface="Microsoft YaHei"/>
              </a:defRPr>
            </a:pPr>
            <a:r>
              <a:rPr sz="1088" b="1">
                <a:solidFill>
                  <a:srgbClr val="B2832F"/>
                </a:solidFill>
                <a:latin typeface="Microsoft YaHei"/>
                <a:ea typeface="Microsoft YaHei"/>
                <a:cs typeface="Microsoft YaHei"/>
              </a:rPr>
              <a:t>广告商业化</a:t>
            </a:r>
          </a:p>
        </p:txBody>
      </p:sp>
      <p:sp>
        <p:nvSpPr>
          <p:cNvPr id="22" name="矩形 21">
            <a:extLst>
              <a:ext uri="{FF2B5EF4-FFF2-40B4-BE49-F238E27FC236}">
                <a16:creationId xmlns:a16="http://schemas.microsoft.com/office/drawing/2014/main" id="{8320F805-F922-4416-ACC7-B616674FDD59}"/>
              </a:ext>
            </a:extLst>
          </p:cNvPr>
          <p:cNvSpPr>
            <a:spLocks noGrp="1"/>
          </p:cNvSpPr>
          <p:nvPr/>
        </p:nvSpPr>
        <p:spPr>
          <a:xfrm>
            <a:off x="2305050" y="4343400"/>
            <a:ext cx="4762500" cy="742950"/>
          </a:xfrm>
          <a:prstGeom prst="rect">
            <a:avLst/>
          </a:prstGeom>
          <a:solidFill>
            <a:srgbClr val="FFFFFF"/>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广告曝光、点击率、填充率、eCPM、激励广告完成率</a:t>
            </a:r>
          </a:p>
        </p:txBody>
      </p:sp>
      <p:sp>
        <p:nvSpPr>
          <p:cNvPr id="23" name="矩形 22">
            <a:extLst>
              <a:ext uri="{FF2B5EF4-FFF2-40B4-BE49-F238E27FC236}">
                <a16:creationId xmlns:a16="http://schemas.microsoft.com/office/drawing/2014/main" id="{AACD475D-0DD7-481A-9DE6-235E7AF4A14C}"/>
              </a:ext>
            </a:extLst>
          </p:cNvPr>
          <p:cNvSpPr>
            <a:spLocks noGrp="1"/>
          </p:cNvSpPr>
          <p:nvPr/>
        </p:nvSpPr>
        <p:spPr>
          <a:xfrm>
            <a:off x="7067550" y="4343400"/>
            <a:ext cx="4381500" cy="742950"/>
          </a:xfrm>
          <a:prstGeom prst="rect">
            <a:avLst/>
          </a:prstGeom>
          <a:solidFill>
            <a:srgbClr val="FFFFFF"/>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平衡广告收入和用户体验</a:t>
            </a:r>
          </a:p>
        </p:txBody>
      </p:sp>
      <p:sp>
        <p:nvSpPr>
          <p:cNvPr id="24" name="矩形 23">
            <a:extLst>
              <a:ext uri="{FF2B5EF4-FFF2-40B4-BE49-F238E27FC236}">
                <a16:creationId xmlns:a16="http://schemas.microsoft.com/office/drawing/2014/main" id="{34D84DB6-2CC0-471B-88FA-7FACB767C2E4}"/>
              </a:ext>
            </a:extLst>
          </p:cNvPr>
          <p:cNvSpPr>
            <a:spLocks noGrp="1"/>
          </p:cNvSpPr>
          <p:nvPr/>
        </p:nvSpPr>
        <p:spPr>
          <a:xfrm>
            <a:off x="685800" y="5162550"/>
            <a:ext cx="1619250" cy="742950"/>
          </a:xfrm>
          <a:prstGeom prst="rect">
            <a:avLst/>
          </a:prstGeom>
          <a:solidFill>
            <a:srgbClr val="FFFDF8"/>
          </a:solidFill>
          <a:ln w="9525">
            <a:solidFill>
              <a:srgbClr val="D8D1C4"/>
            </a:solidFill>
          </a:ln>
        </p:spPr>
        <p:txBody>
          <a:bodyPr lIns="95250" tIns="76200" rIns="95250" bIns="76200" anchor="ctr"/>
          <a:lstStyle/>
          <a:p>
            <a:pPr algn="ctr">
              <a:defRPr sz="1088">
                <a:solidFill>
                  <a:srgbClr val="E85D4F"/>
                </a:solidFill>
                <a:latin typeface="Microsoft YaHei"/>
                <a:ea typeface="Microsoft YaHei"/>
                <a:cs typeface="Microsoft YaHei"/>
              </a:defRPr>
            </a:pPr>
            <a:r>
              <a:rPr sz="1088" b="1">
                <a:solidFill>
                  <a:srgbClr val="E85D4F"/>
                </a:solidFill>
                <a:latin typeface="Microsoft YaHei"/>
                <a:ea typeface="Microsoft YaHei"/>
                <a:cs typeface="Microsoft YaHei"/>
              </a:rPr>
              <a:t>风控/审核</a:t>
            </a:r>
          </a:p>
        </p:txBody>
      </p:sp>
      <p:sp>
        <p:nvSpPr>
          <p:cNvPr id="25" name="矩形 24">
            <a:extLst>
              <a:ext uri="{FF2B5EF4-FFF2-40B4-BE49-F238E27FC236}">
                <a16:creationId xmlns:a16="http://schemas.microsoft.com/office/drawing/2014/main" id="{FC41CBBB-DDD1-49A1-8108-7C28F0BC4945}"/>
              </a:ext>
            </a:extLst>
          </p:cNvPr>
          <p:cNvSpPr>
            <a:spLocks noGrp="1"/>
          </p:cNvSpPr>
          <p:nvPr/>
        </p:nvSpPr>
        <p:spPr>
          <a:xfrm>
            <a:off x="2305050" y="5162550"/>
            <a:ext cx="4762500" cy="742950"/>
          </a:xfrm>
          <a:prstGeom prst="rect">
            <a:avLst/>
          </a:prstGeom>
          <a:solidFill>
            <a:srgbClr val="FFFDF8"/>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异常刷量、异常评论、违规内容、账号设备风险</a:t>
            </a:r>
          </a:p>
        </p:txBody>
      </p:sp>
      <p:sp>
        <p:nvSpPr>
          <p:cNvPr id="26" name="矩形 25">
            <a:extLst>
              <a:ext uri="{FF2B5EF4-FFF2-40B4-BE49-F238E27FC236}">
                <a16:creationId xmlns:a16="http://schemas.microsoft.com/office/drawing/2014/main" id="{55797643-44B6-4723-A38F-0929653DA2BF}"/>
              </a:ext>
            </a:extLst>
          </p:cNvPr>
          <p:cNvSpPr>
            <a:spLocks noGrp="1"/>
          </p:cNvSpPr>
          <p:nvPr/>
        </p:nvSpPr>
        <p:spPr>
          <a:xfrm>
            <a:off x="7067550" y="5162550"/>
            <a:ext cx="4381500" cy="742950"/>
          </a:xfrm>
          <a:prstGeom prst="rect">
            <a:avLst/>
          </a:prstGeom>
          <a:solidFill>
            <a:srgbClr val="FFFDF8"/>
          </a:solidFill>
          <a:ln w="9525">
            <a:solidFill>
              <a:srgbClr val="D8D1C4"/>
            </a:solidFill>
          </a:ln>
        </p:spPr>
        <p:txBody>
          <a:bodyPr lIns="95250" tIns="76200" rIns="95250" bIns="76200" anchor="ctr"/>
          <a:lstStyle/>
          <a:p>
            <a:pPr algn="l">
              <a:defRPr sz="1088">
                <a:solidFill>
                  <a:srgbClr val="17202A"/>
                </a:solidFill>
                <a:latin typeface="Microsoft YaHei"/>
                <a:ea typeface="Microsoft YaHei"/>
                <a:cs typeface="Microsoft YaHei"/>
              </a:defRPr>
            </a:pPr>
            <a:r>
              <a:rPr sz="1088">
                <a:solidFill>
                  <a:srgbClr val="17202A"/>
                </a:solidFill>
                <a:latin typeface="Microsoft YaHei"/>
                <a:ea typeface="Microsoft YaHei"/>
                <a:cs typeface="Microsoft YaHei"/>
              </a:rPr>
              <a:t>保护内容生态和业务数据可信度</a:t>
            </a:r>
          </a:p>
        </p:txBody>
      </p:sp>
    </p:spTree>
    <p:extLst>
      <p:ext uri="{BB962C8B-B14F-4D97-AF65-F5344CB8AC3E}">
        <p14:creationId xmlns:p14="http://schemas.microsoft.com/office/powerpoint/2010/main" val="559928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B612A776-3D32-42F0-B1CE-C9099E987C85}"/>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A005B995-077B-4231-91D9-5AE5C641A1AC}"/>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62DE14AF-0FD6-4997-ADBB-81F55E0E8CD3}"/>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d: big-data platform content composition.</a:t>
            </a:r>
          </a:p>
        </p:txBody>
      </p:sp>
      <p:sp>
        <p:nvSpPr>
          <p:cNvPr id="4" name="矩形 3">
            <a:extLst>
              <a:ext uri="{FF2B5EF4-FFF2-40B4-BE49-F238E27FC236}">
                <a16:creationId xmlns:a16="http://schemas.microsoft.com/office/drawing/2014/main" id="{0C64721C-754D-49E7-AC9C-88717ED731D6}"/>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10</a:t>
            </a:r>
          </a:p>
        </p:txBody>
      </p:sp>
      <p:sp>
        <p:nvSpPr>
          <p:cNvPr id="5" name="椭圆 4">
            <a:extLst>
              <a:ext uri="{FF2B5EF4-FFF2-40B4-BE49-F238E27FC236}">
                <a16:creationId xmlns:a16="http://schemas.microsoft.com/office/drawing/2014/main" id="{7D493549-32D5-4DCB-9065-9A87665DA69C}"/>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A775BDD7-BA67-4908-B8A9-BB429A26935F}"/>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d  BIG DATA PLATFORM</a:t>
            </a:r>
          </a:p>
        </p:txBody>
      </p:sp>
      <p:sp>
        <p:nvSpPr>
          <p:cNvPr id="7" name="矩形 6">
            <a:extLst>
              <a:ext uri="{FF2B5EF4-FFF2-40B4-BE49-F238E27FC236}">
                <a16:creationId xmlns:a16="http://schemas.microsoft.com/office/drawing/2014/main" id="{DD2FE511-3FB3-4F7C-8C1C-3EF655B24212}"/>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大数据平台内容构成应围绕番茄小说的数据来源和分析场景设计</a:t>
            </a:r>
          </a:p>
        </p:txBody>
      </p:sp>
      <p:sp>
        <p:nvSpPr>
          <p:cNvPr id="8" name="直接连接符 7">
            <a:extLst>
              <a:ext uri="{FF2B5EF4-FFF2-40B4-BE49-F238E27FC236}">
                <a16:creationId xmlns:a16="http://schemas.microsoft.com/office/drawing/2014/main" id="{12143DF9-5B47-4B4F-86FA-E97A987F43A9}"/>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C8BB0FC5-FA7F-47F1-AD9B-4DA303FF6E3A}"/>
              </a:ext>
            </a:extLst>
          </p:cNvPr>
          <p:cNvSpPr>
            <a:spLocks noGrp="1"/>
          </p:cNvSpPr>
          <p:nvPr/>
        </p:nvSpPr>
        <p:spPr>
          <a:xfrm>
            <a:off x="704850" y="1504950"/>
            <a:ext cx="4762500" cy="1066800"/>
          </a:xfrm>
          <a:prstGeom prst="rect">
            <a:avLst/>
          </a:prstGeom>
          <a:solidFill>
            <a:srgbClr val="FFFDF8"/>
          </a:solidFill>
          <a:ln w="9525">
            <a:solidFill>
              <a:srgbClr val="D8D1C4"/>
            </a:solidFill>
          </a:ln>
        </p:spPr>
        <p:txBody>
          <a:bodyPr lIns="114300" tIns="95250" rIns="114300" bIns="95250" anchor="ctr"/>
          <a:lstStyle/>
          <a:p>
            <a:endParaRPr/>
          </a:p>
        </p:txBody>
      </p:sp>
      <p:sp>
        <p:nvSpPr>
          <p:cNvPr id="10" name="矩形 9">
            <a:extLst>
              <a:ext uri="{FF2B5EF4-FFF2-40B4-BE49-F238E27FC236}">
                <a16:creationId xmlns:a16="http://schemas.microsoft.com/office/drawing/2014/main" id="{29CC207E-8B0F-4460-A39F-C1C4599BA4A6}"/>
              </a:ext>
            </a:extLst>
          </p:cNvPr>
          <p:cNvSpPr>
            <a:spLocks noGrp="1"/>
          </p:cNvSpPr>
          <p:nvPr/>
        </p:nvSpPr>
        <p:spPr>
          <a:xfrm>
            <a:off x="704850" y="1504950"/>
            <a:ext cx="4762500" cy="57150"/>
          </a:xfrm>
          <a:prstGeom prst="rect">
            <a:avLst/>
          </a:prstGeom>
          <a:solidFill>
            <a:srgbClr val="E85D4F"/>
          </a:solidFill>
          <a:ln w="0">
            <a:solidFill>
              <a:srgbClr val="E85D4F"/>
            </a:solidFill>
          </a:ln>
        </p:spPr>
      </p:sp>
      <p:sp>
        <p:nvSpPr>
          <p:cNvPr id="11" name="矩形 10">
            <a:extLst>
              <a:ext uri="{FF2B5EF4-FFF2-40B4-BE49-F238E27FC236}">
                <a16:creationId xmlns:a16="http://schemas.microsoft.com/office/drawing/2014/main" id="{2CEDF477-8264-48EE-81AA-E036731D35AA}"/>
              </a:ext>
            </a:extLst>
          </p:cNvPr>
          <p:cNvSpPr>
            <a:spLocks noGrp="1"/>
          </p:cNvSpPr>
          <p:nvPr/>
        </p:nvSpPr>
        <p:spPr>
          <a:xfrm>
            <a:off x="838200" y="1647825"/>
            <a:ext cx="4495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数据源</a:t>
            </a:r>
          </a:p>
        </p:txBody>
      </p:sp>
      <p:sp>
        <p:nvSpPr>
          <p:cNvPr id="12" name="矩形 11">
            <a:extLst>
              <a:ext uri="{FF2B5EF4-FFF2-40B4-BE49-F238E27FC236}">
                <a16:creationId xmlns:a16="http://schemas.microsoft.com/office/drawing/2014/main" id="{2084C122-4F62-4262-9D1E-4AA14220DA7C}"/>
              </a:ext>
            </a:extLst>
          </p:cNvPr>
          <p:cNvSpPr>
            <a:spLocks noGrp="1"/>
          </p:cNvSpPr>
          <p:nvPr/>
        </p:nvSpPr>
        <p:spPr>
          <a:xfrm>
            <a:off x="838200" y="1924050"/>
            <a:ext cx="449580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业务库：用户、作品、章节、书架、评论、广告</a:t>
            </a:r>
          </a:p>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日志：曝光、点击、阅读时长、搜索、推荐反馈</a:t>
            </a:r>
          </a:p>
        </p:txBody>
      </p:sp>
      <p:sp>
        <p:nvSpPr>
          <p:cNvPr id="13" name="矩形 12">
            <a:extLst>
              <a:ext uri="{FF2B5EF4-FFF2-40B4-BE49-F238E27FC236}">
                <a16:creationId xmlns:a16="http://schemas.microsoft.com/office/drawing/2014/main" id="{CBC54D49-B78F-4F3D-A01F-5D31F075EA98}"/>
              </a:ext>
            </a:extLst>
          </p:cNvPr>
          <p:cNvSpPr>
            <a:spLocks noGrp="1"/>
          </p:cNvSpPr>
          <p:nvPr/>
        </p:nvSpPr>
        <p:spPr>
          <a:xfrm>
            <a:off x="6134100" y="1504950"/>
            <a:ext cx="476250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14" name="矩形 13">
            <a:extLst>
              <a:ext uri="{FF2B5EF4-FFF2-40B4-BE49-F238E27FC236}">
                <a16:creationId xmlns:a16="http://schemas.microsoft.com/office/drawing/2014/main" id="{2A518F96-357A-49F9-8468-C9A240CDE180}"/>
              </a:ext>
            </a:extLst>
          </p:cNvPr>
          <p:cNvSpPr>
            <a:spLocks noGrp="1"/>
          </p:cNvSpPr>
          <p:nvPr/>
        </p:nvSpPr>
        <p:spPr>
          <a:xfrm>
            <a:off x="6134100" y="1504950"/>
            <a:ext cx="4762500" cy="57150"/>
          </a:xfrm>
          <a:prstGeom prst="rect">
            <a:avLst/>
          </a:prstGeom>
          <a:solidFill>
            <a:srgbClr val="287D79"/>
          </a:solidFill>
          <a:ln w="0">
            <a:solidFill>
              <a:srgbClr val="287D79"/>
            </a:solidFill>
          </a:ln>
        </p:spPr>
      </p:sp>
      <p:sp>
        <p:nvSpPr>
          <p:cNvPr id="15" name="矩形 14">
            <a:extLst>
              <a:ext uri="{FF2B5EF4-FFF2-40B4-BE49-F238E27FC236}">
                <a16:creationId xmlns:a16="http://schemas.microsoft.com/office/drawing/2014/main" id="{351BA33C-FBE0-42AA-AB5D-717B25170040}"/>
              </a:ext>
            </a:extLst>
          </p:cNvPr>
          <p:cNvSpPr>
            <a:spLocks noGrp="1"/>
          </p:cNvSpPr>
          <p:nvPr/>
        </p:nvSpPr>
        <p:spPr>
          <a:xfrm>
            <a:off x="6267450" y="1647825"/>
            <a:ext cx="4495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采集层</a:t>
            </a:r>
          </a:p>
        </p:txBody>
      </p:sp>
      <p:sp>
        <p:nvSpPr>
          <p:cNvPr id="16" name="矩形 15">
            <a:extLst>
              <a:ext uri="{FF2B5EF4-FFF2-40B4-BE49-F238E27FC236}">
                <a16:creationId xmlns:a16="http://schemas.microsoft.com/office/drawing/2014/main" id="{932DAD9E-8A65-467E-8B7F-73ADE485C0B2}"/>
              </a:ext>
            </a:extLst>
          </p:cNvPr>
          <p:cNvSpPr>
            <a:spLocks noGrp="1"/>
          </p:cNvSpPr>
          <p:nvPr/>
        </p:nvSpPr>
        <p:spPr>
          <a:xfrm>
            <a:off x="6267450" y="1924050"/>
            <a:ext cx="449580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CDC 捕获业务库变化；埋点日志写入 Kafka；DataX 处理批量同步</a:t>
            </a:r>
          </a:p>
        </p:txBody>
      </p:sp>
      <p:sp>
        <p:nvSpPr>
          <p:cNvPr id="17" name="矩形 16">
            <a:extLst>
              <a:ext uri="{FF2B5EF4-FFF2-40B4-BE49-F238E27FC236}">
                <a16:creationId xmlns:a16="http://schemas.microsoft.com/office/drawing/2014/main" id="{91506F54-3BEF-4493-A70F-C65016E1DB37}"/>
              </a:ext>
            </a:extLst>
          </p:cNvPr>
          <p:cNvSpPr>
            <a:spLocks noGrp="1"/>
          </p:cNvSpPr>
          <p:nvPr/>
        </p:nvSpPr>
        <p:spPr>
          <a:xfrm>
            <a:off x="704850" y="2933700"/>
            <a:ext cx="4762500" cy="1066800"/>
          </a:xfrm>
          <a:prstGeom prst="rect">
            <a:avLst/>
          </a:prstGeom>
          <a:solidFill>
            <a:srgbClr val="FFFDF8"/>
          </a:solidFill>
          <a:ln w="9525">
            <a:solidFill>
              <a:srgbClr val="D8D1C4"/>
            </a:solidFill>
          </a:ln>
        </p:spPr>
        <p:txBody>
          <a:bodyPr lIns="114300" tIns="95250" rIns="114300" bIns="95250" anchor="ctr"/>
          <a:lstStyle/>
          <a:p>
            <a:endParaRPr/>
          </a:p>
        </p:txBody>
      </p:sp>
      <p:sp>
        <p:nvSpPr>
          <p:cNvPr id="18" name="矩形 17">
            <a:extLst>
              <a:ext uri="{FF2B5EF4-FFF2-40B4-BE49-F238E27FC236}">
                <a16:creationId xmlns:a16="http://schemas.microsoft.com/office/drawing/2014/main" id="{BBA48209-6660-47FF-B72B-09B93F0B4654}"/>
              </a:ext>
            </a:extLst>
          </p:cNvPr>
          <p:cNvSpPr>
            <a:spLocks noGrp="1"/>
          </p:cNvSpPr>
          <p:nvPr/>
        </p:nvSpPr>
        <p:spPr>
          <a:xfrm>
            <a:off x="704850" y="2933700"/>
            <a:ext cx="4762500" cy="57150"/>
          </a:xfrm>
          <a:prstGeom prst="rect">
            <a:avLst/>
          </a:prstGeom>
          <a:solidFill>
            <a:srgbClr val="315C97"/>
          </a:solidFill>
          <a:ln w="0">
            <a:solidFill>
              <a:srgbClr val="315C97"/>
            </a:solidFill>
          </a:ln>
        </p:spPr>
      </p:sp>
      <p:sp>
        <p:nvSpPr>
          <p:cNvPr id="19" name="矩形 18">
            <a:extLst>
              <a:ext uri="{FF2B5EF4-FFF2-40B4-BE49-F238E27FC236}">
                <a16:creationId xmlns:a16="http://schemas.microsoft.com/office/drawing/2014/main" id="{5F4B844F-6E0E-468B-88EF-482D571D8C98}"/>
              </a:ext>
            </a:extLst>
          </p:cNvPr>
          <p:cNvSpPr>
            <a:spLocks noGrp="1"/>
          </p:cNvSpPr>
          <p:nvPr/>
        </p:nvSpPr>
        <p:spPr>
          <a:xfrm>
            <a:off x="838200" y="3076575"/>
            <a:ext cx="4495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存储层</a:t>
            </a:r>
          </a:p>
        </p:txBody>
      </p:sp>
      <p:sp>
        <p:nvSpPr>
          <p:cNvPr id="20" name="矩形 19">
            <a:extLst>
              <a:ext uri="{FF2B5EF4-FFF2-40B4-BE49-F238E27FC236}">
                <a16:creationId xmlns:a16="http://schemas.microsoft.com/office/drawing/2014/main" id="{FDC1F15E-22B7-44E2-BD40-A7FF507FA9EE}"/>
              </a:ext>
            </a:extLst>
          </p:cNvPr>
          <p:cNvSpPr>
            <a:spLocks noGrp="1"/>
          </p:cNvSpPr>
          <p:nvPr/>
        </p:nvSpPr>
        <p:spPr>
          <a:xfrm>
            <a:off x="838200" y="3352800"/>
            <a:ext cx="449580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HDFS/对象存储保存原始日志；Hive 管理离线表；Doris/ClickHouse 保存服务层指标</a:t>
            </a:r>
          </a:p>
        </p:txBody>
      </p:sp>
      <p:sp>
        <p:nvSpPr>
          <p:cNvPr id="21" name="矩形 20">
            <a:extLst>
              <a:ext uri="{FF2B5EF4-FFF2-40B4-BE49-F238E27FC236}">
                <a16:creationId xmlns:a16="http://schemas.microsoft.com/office/drawing/2014/main" id="{83BCCD8B-F8C5-4168-9902-444CFCA6F37A}"/>
              </a:ext>
            </a:extLst>
          </p:cNvPr>
          <p:cNvSpPr>
            <a:spLocks noGrp="1"/>
          </p:cNvSpPr>
          <p:nvPr/>
        </p:nvSpPr>
        <p:spPr>
          <a:xfrm>
            <a:off x="6134100" y="2933700"/>
            <a:ext cx="476250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22" name="矩形 21">
            <a:extLst>
              <a:ext uri="{FF2B5EF4-FFF2-40B4-BE49-F238E27FC236}">
                <a16:creationId xmlns:a16="http://schemas.microsoft.com/office/drawing/2014/main" id="{C4E92618-B10C-4585-8CAD-9864EA98419F}"/>
              </a:ext>
            </a:extLst>
          </p:cNvPr>
          <p:cNvSpPr>
            <a:spLocks noGrp="1"/>
          </p:cNvSpPr>
          <p:nvPr/>
        </p:nvSpPr>
        <p:spPr>
          <a:xfrm>
            <a:off x="6134100" y="2933700"/>
            <a:ext cx="4762500" cy="57150"/>
          </a:xfrm>
          <a:prstGeom prst="rect">
            <a:avLst/>
          </a:prstGeom>
          <a:solidFill>
            <a:srgbClr val="B2832F"/>
          </a:solidFill>
          <a:ln w="0">
            <a:solidFill>
              <a:srgbClr val="B2832F"/>
            </a:solidFill>
          </a:ln>
        </p:spPr>
      </p:sp>
      <p:sp>
        <p:nvSpPr>
          <p:cNvPr id="23" name="矩形 22">
            <a:extLst>
              <a:ext uri="{FF2B5EF4-FFF2-40B4-BE49-F238E27FC236}">
                <a16:creationId xmlns:a16="http://schemas.microsoft.com/office/drawing/2014/main" id="{61B7945D-7FB9-4D00-9BE3-FE8BA629D696}"/>
              </a:ext>
            </a:extLst>
          </p:cNvPr>
          <p:cNvSpPr>
            <a:spLocks noGrp="1"/>
          </p:cNvSpPr>
          <p:nvPr/>
        </p:nvSpPr>
        <p:spPr>
          <a:xfrm>
            <a:off x="6267450" y="3076575"/>
            <a:ext cx="4495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计算层</a:t>
            </a:r>
          </a:p>
        </p:txBody>
      </p:sp>
      <p:sp>
        <p:nvSpPr>
          <p:cNvPr id="24" name="矩形 23">
            <a:extLst>
              <a:ext uri="{FF2B5EF4-FFF2-40B4-BE49-F238E27FC236}">
                <a16:creationId xmlns:a16="http://schemas.microsoft.com/office/drawing/2014/main" id="{03BE0200-3977-4265-8761-890945B69A72}"/>
              </a:ext>
            </a:extLst>
          </p:cNvPr>
          <p:cNvSpPr>
            <a:spLocks noGrp="1"/>
          </p:cNvSpPr>
          <p:nvPr/>
        </p:nvSpPr>
        <p:spPr>
          <a:xfrm>
            <a:off x="6267450" y="3352800"/>
            <a:ext cx="449580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Flink 实时计算在线阅读、广告 CTR、异常行为；Spark 离线计算留存、画像、宽表</a:t>
            </a:r>
          </a:p>
        </p:txBody>
      </p:sp>
      <p:sp>
        <p:nvSpPr>
          <p:cNvPr id="25" name="矩形 24">
            <a:extLst>
              <a:ext uri="{FF2B5EF4-FFF2-40B4-BE49-F238E27FC236}">
                <a16:creationId xmlns:a16="http://schemas.microsoft.com/office/drawing/2014/main" id="{D46FCD3C-F2AB-4329-BA91-48434742DBA1}"/>
              </a:ext>
            </a:extLst>
          </p:cNvPr>
          <p:cNvSpPr>
            <a:spLocks noGrp="1"/>
          </p:cNvSpPr>
          <p:nvPr/>
        </p:nvSpPr>
        <p:spPr>
          <a:xfrm>
            <a:off x="704850" y="4362450"/>
            <a:ext cx="4762500" cy="1066800"/>
          </a:xfrm>
          <a:prstGeom prst="rect">
            <a:avLst/>
          </a:prstGeom>
          <a:solidFill>
            <a:srgbClr val="FFFDF8"/>
          </a:solidFill>
          <a:ln w="9525">
            <a:solidFill>
              <a:srgbClr val="D8D1C4"/>
            </a:solidFill>
          </a:ln>
        </p:spPr>
        <p:txBody>
          <a:bodyPr lIns="114300" tIns="95250" rIns="114300" bIns="95250" anchor="ctr"/>
          <a:lstStyle/>
          <a:p>
            <a:endParaRPr/>
          </a:p>
        </p:txBody>
      </p:sp>
      <p:sp>
        <p:nvSpPr>
          <p:cNvPr id="26" name="矩形 25">
            <a:extLst>
              <a:ext uri="{FF2B5EF4-FFF2-40B4-BE49-F238E27FC236}">
                <a16:creationId xmlns:a16="http://schemas.microsoft.com/office/drawing/2014/main" id="{CF1EB886-DE56-424E-B532-4F337ADD2541}"/>
              </a:ext>
            </a:extLst>
          </p:cNvPr>
          <p:cNvSpPr>
            <a:spLocks noGrp="1"/>
          </p:cNvSpPr>
          <p:nvPr/>
        </p:nvSpPr>
        <p:spPr>
          <a:xfrm>
            <a:off x="704850" y="4362450"/>
            <a:ext cx="4762500" cy="57150"/>
          </a:xfrm>
          <a:prstGeom prst="rect">
            <a:avLst/>
          </a:prstGeom>
          <a:solidFill>
            <a:srgbClr val="E85D4F"/>
          </a:solidFill>
          <a:ln w="0">
            <a:solidFill>
              <a:srgbClr val="E85D4F"/>
            </a:solidFill>
          </a:ln>
        </p:spPr>
      </p:sp>
      <p:sp>
        <p:nvSpPr>
          <p:cNvPr id="27" name="矩形 26">
            <a:extLst>
              <a:ext uri="{FF2B5EF4-FFF2-40B4-BE49-F238E27FC236}">
                <a16:creationId xmlns:a16="http://schemas.microsoft.com/office/drawing/2014/main" id="{174CAB71-2FD3-4330-9A96-828B1C5474E7}"/>
              </a:ext>
            </a:extLst>
          </p:cNvPr>
          <p:cNvSpPr>
            <a:spLocks noGrp="1"/>
          </p:cNvSpPr>
          <p:nvPr/>
        </p:nvSpPr>
        <p:spPr>
          <a:xfrm>
            <a:off x="838200" y="4505325"/>
            <a:ext cx="4495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数仓层</a:t>
            </a:r>
          </a:p>
        </p:txBody>
      </p:sp>
      <p:sp>
        <p:nvSpPr>
          <p:cNvPr id="28" name="矩形 27">
            <a:extLst>
              <a:ext uri="{FF2B5EF4-FFF2-40B4-BE49-F238E27FC236}">
                <a16:creationId xmlns:a16="http://schemas.microsoft.com/office/drawing/2014/main" id="{86595336-B993-4DD4-B259-C8A06C020DF6}"/>
              </a:ext>
            </a:extLst>
          </p:cNvPr>
          <p:cNvSpPr>
            <a:spLocks noGrp="1"/>
          </p:cNvSpPr>
          <p:nvPr/>
        </p:nvSpPr>
        <p:spPr>
          <a:xfrm>
            <a:off x="838200" y="4781550"/>
            <a:ext cx="449580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ODS 原始层、DWD 明细层、DWS 汇总层、ADS 应用层</a:t>
            </a:r>
          </a:p>
        </p:txBody>
      </p:sp>
      <p:sp>
        <p:nvSpPr>
          <p:cNvPr id="29" name="矩形 28">
            <a:extLst>
              <a:ext uri="{FF2B5EF4-FFF2-40B4-BE49-F238E27FC236}">
                <a16:creationId xmlns:a16="http://schemas.microsoft.com/office/drawing/2014/main" id="{6E61BC9E-B6C7-46D8-B9F9-639F6993A72A}"/>
              </a:ext>
            </a:extLst>
          </p:cNvPr>
          <p:cNvSpPr>
            <a:spLocks noGrp="1"/>
          </p:cNvSpPr>
          <p:nvPr/>
        </p:nvSpPr>
        <p:spPr>
          <a:xfrm>
            <a:off x="6134100" y="4362450"/>
            <a:ext cx="476250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30" name="矩形 29">
            <a:extLst>
              <a:ext uri="{FF2B5EF4-FFF2-40B4-BE49-F238E27FC236}">
                <a16:creationId xmlns:a16="http://schemas.microsoft.com/office/drawing/2014/main" id="{8C2302E7-2E16-4654-89CF-18C28E6276DF}"/>
              </a:ext>
            </a:extLst>
          </p:cNvPr>
          <p:cNvSpPr>
            <a:spLocks noGrp="1"/>
          </p:cNvSpPr>
          <p:nvPr/>
        </p:nvSpPr>
        <p:spPr>
          <a:xfrm>
            <a:off x="6134100" y="4362450"/>
            <a:ext cx="4762500" cy="57150"/>
          </a:xfrm>
          <a:prstGeom prst="rect">
            <a:avLst/>
          </a:prstGeom>
          <a:solidFill>
            <a:srgbClr val="287D79"/>
          </a:solidFill>
          <a:ln w="0">
            <a:solidFill>
              <a:srgbClr val="287D79"/>
            </a:solidFill>
          </a:ln>
        </p:spPr>
      </p:sp>
      <p:sp>
        <p:nvSpPr>
          <p:cNvPr id="31" name="矩形 30">
            <a:extLst>
              <a:ext uri="{FF2B5EF4-FFF2-40B4-BE49-F238E27FC236}">
                <a16:creationId xmlns:a16="http://schemas.microsoft.com/office/drawing/2014/main" id="{FC81F9D1-4071-4E24-89BD-80B595A9F201}"/>
              </a:ext>
            </a:extLst>
          </p:cNvPr>
          <p:cNvSpPr>
            <a:spLocks noGrp="1"/>
          </p:cNvSpPr>
          <p:nvPr/>
        </p:nvSpPr>
        <p:spPr>
          <a:xfrm>
            <a:off x="6267450" y="4505325"/>
            <a:ext cx="449580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服务与治理</a:t>
            </a:r>
          </a:p>
        </p:txBody>
      </p:sp>
      <p:sp>
        <p:nvSpPr>
          <p:cNvPr id="32" name="矩形 31">
            <a:extLst>
              <a:ext uri="{FF2B5EF4-FFF2-40B4-BE49-F238E27FC236}">
                <a16:creationId xmlns:a16="http://schemas.microsoft.com/office/drawing/2014/main" id="{38F871E9-C712-49F7-A188-0C1F11A72E39}"/>
              </a:ext>
            </a:extLst>
          </p:cNvPr>
          <p:cNvSpPr>
            <a:spLocks noGrp="1"/>
          </p:cNvSpPr>
          <p:nvPr/>
        </p:nvSpPr>
        <p:spPr>
          <a:xfrm>
            <a:off x="6267450" y="4781550"/>
            <a:ext cx="449580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Superset/BI 看板、指标接口、推荐特征、风控标签；元数据、质量、权限、血缘</a:t>
            </a:r>
          </a:p>
        </p:txBody>
      </p:sp>
    </p:spTree>
    <p:extLst>
      <p:ext uri="{BB962C8B-B14F-4D97-AF65-F5344CB8AC3E}">
        <p14:creationId xmlns:p14="http://schemas.microsoft.com/office/powerpoint/2010/main" val="311505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E1323EED-4059-423C-BEAE-832A5C5838C7}"/>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DDB3A076-F3F8-423D-B21A-E60DFB6C5466}"/>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E4E2CF8E-0143-4EA1-B716-614FDD9BE793}"/>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d: big-data data-flow architecture and warehouse layering.</a:t>
            </a:r>
          </a:p>
        </p:txBody>
      </p:sp>
      <p:sp>
        <p:nvSpPr>
          <p:cNvPr id="4" name="矩形 3">
            <a:extLst>
              <a:ext uri="{FF2B5EF4-FFF2-40B4-BE49-F238E27FC236}">
                <a16:creationId xmlns:a16="http://schemas.microsoft.com/office/drawing/2014/main" id="{A4D43720-D3D3-4A6A-91A9-01CED504A31B}"/>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11</a:t>
            </a:r>
          </a:p>
        </p:txBody>
      </p:sp>
      <p:sp>
        <p:nvSpPr>
          <p:cNvPr id="5" name="椭圆 4">
            <a:extLst>
              <a:ext uri="{FF2B5EF4-FFF2-40B4-BE49-F238E27FC236}">
                <a16:creationId xmlns:a16="http://schemas.microsoft.com/office/drawing/2014/main" id="{A4CEC13F-0E67-43D0-BBFB-4ADDEE4264DF}"/>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5338EC74-A177-40F3-801C-D3E1EA31BB74}"/>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d  DATA FLOW ARCHITECTURE</a:t>
            </a:r>
          </a:p>
        </p:txBody>
      </p:sp>
      <p:sp>
        <p:nvSpPr>
          <p:cNvPr id="7" name="矩形 6">
            <a:extLst>
              <a:ext uri="{FF2B5EF4-FFF2-40B4-BE49-F238E27FC236}">
                <a16:creationId xmlns:a16="http://schemas.microsoft.com/office/drawing/2014/main" id="{DED95581-EE7B-436A-B60A-2C4CBD877694}"/>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数仓分层把原始阅读行为转成面向运营和算法的可复用数据资产</a:t>
            </a:r>
          </a:p>
        </p:txBody>
      </p:sp>
      <p:sp>
        <p:nvSpPr>
          <p:cNvPr id="8" name="直接连接符 7">
            <a:extLst>
              <a:ext uri="{FF2B5EF4-FFF2-40B4-BE49-F238E27FC236}">
                <a16:creationId xmlns:a16="http://schemas.microsoft.com/office/drawing/2014/main" id="{BBE58A31-A139-4628-850C-AF50336124A1}"/>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DB0721D5-7A53-47A1-8544-4BAC12C6838A}"/>
              </a:ext>
            </a:extLst>
          </p:cNvPr>
          <p:cNvSpPr>
            <a:spLocks noGrp="1"/>
          </p:cNvSpPr>
          <p:nvPr/>
        </p:nvSpPr>
        <p:spPr>
          <a:xfrm>
            <a:off x="876300" y="1562100"/>
            <a:ext cx="1809750" cy="590550"/>
          </a:xfrm>
          <a:prstGeom prst="rect">
            <a:avLst/>
          </a:prstGeom>
          <a:solidFill>
            <a:srgbClr val="FFFFFF"/>
          </a:solidFill>
          <a:ln w="9525">
            <a:solidFill>
              <a:srgbClr val="D8D1C4"/>
            </a:solidFill>
          </a:ln>
        </p:spPr>
        <p:txBody>
          <a:bodyPr lIns="114300" tIns="95250" rIns="114300" bIns="95250" anchor="ctr"/>
          <a:lstStyle/>
          <a:p>
            <a:pPr algn="ctr">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ODS 原始层</a:t>
            </a:r>
          </a:p>
        </p:txBody>
      </p:sp>
      <p:sp>
        <p:nvSpPr>
          <p:cNvPr id="10" name="矩形 9">
            <a:extLst>
              <a:ext uri="{FF2B5EF4-FFF2-40B4-BE49-F238E27FC236}">
                <a16:creationId xmlns:a16="http://schemas.microsoft.com/office/drawing/2014/main" id="{C1BD5E13-063F-4790-90B1-0D3D47BDCCC2}"/>
              </a:ext>
            </a:extLst>
          </p:cNvPr>
          <p:cNvSpPr>
            <a:spLocks noGrp="1"/>
          </p:cNvSpPr>
          <p:nvPr/>
        </p:nvSpPr>
        <p:spPr>
          <a:xfrm>
            <a:off x="3238500" y="1562100"/>
            <a:ext cx="6858000" cy="590550"/>
          </a:xfrm>
          <a:prstGeom prst="rect">
            <a:avLst/>
          </a:prstGeom>
          <a:solidFill>
            <a:srgbClr val="FFFFFF"/>
          </a:solidFill>
          <a:ln w="9525">
            <a:solidFill>
              <a:srgbClr val="D8D1C4"/>
            </a:solidFill>
          </a:ln>
        </p:spPr>
        <p:txBody>
          <a:bodyPr lIns="114300" tIns="95250" rIns="114300" bIns="95250" anchor="ctr"/>
          <a:lstStyle/>
          <a:p>
            <a:pPr algn="l">
              <a:defRPr sz="1200">
                <a:solidFill>
                  <a:srgbClr val="17202A"/>
                </a:solidFill>
                <a:latin typeface="Microsoft YaHei"/>
                <a:ea typeface="Microsoft YaHei"/>
                <a:cs typeface="Microsoft YaHei"/>
              </a:defRPr>
            </a:pPr>
            <a:r>
              <a:rPr sz="1200">
                <a:solidFill>
                  <a:srgbClr val="17202A"/>
                </a:solidFill>
                <a:latin typeface="Microsoft YaHei"/>
                <a:ea typeface="Microsoft YaHei"/>
                <a:cs typeface="Microsoft YaHei"/>
              </a:rPr>
              <a:t>原样接入业务库快照和行为日志：用户、书籍、章节、评论、曝光、点击、搜索</a:t>
            </a:r>
          </a:p>
        </p:txBody>
      </p:sp>
      <p:sp>
        <p:nvSpPr>
          <p:cNvPr id="11" name="直接连接符 10">
            <a:extLst>
              <a:ext uri="{FF2B5EF4-FFF2-40B4-BE49-F238E27FC236}">
                <a16:creationId xmlns:a16="http://schemas.microsoft.com/office/drawing/2014/main" id="{B44CF6D0-1493-4CD5-8430-9AC0672C5DFA}"/>
              </a:ext>
            </a:extLst>
          </p:cNvPr>
          <p:cNvSpPr>
            <a:spLocks noGrp="1"/>
          </p:cNvSpPr>
          <p:nvPr/>
        </p:nvSpPr>
        <p:spPr>
          <a:xfrm>
            <a:off x="1781175" y="2171700"/>
            <a:ext cx="9525" cy="381000"/>
          </a:xfrm>
          <a:prstGeom prst="line">
            <a:avLst/>
          </a:prstGeom>
          <a:noFill/>
          <a:ln w="19050">
            <a:solidFill>
              <a:srgbClr val="D8D1C4"/>
            </a:solidFill>
          </a:ln>
        </p:spPr>
      </p:sp>
      <p:sp>
        <p:nvSpPr>
          <p:cNvPr id="12" name="等腰三角形 11">
            <a:extLst>
              <a:ext uri="{FF2B5EF4-FFF2-40B4-BE49-F238E27FC236}">
                <a16:creationId xmlns:a16="http://schemas.microsoft.com/office/drawing/2014/main" id="{3DED1917-277D-4F1C-A378-BA1AF77DB62E}"/>
              </a:ext>
            </a:extLst>
          </p:cNvPr>
          <p:cNvSpPr>
            <a:spLocks noGrp="1"/>
          </p:cNvSpPr>
          <p:nvPr/>
        </p:nvSpPr>
        <p:spPr>
          <a:xfrm>
            <a:off x="1704975" y="2495550"/>
            <a:ext cx="152400" cy="133350"/>
          </a:xfrm>
          <a:prstGeom prst="triangle">
            <a:avLst/>
          </a:prstGeom>
          <a:solidFill>
            <a:srgbClr val="D8D1C4"/>
          </a:solidFill>
          <a:ln w="0">
            <a:solidFill>
              <a:srgbClr val="D8D1C4"/>
            </a:solidFill>
          </a:ln>
        </p:spPr>
      </p:sp>
      <p:sp>
        <p:nvSpPr>
          <p:cNvPr id="13" name="矩形 12">
            <a:extLst>
              <a:ext uri="{FF2B5EF4-FFF2-40B4-BE49-F238E27FC236}">
                <a16:creationId xmlns:a16="http://schemas.microsoft.com/office/drawing/2014/main" id="{6452FCB3-921F-4B70-BF4E-2FF9CC1B3E54}"/>
              </a:ext>
            </a:extLst>
          </p:cNvPr>
          <p:cNvSpPr>
            <a:spLocks noGrp="1"/>
          </p:cNvSpPr>
          <p:nvPr/>
        </p:nvSpPr>
        <p:spPr>
          <a:xfrm>
            <a:off x="876300" y="2628900"/>
            <a:ext cx="1809750" cy="590550"/>
          </a:xfrm>
          <a:prstGeom prst="rect">
            <a:avLst/>
          </a:prstGeom>
          <a:solidFill>
            <a:srgbClr val="FFFFFF"/>
          </a:solidFill>
          <a:ln w="9525">
            <a:solidFill>
              <a:srgbClr val="287D79"/>
            </a:solidFill>
          </a:ln>
        </p:spPr>
        <p:txBody>
          <a:bodyPr lIns="114300" tIns="95250" rIns="114300" bIns="95250" anchor="ctr"/>
          <a:lstStyle/>
          <a:p>
            <a:pPr algn="ctr">
              <a:defRPr sz="1350">
                <a:solidFill>
                  <a:srgbClr val="287D79"/>
                </a:solidFill>
                <a:latin typeface="Microsoft YaHei"/>
                <a:ea typeface="Microsoft YaHei"/>
                <a:cs typeface="Microsoft YaHei"/>
              </a:defRPr>
            </a:pPr>
            <a:r>
              <a:rPr sz="1350" b="1">
                <a:solidFill>
                  <a:srgbClr val="287D79"/>
                </a:solidFill>
                <a:latin typeface="Microsoft YaHei"/>
                <a:ea typeface="Microsoft YaHei"/>
                <a:cs typeface="Microsoft YaHei"/>
              </a:rPr>
              <a:t>DWD 明细层</a:t>
            </a:r>
          </a:p>
        </p:txBody>
      </p:sp>
      <p:sp>
        <p:nvSpPr>
          <p:cNvPr id="14" name="矩形 13">
            <a:extLst>
              <a:ext uri="{FF2B5EF4-FFF2-40B4-BE49-F238E27FC236}">
                <a16:creationId xmlns:a16="http://schemas.microsoft.com/office/drawing/2014/main" id="{DBF95528-2CEB-4D58-BD8E-C5BC16933C51}"/>
              </a:ext>
            </a:extLst>
          </p:cNvPr>
          <p:cNvSpPr>
            <a:spLocks noGrp="1"/>
          </p:cNvSpPr>
          <p:nvPr/>
        </p:nvSpPr>
        <p:spPr>
          <a:xfrm>
            <a:off x="3238500" y="2628900"/>
            <a:ext cx="6858000" cy="590550"/>
          </a:xfrm>
          <a:prstGeom prst="rect">
            <a:avLst/>
          </a:prstGeom>
          <a:solidFill>
            <a:srgbClr val="FFFFFF"/>
          </a:solidFill>
          <a:ln w="9525">
            <a:solidFill>
              <a:srgbClr val="D8D1C4"/>
            </a:solidFill>
          </a:ln>
        </p:spPr>
        <p:txBody>
          <a:bodyPr lIns="114300" tIns="95250" rIns="114300" bIns="95250" anchor="ctr"/>
          <a:lstStyle/>
          <a:p>
            <a:pPr algn="l">
              <a:defRPr sz="1200">
                <a:solidFill>
                  <a:srgbClr val="17202A"/>
                </a:solidFill>
                <a:latin typeface="Microsoft YaHei"/>
                <a:ea typeface="Microsoft YaHei"/>
                <a:cs typeface="Microsoft YaHei"/>
              </a:defRPr>
            </a:pPr>
            <a:r>
              <a:rPr sz="1200">
                <a:solidFill>
                  <a:srgbClr val="17202A"/>
                </a:solidFill>
                <a:latin typeface="Microsoft YaHei"/>
                <a:ea typeface="Microsoft YaHei"/>
                <a:cs typeface="Microsoft YaHei"/>
              </a:rPr>
              <a:t>清洗统一字段和口径：阅读明细、曝光明细、搜索明细、评论明细、广告明细</a:t>
            </a:r>
          </a:p>
        </p:txBody>
      </p:sp>
      <p:sp>
        <p:nvSpPr>
          <p:cNvPr id="15" name="直接连接符 14">
            <a:extLst>
              <a:ext uri="{FF2B5EF4-FFF2-40B4-BE49-F238E27FC236}">
                <a16:creationId xmlns:a16="http://schemas.microsoft.com/office/drawing/2014/main" id="{9EE89F67-84BF-42F4-9657-A73AE919A567}"/>
              </a:ext>
            </a:extLst>
          </p:cNvPr>
          <p:cNvSpPr>
            <a:spLocks noGrp="1"/>
          </p:cNvSpPr>
          <p:nvPr/>
        </p:nvSpPr>
        <p:spPr>
          <a:xfrm>
            <a:off x="1781175" y="3238500"/>
            <a:ext cx="9525" cy="381000"/>
          </a:xfrm>
          <a:prstGeom prst="line">
            <a:avLst/>
          </a:prstGeom>
          <a:noFill/>
          <a:ln w="19050">
            <a:solidFill>
              <a:srgbClr val="D8D1C4"/>
            </a:solidFill>
          </a:ln>
        </p:spPr>
      </p:sp>
      <p:sp>
        <p:nvSpPr>
          <p:cNvPr id="16" name="等腰三角形 15">
            <a:extLst>
              <a:ext uri="{FF2B5EF4-FFF2-40B4-BE49-F238E27FC236}">
                <a16:creationId xmlns:a16="http://schemas.microsoft.com/office/drawing/2014/main" id="{37E8FAF0-1AA8-47B4-B728-FCA73728738A}"/>
              </a:ext>
            </a:extLst>
          </p:cNvPr>
          <p:cNvSpPr>
            <a:spLocks noGrp="1"/>
          </p:cNvSpPr>
          <p:nvPr/>
        </p:nvSpPr>
        <p:spPr>
          <a:xfrm>
            <a:off x="1704975" y="3562350"/>
            <a:ext cx="152400" cy="133350"/>
          </a:xfrm>
          <a:prstGeom prst="triangle">
            <a:avLst/>
          </a:prstGeom>
          <a:solidFill>
            <a:srgbClr val="D8D1C4"/>
          </a:solidFill>
          <a:ln w="0">
            <a:solidFill>
              <a:srgbClr val="D8D1C4"/>
            </a:solidFill>
          </a:ln>
        </p:spPr>
      </p:sp>
      <p:sp>
        <p:nvSpPr>
          <p:cNvPr id="17" name="矩形 16">
            <a:extLst>
              <a:ext uri="{FF2B5EF4-FFF2-40B4-BE49-F238E27FC236}">
                <a16:creationId xmlns:a16="http://schemas.microsoft.com/office/drawing/2014/main" id="{EA99CE74-DB83-4198-8B0F-08625FAB7037}"/>
              </a:ext>
            </a:extLst>
          </p:cNvPr>
          <p:cNvSpPr>
            <a:spLocks noGrp="1"/>
          </p:cNvSpPr>
          <p:nvPr/>
        </p:nvSpPr>
        <p:spPr>
          <a:xfrm>
            <a:off x="876300" y="3695700"/>
            <a:ext cx="1809750" cy="590550"/>
          </a:xfrm>
          <a:prstGeom prst="rect">
            <a:avLst/>
          </a:prstGeom>
          <a:solidFill>
            <a:srgbClr val="FFFFFF"/>
          </a:solidFill>
          <a:ln w="9525">
            <a:solidFill>
              <a:srgbClr val="315C97"/>
            </a:solidFill>
          </a:ln>
        </p:spPr>
        <p:txBody>
          <a:bodyPr lIns="114300" tIns="95250" rIns="114300" bIns="95250" anchor="ctr"/>
          <a:lstStyle/>
          <a:p>
            <a:pPr algn="ctr">
              <a:defRPr sz="1350">
                <a:solidFill>
                  <a:srgbClr val="315C97"/>
                </a:solidFill>
                <a:latin typeface="Microsoft YaHei"/>
                <a:ea typeface="Microsoft YaHei"/>
                <a:cs typeface="Microsoft YaHei"/>
              </a:defRPr>
            </a:pPr>
            <a:r>
              <a:rPr sz="1350" b="1">
                <a:solidFill>
                  <a:srgbClr val="315C97"/>
                </a:solidFill>
                <a:latin typeface="Microsoft YaHei"/>
                <a:ea typeface="Microsoft YaHei"/>
                <a:cs typeface="Microsoft YaHei"/>
              </a:rPr>
              <a:t>DWS 汇总层</a:t>
            </a:r>
          </a:p>
        </p:txBody>
      </p:sp>
      <p:sp>
        <p:nvSpPr>
          <p:cNvPr id="18" name="矩形 17">
            <a:extLst>
              <a:ext uri="{FF2B5EF4-FFF2-40B4-BE49-F238E27FC236}">
                <a16:creationId xmlns:a16="http://schemas.microsoft.com/office/drawing/2014/main" id="{DB86A147-F212-4B92-B670-A300855D1709}"/>
              </a:ext>
            </a:extLst>
          </p:cNvPr>
          <p:cNvSpPr>
            <a:spLocks noGrp="1"/>
          </p:cNvSpPr>
          <p:nvPr/>
        </p:nvSpPr>
        <p:spPr>
          <a:xfrm>
            <a:off x="3238500" y="3695700"/>
            <a:ext cx="6858000" cy="590550"/>
          </a:xfrm>
          <a:prstGeom prst="rect">
            <a:avLst/>
          </a:prstGeom>
          <a:solidFill>
            <a:srgbClr val="FFFFFF"/>
          </a:solidFill>
          <a:ln w="9525">
            <a:solidFill>
              <a:srgbClr val="D8D1C4"/>
            </a:solidFill>
          </a:ln>
        </p:spPr>
        <p:txBody>
          <a:bodyPr lIns="114300" tIns="95250" rIns="114300" bIns="95250" anchor="ctr"/>
          <a:lstStyle/>
          <a:p>
            <a:pPr algn="l">
              <a:defRPr sz="1200">
                <a:solidFill>
                  <a:srgbClr val="17202A"/>
                </a:solidFill>
                <a:latin typeface="Microsoft YaHei"/>
                <a:ea typeface="Microsoft YaHei"/>
                <a:cs typeface="Microsoft YaHei"/>
              </a:defRPr>
            </a:pPr>
            <a:r>
              <a:rPr sz="1200">
                <a:solidFill>
                  <a:srgbClr val="17202A"/>
                </a:solidFill>
                <a:latin typeface="Microsoft YaHei"/>
                <a:ea typeface="Microsoft YaHei"/>
                <a:cs typeface="Microsoft YaHei"/>
              </a:rPr>
              <a:t>按主题聚合：用户主题、作品主题、作者主题、广告主题、渠道主题</a:t>
            </a:r>
          </a:p>
        </p:txBody>
      </p:sp>
      <p:sp>
        <p:nvSpPr>
          <p:cNvPr id="19" name="直接连接符 18">
            <a:extLst>
              <a:ext uri="{FF2B5EF4-FFF2-40B4-BE49-F238E27FC236}">
                <a16:creationId xmlns:a16="http://schemas.microsoft.com/office/drawing/2014/main" id="{9F8D77FD-87E7-4160-B109-DA39592A59FE}"/>
              </a:ext>
            </a:extLst>
          </p:cNvPr>
          <p:cNvSpPr>
            <a:spLocks noGrp="1"/>
          </p:cNvSpPr>
          <p:nvPr/>
        </p:nvSpPr>
        <p:spPr>
          <a:xfrm>
            <a:off x="1781175" y="4305300"/>
            <a:ext cx="9525" cy="381000"/>
          </a:xfrm>
          <a:prstGeom prst="line">
            <a:avLst/>
          </a:prstGeom>
          <a:noFill/>
          <a:ln w="19050">
            <a:solidFill>
              <a:srgbClr val="D8D1C4"/>
            </a:solidFill>
          </a:ln>
        </p:spPr>
      </p:sp>
      <p:sp>
        <p:nvSpPr>
          <p:cNvPr id="20" name="等腰三角形 19">
            <a:extLst>
              <a:ext uri="{FF2B5EF4-FFF2-40B4-BE49-F238E27FC236}">
                <a16:creationId xmlns:a16="http://schemas.microsoft.com/office/drawing/2014/main" id="{B7A74AAD-2B40-48EE-B9F3-64AA134CD611}"/>
              </a:ext>
            </a:extLst>
          </p:cNvPr>
          <p:cNvSpPr>
            <a:spLocks noGrp="1"/>
          </p:cNvSpPr>
          <p:nvPr/>
        </p:nvSpPr>
        <p:spPr>
          <a:xfrm>
            <a:off x="1704975" y="4629150"/>
            <a:ext cx="152400" cy="133350"/>
          </a:xfrm>
          <a:prstGeom prst="triangle">
            <a:avLst/>
          </a:prstGeom>
          <a:solidFill>
            <a:srgbClr val="D8D1C4"/>
          </a:solidFill>
          <a:ln w="0">
            <a:solidFill>
              <a:srgbClr val="D8D1C4"/>
            </a:solidFill>
          </a:ln>
        </p:spPr>
      </p:sp>
      <p:sp>
        <p:nvSpPr>
          <p:cNvPr id="21" name="矩形 20">
            <a:extLst>
              <a:ext uri="{FF2B5EF4-FFF2-40B4-BE49-F238E27FC236}">
                <a16:creationId xmlns:a16="http://schemas.microsoft.com/office/drawing/2014/main" id="{2CBB1854-5701-4593-B37F-2E27B740D0DD}"/>
              </a:ext>
            </a:extLst>
          </p:cNvPr>
          <p:cNvSpPr>
            <a:spLocks noGrp="1"/>
          </p:cNvSpPr>
          <p:nvPr/>
        </p:nvSpPr>
        <p:spPr>
          <a:xfrm>
            <a:off x="876300" y="4762500"/>
            <a:ext cx="1809750" cy="590550"/>
          </a:xfrm>
          <a:prstGeom prst="rect">
            <a:avLst/>
          </a:prstGeom>
          <a:solidFill>
            <a:srgbClr val="FFFFFF"/>
          </a:solidFill>
          <a:ln w="9525">
            <a:solidFill>
              <a:srgbClr val="E85D4F"/>
            </a:solidFill>
          </a:ln>
        </p:spPr>
        <p:txBody>
          <a:bodyPr lIns="114300" tIns="95250" rIns="114300" bIns="95250" anchor="ctr"/>
          <a:lstStyle/>
          <a:p>
            <a:pPr algn="ctr">
              <a:defRPr sz="1350">
                <a:solidFill>
                  <a:srgbClr val="E85D4F"/>
                </a:solidFill>
                <a:latin typeface="Microsoft YaHei"/>
                <a:ea typeface="Microsoft YaHei"/>
                <a:cs typeface="Microsoft YaHei"/>
              </a:defRPr>
            </a:pPr>
            <a:r>
              <a:rPr sz="1350" b="1">
                <a:solidFill>
                  <a:srgbClr val="E85D4F"/>
                </a:solidFill>
                <a:latin typeface="Microsoft YaHei"/>
                <a:ea typeface="Microsoft YaHei"/>
                <a:cs typeface="Microsoft YaHei"/>
              </a:rPr>
              <a:t>ADS 应用层</a:t>
            </a:r>
          </a:p>
        </p:txBody>
      </p:sp>
      <p:sp>
        <p:nvSpPr>
          <p:cNvPr id="22" name="矩形 21">
            <a:extLst>
              <a:ext uri="{FF2B5EF4-FFF2-40B4-BE49-F238E27FC236}">
                <a16:creationId xmlns:a16="http://schemas.microsoft.com/office/drawing/2014/main" id="{59416C25-E780-4C3B-8B78-19CFB99B2AA9}"/>
              </a:ext>
            </a:extLst>
          </p:cNvPr>
          <p:cNvSpPr>
            <a:spLocks noGrp="1"/>
          </p:cNvSpPr>
          <p:nvPr/>
        </p:nvSpPr>
        <p:spPr>
          <a:xfrm>
            <a:off x="3238500" y="4762500"/>
            <a:ext cx="6858000" cy="590550"/>
          </a:xfrm>
          <a:prstGeom prst="rect">
            <a:avLst/>
          </a:prstGeom>
          <a:solidFill>
            <a:srgbClr val="FFFFFF"/>
          </a:solidFill>
          <a:ln w="9525">
            <a:solidFill>
              <a:srgbClr val="D8D1C4"/>
            </a:solidFill>
          </a:ln>
        </p:spPr>
        <p:txBody>
          <a:bodyPr lIns="114300" tIns="95250" rIns="114300" bIns="95250" anchor="ctr"/>
          <a:lstStyle/>
          <a:p>
            <a:pPr algn="l">
              <a:defRPr sz="1200">
                <a:solidFill>
                  <a:srgbClr val="17202A"/>
                </a:solidFill>
                <a:latin typeface="Microsoft YaHei"/>
                <a:ea typeface="Microsoft YaHei"/>
                <a:cs typeface="Microsoft YaHei"/>
              </a:defRPr>
            </a:pPr>
            <a:r>
              <a:rPr sz="1200">
                <a:solidFill>
                  <a:srgbClr val="17202A"/>
                </a:solidFill>
                <a:latin typeface="Microsoft YaHei"/>
                <a:ea typeface="Microsoft YaHei"/>
                <a:cs typeface="Microsoft YaHei"/>
              </a:rPr>
              <a:t>面向应用输出：留存看板、作品榜单、推荐特征、风控标签、广告日报</a:t>
            </a:r>
          </a:p>
        </p:txBody>
      </p:sp>
      <p:sp>
        <p:nvSpPr>
          <p:cNvPr id="23" name="矩形 22">
            <a:extLst>
              <a:ext uri="{FF2B5EF4-FFF2-40B4-BE49-F238E27FC236}">
                <a16:creationId xmlns:a16="http://schemas.microsoft.com/office/drawing/2014/main" id="{77276D9A-E793-4794-9E74-87FF292902B9}"/>
              </a:ext>
            </a:extLst>
          </p:cNvPr>
          <p:cNvSpPr>
            <a:spLocks noGrp="1"/>
          </p:cNvSpPr>
          <p:nvPr/>
        </p:nvSpPr>
        <p:spPr>
          <a:xfrm>
            <a:off x="10382250" y="1619250"/>
            <a:ext cx="1428750" cy="3429000"/>
          </a:xfrm>
          <a:prstGeom prst="rect">
            <a:avLst/>
          </a:prstGeom>
          <a:solidFill>
            <a:srgbClr val="1E2732"/>
          </a:solidFill>
          <a:ln w="9525">
            <a:solidFill>
              <a:srgbClr val="1E2732"/>
            </a:solidFill>
          </a:ln>
        </p:spPr>
        <p:txBody>
          <a:bodyPr lIns="114300" tIns="133350" rIns="114300" bIns="133350" anchor="t"/>
          <a:lstStyle/>
          <a:p>
            <a:pPr>
              <a:defRPr sz="1163">
                <a:solidFill>
                  <a:srgbClr val="FFFFFF"/>
                </a:solidFill>
                <a:latin typeface="Microsoft YaHei"/>
                <a:ea typeface="Microsoft YaHei"/>
                <a:cs typeface="Microsoft YaHei"/>
              </a:defRPr>
            </a:pPr>
            <a:r>
              <a:rPr lang="zh-CN" altLang="en-US" sz="1100" dirty="0">
                <a:solidFill>
                  <a:srgbClr val="FFFFFF"/>
                </a:solidFill>
                <a:latin typeface="Microsoft YaHei"/>
                <a:ea typeface="Microsoft YaHei"/>
                <a:cs typeface="Microsoft YaHei"/>
              </a:rPr>
              <a:t>例子</a:t>
            </a:r>
          </a:p>
          <a:p>
            <a:pPr>
              <a:defRPr sz="1163">
                <a:solidFill>
                  <a:srgbClr val="FFFFFF"/>
                </a:solidFill>
                <a:latin typeface="Microsoft YaHei"/>
                <a:ea typeface="Microsoft YaHei"/>
                <a:cs typeface="Microsoft YaHei"/>
              </a:defRPr>
            </a:pPr>
            <a:r>
              <a:rPr lang="zh-CN" altLang="en-US" sz="1100" dirty="0">
                <a:solidFill>
                  <a:srgbClr val="FFFFFF"/>
                </a:solidFill>
                <a:latin typeface="Microsoft YaHei"/>
                <a:ea typeface="Microsoft YaHei"/>
                <a:cs typeface="Microsoft YaHei"/>
              </a:rPr>
              <a:t>原始日志：用户 </a:t>
            </a:r>
            <a:r>
              <a:rPr lang="en-US" altLang="zh-CN" sz="1100" dirty="0">
                <a:solidFill>
                  <a:srgbClr val="FFFFFF"/>
                </a:solidFill>
                <a:latin typeface="Microsoft YaHei"/>
                <a:ea typeface="Microsoft YaHei"/>
                <a:cs typeface="Microsoft YaHei"/>
              </a:rPr>
              <a:t>A </a:t>
            </a:r>
            <a:r>
              <a:rPr lang="zh-CN" altLang="en-US" sz="1100" dirty="0">
                <a:solidFill>
                  <a:srgbClr val="FFFFFF"/>
                </a:solidFill>
                <a:latin typeface="Microsoft YaHei"/>
                <a:ea typeface="Microsoft YaHei"/>
                <a:cs typeface="Microsoft YaHei"/>
              </a:rPr>
              <a:t>在 </a:t>
            </a:r>
            <a:r>
              <a:rPr lang="en-US" altLang="zh-CN" sz="1100" dirty="0">
                <a:solidFill>
                  <a:srgbClr val="FFFFFF"/>
                </a:solidFill>
                <a:latin typeface="Microsoft YaHei"/>
                <a:ea typeface="Microsoft YaHei"/>
                <a:cs typeface="Microsoft YaHei"/>
              </a:rPr>
              <a:t>20:31 </a:t>
            </a:r>
            <a:r>
              <a:rPr lang="zh-CN" altLang="en-US" sz="1100" dirty="0">
                <a:solidFill>
                  <a:srgbClr val="FFFFFF"/>
                </a:solidFill>
                <a:latin typeface="Microsoft YaHei"/>
                <a:ea typeface="Microsoft YaHei"/>
                <a:cs typeface="Microsoft YaHei"/>
              </a:rPr>
              <a:t>打开推荐位上的小说 </a:t>
            </a:r>
            <a:r>
              <a:rPr lang="en-US" altLang="zh-CN" sz="1100" dirty="0">
                <a:solidFill>
                  <a:srgbClr val="FFFFFF"/>
                </a:solidFill>
                <a:latin typeface="Microsoft YaHei"/>
                <a:ea typeface="Microsoft YaHei"/>
                <a:cs typeface="Microsoft YaHei"/>
              </a:rPr>
              <a:t>X </a:t>
            </a:r>
            <a:r>
              <a:rPr lang="zh-CN" altLang="en-US" sz="1100" dirty="0">
                <a:solidFill>
                  <a:srgbClr val="FFFFFF"/>
                </a:solidFill>
                <a:latin typeface="Microsoft YaHei"/>
                <a:ea typeface="Microsoft YaHei"/>
                <a:cs typeface="Microsoft YaHei"/>
              </a:rPr>
              <a:t>第 </a:t>
            </a:r>
            <a:r>
              <a:rPr lang="en-US" altLang="zh-CN" sz="1100" dirty="0">
                <a:solidFill>
                  <a:srgbClr val="FFFFFF"/>
                </a:solidFill>
                <a:latin typeface="Microsoft YaHei"/>
                <a:ea typeface="Microsoft YaHei"/>
                <a:cs typeface="Microsoft YaHei"/>
              </a:rPr>
              <a:t>12 </a:t>
            </a:r>
            <a:r>
              <a:rPr lang="zh-CN" altLang="en-US" sz="1100" dirty="0">
                <a:solidFill>
                  <a:srgbClr val="FFFFFF"/>
                </a:solidFill>
                <a:latin typeface="Microsoft YaHei"/>
                <a:ea typeface="Microsoft YaHei"/>
                <a:cs typeface="Microsoft YaHei"/>
              </a:rPr>
              <a:t>章</a:t>
            </a:r>
          </a:p>
          <a:p>
            <a:pPr>
              <a:defRPr sz="1163">
                <a:solidFill>
                  <a:srgbClr val="FFFFFF"/>
                </a:solidFill>
                <a:latin typeface="Microsoft YaHei"/>
                <a:ea typeface="Microsoft YaHei"/>
                <a:cs typeface="Microsoft YaHei"/>
              </a:defRPr>
            </a:pPr>
            <a:endParaRPr lang="en-US" altLang="zh-CN" sz="1100" dirty="0">
              <a:solidFill>
                <a:srgbClr val="FFFFFF"/>
              </a:solidFill>
              <a:latin typeface="Microsoft YaHei"/>
              <a:ea typeface="Microsoft YaHei"/>
              <a:cs typeface="Microsoft YaHei"/>
            </a:endParaRPr>
          </a:p>
          <a:p>
            <a:pPr>
              <a:defRPr sz="1163">
                <a:solidFill>
                  <a:srgbClr val="FFFFFF"/>
                </a:solidFill>
                <a:latin typeface="Microsoft YaHei"/>
                <a:ea typeface="Microsoft YaHei"/>
                <a:cs typeface="Microsoft YaHei"/>
              </a:defRPr>
            </a:pPr>
            <a:r>
              <a:rPr lang="en-US" altLang="zh-CN" sz="1100" dirty="0">
                <a:solidFill>
                  <a:srgbClr val="FFFFFF"/>
                </a:solidFill>
                <a:latin typeface="Microsoft YaHei"/>
                <a:ea typeface="Microsoft YaHei"/>
                <a:cs typeface="Microsoft YaHei"/>
              </a:rPr>
              <a:t>DWD</a:t>
            </a:r>
            <a:r>
              <a:rPr lang="zh-CN" altLang="en-US" sz="1100" dirty="0">
                <a:solidFill>
                  <a:srgbClr val="FFFFFF"/>
                </a:solidFill>
                <a:latin typeface="Microsoft YaHei"/>
                <a:ea typeface="Microsoft YaHei"/>
                <a:cs typeface="Microsoft YaHei"/>
              </a:rPr>
              <a:t>：标准化为阅读事件明细，补齐用户、作品、渠道、设备维度</a:t>
            </a:r>
          </a:p>
          <a:p>
            <a:pPr>
              <a:defRPr sz="1163">
                <a:solidFill>
                  <a:srgbClr val="FFFFFF"/>
                </a:solidFill>
                <a:latin typeface="Microsoft YaHei"/>
                <a:ea typeface="Microsoft YaHei"/>
                <a:cs typeface="Microsoft YaHei"/>
              </a:defRPr>
            </a:pPr>
            <a:endParaRPr lang="en-US" altLang="zh-CN" sz="1100" dirty="0">
              <a:solidFill>
                <a:srgbClr val="FFFFFF"/>
              </a:solidFill>
              <a:latin typeface="Microsoft YaHei"/>
              <a:ea typeface="Microsoft YaHei"/>
              <a:cs typeface="Microsoft YaHei"/>
            </a:endParaRPr>
          </a:p>
          <a:p>
            <a:pPr>
              <a:defRPr sz="1163">
                <a:solidFill>
                  <a:srgbClr val="FFFFFF"/>
                </a:solidFill>
                <a:latin typeface="Microsoft YaHei"/>
                <a:ea typeface="Microsoft YaHei"/>
                <a:cs typeface="Microsoft YaHei"/>
              </a:defRPr>
            </a:pPr>
            <a:r>
              <a:rPr lang="en-US" altLang="zh-CN" sz="1100" dirty="0">
                <a:solidFill>
                  <a:srgbClr val="FFFFFF"/>
                </a:solidFill>
                <a:latin typeface="Microsoft YaHei"/>
                <a:ea typeface="Microsoft YaHei"/>
                <a:cs typeface="Microsoft YaHei"/>
              </a:rPr>
              <a:t>DWS</a:t>
            </a:r>
            <a:r>
              <a:rPr lang="zh-CN" altLang="en-US" sz="1100" dirty="0">
                <a:solidFill>
                  <a:srgbClr val="FFFFFF"/>
                </a:solidFill>
                <a:latin typeface="Microsoft YaHei"/>
                <a:ea typeface="Microsoft YaHei"/>
                <a:cs typeface="Microsoft YaHei"/>
              </a:rPr>
              <a:t>：统计作品 </a:t>
            </a:r>
            <a:r>
              <a:rPr lang="en-US" altLang="zh-CN" sz="1100" dirty="0">
                <a:solidFill>
                  <a:srgbClr val="FFFFFF"/>
                </a:solidFill>
                <a:latin typeface="Microsoft YaHei"/>
                <a:ea typeface="Microsoft YaHei"/>
                <a:cs typeface="Microsoft YaHei"/>
              </a:rPr>
              <a:t>X </a:t>
            </a:r>
            <a:r>
              <a:rPr lang="zh-CN" altLang="en-US" sz="1100" dirty="0">
                <a:solidFill>
                  <a:srgbClr val="FFFFFF"/>
                </a:solidFill>
                <a:latin typeface="Microsoft YaHei"/>
                <a:ea typeface="Microsoft YaHei"/>
                <a:cs typeface="Microsoft YaHei"/>
              </a:rPr>
              <a:t>当日阅读人数、平均停留、完读率</a:t>
            </a:r>
          </a:p>
          <a:p>
            <a:pPr>
              <a:defRPr sz="1163">
                <a:solidFill>
                  <a:srgbClr val="FFFFFF"/>
                </a:solidFill>
                <a:latin typeface="Microsoft YaHei"/>
                <a:ea typeface="Microsoft YaHei"/>
                <a:cs typeface="Microsoft YaHei"/>
              </a:defRPr>
            </a:pPr>
            <a:endParaRPr lang="en-US" altLang="zh-CN" sz="1100" dirty="0">
              <a:solidFill>
                <a:srgbClr val="FFFFFF"/>
              </a:solidFill>
              <a:latin typeface="Microsoft YaHei"/>
              <a:ea typeface="Microsoft YaHei"/>
              <a:cs typeface="Microsoft YaHei"/>
            </a:endParaRPr>
          </a:p>
          <a:p>
            <a:pPr>
              <a:defRPr sz="1163">
                <a:solidFill>
                  <a:srgbClr val="FFFFFF"/>
                </a:solidFill>
                <a:latin typeface="Microsoft YaHei"/>
                <a:ea typeface="Microsoft YaHei"/>
                <a:cs typeface="Microsoft YaHei"/>
              </a:defRPr>
            </a:pPr>
            <a:r>
              <a:rPr lang="en-US" altLang="zh-CN" sz="1100" dirty="0">
                <a:solidFill>
                  <a:srgbClr val="FFFFFF"/>
                </a:solidFill>
                <a:latin typeface="Microsoft YaHei"/>
                <a:ea typeface="Microsoft YaHei"/>
                <a:cs typeface="Microsoft YaHei"/>
              </a:rPr>
              <a:t>ADS</a:t>
            </a:r>
            <a:r>
              <a:rPr lang="zh-CN" altLang="en-US" sz="1100" dirty="0">
                <a:solidFill>
                  <a:srgbClr val="FFFFFF"/>
                </a:solidFill>
                <a:latin typeface="Microsoft YaHei"/>
                <a:ea typeface="Microsoft YaHei"/>
                <a:cs typeface="Microsoft YaHei"/>
              </a:rPr>
              <a:t>：输出作品热度榜、推荐特征、运营日报</a:t>
            </a:r>
          </a:p>
        </p:txBody>
      </p:sp>
    </p:spTree>
    <p:extLst>
      <p:ext uri="{BB962C8B-B14F-4D97-AF65-F5344CB8AC3E}">
        <p14:creationId xmlns:p14="http://schemas.microsoft.com/office/powerpoint/2010/main" val="203851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A1B5F1F2-B1DA-416F-B476-D1C9E143CB7A}"/>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F2C05CA9-0FA2-4792-BE56-3EEEF7580DBE}"/>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9DF940C8-9661-47FA-94F2-60E1EC9754DB}"/>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Task e: architecture summary and positioning.</a:t>
            </a:r>
          </a:p>
        </p:txBody>
      </p:sp>
      <p:sp>
        <p:nvSpPr>
          <p:cNvPr id="4" name="矩形 3">
            <a:extLst>
              <a:ext uri="{FF2B5EF4-FFF2-40B4-BE49-F238E27FC236}">
                <a16:creationId xmlns:a16="http://schemas.microsoft.com/office/drawing/2014/main" id="{35C35638-D64C-4E89-82C5-74A969A78243}"/>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12</a:t>
            </a:r>
          </a:p>
        </p:txBody>
      </p:sp>
      <p:sp>
        <p:nvSpPr>
          <p:cNvPr id="5" name="椭圆 4">
            <a:extLst>
              <a:ext uri="{FF2B5EF4-FFF2-40B4-BE49-F238E27FC236}">
                <a16:creationId xmlns:a16="http://schemas.microsoft.com/office/drawing/2014/main" id="{B4462925-3548-4C33-A5C8-CD95D3D85F65}"/>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3F0A88CF-4F21-4AB8-A6C2-4506FA5276C9}"/>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e  POSITIONING</a:t>
            </a:r>
          </a:p>
        </p:txBody>
      </p:sp>
      <p:sp>
        <p:nvSpPr>
          <p:cNvPr id="7" name="矩形 6">
            <a:extLst>
              <a:ext uri="{FF2B5EF4-FFF2-40B4-BE49-F238E27FC236}">
                <a16:creationId xmlns:a16="http://schemas.microsoft.com/office/drawing/2014/main" id="{FB1BBB9D-F15C-4EA9-BF32-C6590505A032}"/>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大数据平台的定位是“分析与反馈系统”，不是替代 OLTP 的交易系统</a:t>
            </a:r>
          </a:p>
        </p:txBody>
      </p:sp>
      <p:sp>
        <p:nvSpPr>
          <p:cNvPr id="8" name="直接连接符 7">
            <a:extLst>
              <a:ext uri="{FF2B5EF4-FFF2-40B4-BE49-F238E27FC236}">
                <a16:creationId xmlns:a16="http://schemas.microsoft.com/office/drawing/2014/main" id="{FD7AA0C9-4A4B-479D-BA32-196056E21D98}"/>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8E816B67-47E3-4E96-ABCB-006A4C92E5FB}"/>
              </a:ext>
            </a:extLst>
          </p:cNvPr>
          <p:cNvSpPr>
            <a:spLocks noGrp="1"/>
          </p:cNvSpPr>
          <p:nvPr/>
        </p:nvSpPr>
        <p:spPr>
          <a:xfrm>
            <a:off x="781050" y="1924050"/>
            <a:ext cx="238125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10" name="矩形 9">
            <a:extLst>
              <a:ext uri="{FF2B5EF4-FFF2-40B4-BE49-F238E27FC236}">
                <a16:creationId xmlns:a16="http://schemas.microsoft.com/office/drawing/2014/main" id="{A8CCFCE3-EB04-464A-9384-B291BE834B78}"/>
              </a:ext>
            </a:extLst>
          </p:cNvPr>
          <p:cNvSpPr>
            <a:spLocks noGrp="1"/>
          </p:cNvSpPr>
          <p:nvPr/>
        </p:nvSpPr>
        <p:spPr>
          <a:xfrm>
            <a:off x="781050" y="1924050"/>
            <a:ext cx="2381250" cy="57150"/>
          </a:xfrm>
          <a:prstGeom prst="rect">
            <a:avLst/>
          </a:prstGeom>
          <a:solidFill>
            <a:srgbClr val="E85D4F"/>
          </a:solidFill>
          <a:ln w="0">
            <a:solidFill>
              <a:srgbClr val="E85D4F"/>
            </a:solidFill>
          </a:ln>
        </p:spPr>
      </p:sp>
      <p:sp>
        <p:nvSpPr>
          <p:cNvPr id="11" name="矩形 10">
            <a:extLst>
              <a:ext uri="{FF2B5EF4-FFF2-40B4-BE49-F238E27FC236}">
                <a16:creationId xmlns:a16="http://schemas.microsoft.com/office/drawing/2014/main" id="{5875C8CE-D8B8-4A8A-A24F-CB00ED579106}"/>
              </a:ext>
            </a:extLst>
          </p:cNvPr>
          <p:cNvSpPr>
            <a:spLocks noGrp="1"/>
          </p:cNvSpPr>
          <p:nvPr/>
        </p:nvSpPr>
        <p:spPr>
          <a:xfrm>
            <a:off x="914400" y="2066925"/>
            <a:ext cx="2114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读者与作者行为</a:t>
            </a:r>
          </a:p>
        </p:txBody>
      </p:sp>
      <p:sp>
        <p:nvSpPr>
          <p:cNvPr id="12" name="矩形 11">
            <a:extLst>
              <a:ext uri="{FF2B5EF4-FFF2-40B4-BE49-F238E27FC236}">
                <a16:creationId xmlns:a16="http://schemas.microsoft.com/office/drawing/2014/main" id="{D501E741-265B-4606-9128-DD4F3CA186DF}"/>
              </a:ext>
            </a:extLst>
          </p:cNvPr>
          <p:cNvSpPr>
            <a:spLocks noGrp="1"/>
          </p:cNvSpPr>
          <p:nvPr/>
        </p:nvSpPr>
        <p:spPr>
          <a:xfrm>
            <a:off x="914400" y="2343150"/>
            <a:ext cx="211455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阅读、搜索、加入书架、评论、更新章节、广告互动</a:t>
            </a:r>
          </a:p>
        </p:txBody>
      </p:sp>
      <p:sp>
        <p:nvSpPr>
          <p:cNvPr id="13" name="矩形 12">
            <a:extLst>
              <a:ext uri="{FF2B5EF4-FFF2-40B4-BE49-F238E27FC236}">
                <a16:creationId xmlns:a16="http://schemas.microsoft.com/office/drawing/2014/main" id="{5F57D331-F193-4A91-A7B8-26881C90870B}"/>
              </a:ext>
            </a:extLst>
          </p:cNvPr>
          <p:cNvSpPr>
            <a:spLocks noGrp="1"/>
          </p:cNvSpPr>
          <p:nvPr/>
        </p:nvSpPr>
        <p:spPr>
          <a:xfrm>
            <a:off x="3733800" y="1924050"/>
            <a:ext cx="238125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14" name="矩形 13">
            <a:extLst>
              <a:ext uri="{FF2B5EF4-FFF2-40B4-BE49-F238E27FC236}">
                <a16:creationId xmlns:a16="http://schemas.microsoft.com/office/drawing/2014/main" id="{A5578DFF-561F-4071-A6E5-6AF1C56B330F}"/>
              </a:ext>
            </a:extLst>
          </p:cNvPr>
          <p:cNvSpPr>
            <a:spLocks noGrp="1"/>
          </p:cNvSpPr>
          <p:nvPr/>
        </p:nvSpPr>
        <p:spPr>
          <a:xfrm>
            <a:off x="3733800" y="1924050"/>
            <a:ext cx="2381250" cy="57150"/>
          </a:xfrm>
          <a:prstGeom prst="rect">
            <a:avLst/>
          </a:prstGeom>
          <a:solidFill>
            <a:srgbClr val="315C97"/>
          </a:solidFill>
          <a:ln w="0">
            <a:solidFill>
              <a:srgbClr val="315C97"/>
            </a:solidFill>
          </a:ln>
        </p:spPr>
      </p:sp>
      <p:sp>
        <p:nvSpPr>
          <p:cNvPr id="15" name="矩形 14">
            <a:extLst>
              <a:ext uri="{FF2B5EF4-FFF2-40B4-BE49-F238E27FC236}">
                <a16:creationId xmlns:a16="http://schemas.microsoft.com/office/drawing/2014/main" id="{33149EAA-1CB9-4A39-8224-BD318CCFD58D}"/>
              </a:ext>
            </a:extLst>
          </p:cNvPr>
          <p:cNvSpPr>
            <a:spLocks noGrp="1"/>
          </p:cNvSpPr>
          <p:nvPr/>
        </p:nvSpPr>
        <p:spPr>
          <a:xfrm>
            <a:off x="3867150" y="2066925"/>
            <a:ext cx="2114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OLTP 平台</a:t>
            </a:r>
          </a:p>
        </p:txBody>
      </p:sp>
      <p:sp>
        <p:nvSpPr>
          <p:cNvPr id="16" name="矩形 15">
            <a:extLst>
              <a:ext uri="{FF2B5EF4-FFF2-40B4-BE49-F238E27FC236}">
                <a16:creationId xmlns:a16="http://schemas.microsoft.com/office/drawing/2014/main" id="{08B4ACD0-95B9-4EE6-87E8-B4CFBDDC4341}"/>
              </a:ext>
            </a:extLst>
          </p:cNvPr>
          <p:cNvSpPr>
            <a:spLocks noGrp="1"/>
          </p:cNvSpPr>
          <p:nvPr/>
        </p:nvSpPr>
        <p:spPr>
          <a:xfrm>
            <a:off x="3867150" y="2343150"/>
            <a:ext cx="211455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低延迟处理请求，维护当前业务状态和事务一致性</a:t>
            </a:r>
          </a:p>
        </p:txBody>
      </p:sp>
      <p:sp>
        <p:nvSpPr>
          <p:cNvPr id="17" name="矩形 16">
            <a:extLst>
              <a:ext uri="{FF2B5EF4-FFF2-40B4-BE49-F238E27FC236}">
                <a16:creationId xmlns:a16="http://schemas.microsoft.com/office/drawing/2014/main" id="{812AC837-841C-4C7B-BA70-B8D02DAA5F78}"/>
              </a:ext>
            </a:extLst>
          </p:cNvPr>
          <p:cNvSpPr>
            <a:spLocks noGrp="1"/>
          </p:cNvSpPr>
          <p:nvPr/>
        </p:nvSpPr>
        <p:spPr>
          <a:xfrm>
            <a:off x="6686550" y="1924050"/>
            <a:ext cx="238125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18" name="矩形 17">
            <a:extLst>
              <a:ext uri="{FF2B5EF4-FFF2-40B4-BE49-F238E27FC236}">
                <a16:creationId xmlns:a16="http://schemas.microsoft.com/office/drawing/2014/main" id="{6C6EB79A-0364-4846-9499-3354ECD690AC}"/>
              </a:ext>
            </a:extLst>
          </p:cNvPr>
          <p:cNvSpPr>
            <a:spLocks noGrp="1"/>
          </p:cNvSpPr>
          <p:nvPr/>
        </p:nvSpPr>
        <p:spPr>
          <a:xfrm>
            <a:off x="6686550" y="1924050"/>
            <a:ext cx="2381250" cy="57150"/>
          </a:xfrm>
          <a:prstGeom prst="rect">
            <a:avLst/>
          </a:prstGeom>
          <a:solidFill>
            <a:srgbClr val="287D79"/>
          </a:solidFill>
          <a:ln w="0">
            <a:solidFill>
              <a:srgbClr val="287D79"/>
            </a:solidFill>
          </a:ln>
        </p:spPr>
      </p:sp>
      <p:sp>
        <p:nvSpPr>
          <p:cNvPr id="19" name="矩形 18">
            <a:extLst>
              <a:ext uri="{FF2B5EF4-FFF2-40B4-BE49-F238E27FC236}">
                <a16:creationId xmlns:a16="http://schemas.microsoft.com/office/drawing/2014/main" id="{1DF2BD68-B861-4CF2-9CC6-94FF1937A3F1}"/>
              </a:ext>
            </a:extLst>
          </p:cNvPr>
          <p:cNvSpPr>
            <a:spLocks noGrp="1"/>
          </p:cNvSpPr>
          <p:nvPr/>
        </p:nvSpPr>
        <p:spPr>
          <a:xfrm>
            <a:off x="6819900" y="2066925"/>
            <a:ext cx="2114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大数据平台</a:t>
            </a:r>
          </a:p>
        </p:txBody>
      </p:sp>
      <p:sp>
        <p:nvSpPr>
          <p:cNvPr id="20" name="矩形 19">
            <a:extLst>
              <a:ext uri="{FF2B5EF4-FFF2-40B4-BE49-F238E27FC236}">
                <a16:creationId xmlns:a16="http://schemas.microsoft.com/office/drawing/2014/main" id="{F61B260C-8642-489E-8092-060866BB9111}"/>
              </a:ext>
            </a:extLst>
          </p:cNvPr>
          <p:cNvSpPr>
            <a:spLocks noGrp="1"/>
          </p:cNvSpPr>
          <p:nvPr/>
        </p:nvSpPr>
        <p:spPr>
          <a:xfrm>
            <a:off x="6819900" y="2343150"/>
            <a:ext cx="211455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采集历史行为，计算指标、画像、特征和风险标签</a:t>
            </a:r>
          </a:p>
        </p:txBody>
      </p:sp>
      <p:sp>
        <p:nvSpPr>
          <p:cNvPr id="21" name="矩形 20">
            <a:extLst>
              <a:ext uri="{FF2B5EF4-FFF2-40B4-BE49-F238E27FC236}">
                <a16:creationId xmlns:a16="http://schemas.microsoft.com/office/drawing/2014/main" id="{B9ABC646-F435-41DB-B468-FB766A9127BA}"/>
              </a:ext>
            </a:extLst>
          </p:cNvPr>
          <p:cNvSpPr>
            <a:spLocks noGrp="1"/>
          </p:cNvSpPr>
          <p:nvPr/>
        </p:nvSpPr>
        <p:spPr>
          <a:xfrm>
            <a:off x="3733800" y="4057650"/>
            <a:ext cx="2381250" cy="1066800"/>
          </a:xfrm>
          <a:prstGeom prst="rect">
            <a:avLst/>
          </a:prstGeom>
          <a:solidFill>
            <a:srgbClr val="FFFFFF"/>
          </a:solidFill>
          <a:ln w="9525">
            <a:solidFill>
              <a:srgbClr val="D8D1C4"/>
            </a:solidFill>
          </a:ln>
        </p:spPr>
        <p:txBody>
          <a:bodyPr lIns="114300" tIns="95250" rIns="114300" bIns="95250" anchor="ctr"/>
          <a:lstStyle/>
          <a:p>
            <a:endParaRPr/>
          </a:p>
        </p:txBody>
      </p:sp>
      <p:sp>
        <p:nvSpPr>
          <p:cNvPr id="22" name="矩形 21">
            <a:extLst>
              <a:ext uri="{FF2B5EF4-FFF2-40B4-BE49-F238E27FC236}">
                <a16:creationId xmlns:a16="http://schemas.microsoft.com/office/drawing/2014/main" id="{AA425D5D-3107-450A-8B3A-3E023ED65AA9}"/>
              </a:ext>
            </a:extLst>
          </p:cNvPr>
          <p:cNvSpPr>
            <a:spLocks noGrp="1"/>
          </p:cNvSpPr>
          <p:nvPr/>
        </p:nvSpPr>
        <p:spPr>
          <a:xfrm>
            <a:off x="3733800" y="4057650"/>
            <a:ext cx="2381250" cy="57150"/>
          </a:xfrm>
          <a:prstGeom prst="rect">
            <a:avLst/>
          </a:prstGeom>
          <a:solidFill>
            <a:srgbClr val="B2832F"/>
          </a:solidFill>
          <a:ln w="0">
            <a:solidFill>
              <a:srgbClr val="B2832F"/>
            </a:solidFill>
          </a:ln>
        </p:spPr>
      </p:sp>
      <p:sp>
        <p:nvSpPr>
          <p:cNvPr id="23" name="矩形 22">
            <a:extLst>
              <a:ext uri="{FF2B5EF4-FFF2-40B4-BE49-F238E27FC236}">
                <a16:creationId xmlns:a16="http://schemas.microsoft.com/office/drawing/2014/main" id="{3F7046E8-7E60-4161-B1EA-D455B08DBD9E}"/>
              </a:ext>
            </a:extLst>
          </p:cNvPr>
          <p:cNvSpPr>
            <a:spLocks noGrp="1"/>
          </p:cNvSpPr>
          <p:nvPr/>
        </p:nvSpPr>
        <p:spPr>
          <a:xfrm>
            <a:off x="3867150" y="4200525"/>
            <a:ext cx="2114550" cy="228600"/>
          </a:xfrm>
          <a:prstGeom prst="rect">
            <a:avLst/>
          </a:prstGeom>
          <a:noFill/>
        </p:spPr>
        <p:txBody>
          <a:bodyPr lIns="76200" tIns="38100" rIns="76200" bIns="38100" anchor="t"/>
          <a:lstStyle/>
          <a:p>
            <a:pPr algn="l">
              <a:defRPr sz="1350">
                <a:solidFill>
                  <a:srgbClr val="17202A"/>
                </a:solidFill>
                <a:latin typeface="Microsoft YaHei"/>
                <a:ea typeface="Microsoft YaHei"/>
                <a:cs typeface="Microsoft YaHei"/>
              </a:defRPr>
            </a:pPr>
            <a:r>
              <a:rPr sz="1350" b="1">
                <a:solidFill>
                  <a:srgbClr val="17202A"/>
                </a:solidFill>
                <a:latin typeface="Microsoft YaHei"/>
                <a:ea typeface="Microsoft YaHei"/>
                <a:cs typeface="Microsoft YaHei"/>
              </a:rPr>
              <a:t>业务决策</a:t>
            </a:r>
          </a:p>
        </p:txBody>
      </p:sp>
      <p:sp>
        <p:nvSpPr>
          <p:cNvPr id="24" name="矩形 23">
            <a:extLst>
              <a:ext uri="{FF2B5EF4-FFF2-40B4-BE49-F238E27FC236}">
                <a16:creationId xmlns:a16="http://schemas.microsoft.com/office/drawing/2014/main" id="{BF611647-A580-449B-8CE6-EA1D0DB2CB9F}"/>
              </a:ext>
            </a:extLst>
          </p:cNvPr>
          <p:cNvSpPr>
            <a:spLocks noGrp="1"/>
          </p:cNvSpPr>
          <p:nvPr/>
        </p:nvSpPr>
        <p:spPr>
          <a:xfrm>
            <a:off x="3867150" y="4476750"/>
            <a:ext cx="2114550" cy="571500"/>
          </a:xfrm>
          <a:prstGeom prst="rect">
            <a:avLst/>
          </a:prstGeom>
          <a:noFill/>
        </p:spPr>
        <p:txBody>
          <a:bodyPr lIns="76200" tIns="38100" rIns="76200" bIns="38100" anchor="t"/>
          <a:lstStyle/>
          <a:p>
            <a:pPr algn="l">
              <a:defRPr sz="938">
                <a:solidFill>
                  <a:srgbClr val="5C6670"/>
                </a:solidFill>
                <a:latin typeface="Microsoft YaHei"/>
                <a:ea typeface="Microsoft YaHei"/>
                <a:cs typeface="Microsoft YaHei"/>
              </a:defRPr>
            </a:pPr>
            <a:r>
              <a:rPr sz="938">
                <a:solidFill>
                  <a:srgbClr val="5C6670"/>
                </a:solidFill>
                <a:latin typeface="Microsoft YaHei"/>
                <a:ea typeface="Microsoft YaHei"/>
                <a:cs typeface="Microsoft YaHei"/>
              </a:rPr>
              <a:t>推荐优化、内容扶持、广告策略、运营活动、风控审核</a:t>
            </a:r>
          </a:p>
        </p:txBody>
      </p:sp>
      <p:sp>
        <p:nvSpPr>
          <p:cNvPr id="25" name="箭头: 右 24">
            <a:extLst>
              <a:ext uri="{FF2B5EF4-FFF2-40B4-BE49-F238E27FC236}">
                <a16:creationId xmlns:a16="http://schemas.microsoft.com/office/drawing/2014/main" id="{17884E96-A3C1-4BDF-B8EF-318E7C06204F}"/>
              </a:ext>
            </a:extLst>
          </p:cNvPr>
          <p:cNvSpPr>
            <a:spLocks noGrp="1"/>
          </p:cNvSpPr>
          <p:nvPr/>
        </p:nvSpPr>
        <p:spPr>
          <a:xfrm>
            <a:off x="3257550" y="2419350"/>
            <a:ext cx="438150" cy="190500"/>
          </a:xfrm>
          <a:prstGeom prst="rightArrow">
            <a:avLst/>
          </a:prstGeom>
          <a:solidFill>
            <a:srgbClr val="D8D1C4"/>
          </a:solidFill>
          <a:ln w="0">
            <a:solidFill>
              <a:srgbClr val="D8D1C4"/>
            </a:solidFill>
          </a:ln>
        </p:spPr>
      </p:sp>
      <p:sp>
        <p:nvSpPr>
          <p:cNvPr id="26" name="箭头: 右 25">
            <a:extLst>
              <a:ext uri="{FF2B5EF4-FFF2-40B4-BE49-F238E27FC236}">
                <a16:creationId xmlns:a16="http://schemas.microsoft.com/office/drawing/2014/main" id="{8CBB17F9-0533-4EF0-B3D9-1E2E17984C24}"/>
              </a:ext>
            </a:extLst>
          </p:cNvPr>
          <p:cNvSpPr>
            <a:spLocks noGrp="1"/>
          </p:cNvSpPr>
          <p:nvPr/>
        </p:nvSpPr>
        <p:spPr>
          <a:xfrm>
            <a:off x="6210300" y="2419350"/>
            <a:ext cx="438150" cy="190500"/>
          </a:xfrm>
          <a:prstGeom prst="rightArrow">
            <a:avLst/>
          </a:prstGeom>
          <a:solidFill>
            <a:srgbClr val="D8D1C4"/>
          </a:solidFill>
          <a:ln w="0">
            <a:solidFill>
              <a:srgbClr val="D8D1C4"/>
            </a:solidFill>
          </a:ln>
        </p:spPr>
      </p:sp>
      <p:sp>
        <p:nvSpPr>
          <p:cNvPr id="27" name="直接连接符 26">
            <a:extLst>
              <a:ext uri="{FF2B5EF4-FFF2-40B4-BE49-F238E27FC236}">
                <a16:creationId xmlns:a16="http://schemas.microsoft.com/office/drawing/2014/main" id="{89FFA007-9211-466F-8E55-B26FA1FA5FC7}"/>
              </a:ext>
            </a:extLst>
          </p:cNvPr>
          <p:cNvSpPr>
            <a:spLocks noGrp="1"/>
          </p:cNvSpPr>
          <p:nvPr/>
        </p:nvSpPr>
        <p:spPr>
          <a:xfrm>
            <a:off x="7877175" y="2990850"/>
            <a:ext cx="9525" cy="571500"/>
          </a:xfrm>
          <a:prstGeom prst="line">
            <a:avLst/>
          </a:prstGeom>
          <a:noFill/>
          <a:ln w="19050">
            <a:solidFill>
              <a:srgbClr val="D8D1C4"/>
            </a:solidFill>
          </a:ln>
        </p:spPr>
      </p:sp>
      <p:sp>
        <p:nvSpPr>
          <p:cNvPr id="28" name="直接连接符 27">
            <a:extLst>
              <a:ext uri="{FF2B5EF4-FFF2-40B4-BE49-F238E27FC236}">
                <a16:creationId xmlns:a16="http://schemas.microsoft.com/office/drawing/2014/main" id="{81E1ADC1-BFD7-43E2-AB86-EFA1EA86924C}"/>
              </a:ext>
            </a:extLst>
          </p:cNvPr>
          <p:cNvSpPr>
            <a:spLocks noGrp="1"/>
          </p:cNvSpPr>
          <p:nvPr/>
        </p:nvSpPr>
        <p:spPr>
          <a:xfrm>
            <a:off x="4924425" y="3562350"/>
            <a:ext cx="2952750" cy="9525"/>
          </a:xfrm>
          <a:prstGeom prst="line">
            <a:avLst/>
          </a:prstGeom>
          <a:noFill/>
          <a:ln w="19050">
            <a:solidFill>
              <a:srgbClr val="D8D1C4"/>
            </a:solidFill>
          </a:ln>
        </p:spPr>
      </p:sp>
      <p:sp>
        <p:nvSpPr>
          <p:cNvPr id="29" name="直接连接符 28">
            <a:extLst>
              <a:ext uri="{FF2B5EF4-FFF2-40B4-BE49-F238E27FC236}">
                <a16:creationId xmlns:a16="http://schemas.microsoft.com/office/drawing/2014/main" id="{14461048-ACFF-4354-A1B6-1FA21CD22DB4}"/>
              </a:ext>
            </a:extLst>
          </p:cNvPr>
          <p:cNvSpPr>
            <a:spLocks noGrp="1"/>
          </p:cNvSpPr>
          <p:nvPr/>
        </p:nvSpPr>
        <p:spPr>
          <a:xfrm>
            <a:off x="4924425" y="3562350"/>
            <a:ext cx="9525" cy="495300"/>
          </a:xfrm>
          <a:prstGeom prst="line">
            <a:avLst/>
          </a:prstGeom>
          <a:noFill/>
          <a:ln w="19050">
            <a:solidFill>
              <a:srgbClr val="D8D1C4"/>
            </a:solidFill>
          </a:ln>
        </p:spPr>
      </p:sp>
      <p:sp>
        <p:nvSpPr>
          <p:cNvPr id="30" name="直接连接符 29">
            <a:extLst>
              <a:ext uri="{FF2B5EF4-FFF2-40B4-BE49-F238E27FC236}">
                <a16:creationId xmlns:a16="http://schemas.microsoft.com/office/drawing/2014/main" id="{251B0F60-4FDC-484F-951C-DF65B5613AB5}"/>
              </a:ext>
            </a:extLst>
          </p:cNvPr>
          <p:cNvSpPr>
            <a:spLocks noGrp="1"/>
          </p:cNvSpPr>
          <p:nvPr/>
        </p:nvSpPr>
        <p:spPr>
          <a:xfrm>
            <a:off x="1971675" y="5124450"/>
            <a:ext cx="2952750" cy="9525"/>
          </a:xfrm>
          <a:prstGeom prst="line">
            <a:avLst/>
          </a:prstGeom>
          <a:noFill/>
          <a:ln w="19050">
            <a:solidFill>
              <a:srgbClr val="D8D1C4"/>
            </a:solidFill>
          </a:ln>
        </p:spPr>
      </p:sp>
      <p:sp>
        <p:nvSpPr>
          <p:cNvPr id="31" name="直接连接符 30">
            <a:extLst>
              <a:ext uri="{FF2B5EF4-FFF2-40B4-BE49-F238E27FC236}">
                <a16:creationId xmlns:a16="http://schemas.microsoft.com/office/drawing/2014/main" id="{602612F2-32F5-42C6-88CD-6F65690DCDB0}"/>
              </a:ext>
            </a:extLst>
          </p:cNvPr>
          <p:cNvSpPr>
            <a:spLocks noGrp="1"/>
          </p:cNvSpPr>
          <p:nvPr/>
        </p:nvSpPr>
        <p:spPr>
          <a:xfrm>
            <a:off x="1971675" y="2990850"/>
            <a:ext cx="9525" cy="2133600"/>
          </a:xfrm>
          <a:prstGeom prst="line">
            <a:avLst/>
          </a:prstGeom>
          <a:noFill/>
          <a:ln w="19050">
            <a:solidFill>
              <a:srgbClr val="D8D1C4"/>
            </a:solidFill>
          </a:ln>
        </p:spPr>
      </p:sp>
      <p:sp>
        <p:nvSpPr>
          <p:cNvPr id="32" name="等腰三角形 31">
            <a:extLst>
              <a:ext uri="{FF2B5EF4-FFF2-40B4-BE49-F238E27FC236}">
                <a16:creationId xmlns:a16="http://schemas.microsoft.com/office/drawing/2014/main" id="{E14EB12C-58CC-4D5F-8D6F-117217E24009}"/>
              </a:ext>
            </a:extLst>
          </p:cNvPr>
          <p:cNvSpPr>
            <a:spLocks noGrp="1"/>
          </p:cNvSpPr>
          <p:nvPr/>
        </p:nvSpPr>
        <p:spPr>
          <a:xfrm>
            <a:off x="1895475" y="2990850"/>
            <a:ext cx="152400" cy="133350"/>
          </a:xfrm>
          <a:prstGeom prst="triangle">
            <a:avLst/>
          </a:prstGeom>
          <a:solidFill>
            <a:srgbClr val="D8D1C4"/>
          </a:solidFill>
          <a:ln w="0">
            <a:solidFill>
              <a:srgbClr val="D8D1C4"/>
            </a:solidFill>
          </a:ln>
        </p:spPr>
      </p:sp>
      <p:sp>
        <p:nvSpPr>
          <p:cNvPr id="33" name="矩形 32">
            <a:extLst>
              <a:ext uri="{FF2B5EF4-FFF2-40B4-BE49-F238E27FC236}">
                <a16:creationId xmlns:a16="http://schemas.microsoft.com/office/drawing/2014/main" id="{DFB1C719-9412-4AA6-AB92-5332B7D03F6E}"/>
              </a:ext>
            </a:extLst>
          </p:cNvPr>
          <p:cNvSpPr>
            <a:spLocks noGrp="1"/>
          </p:cNvSpPr>
          <p:nvPr/>
        </p:nvSpPr>
        <p:spPr>
          <a:xfrm>
            <a:off x="1047750" y="5562600"/>
            <a:ext cx="10096500" cy="685800"/>
          </a:xfrm>
          <a:prstGeom prst="rect">
            <a:avLst/>
          </a:prstGeom>
          <a:solidFill>
            <a:srgbClr val="1E2732"/>
          </a:solidFill>
          <a:ln w="9525">
            <a:solidFill>
              <a:srgbClr val="1E2732"/>
            </a:solidFill>
          </a:ln>
        </p:spPr>
        <p:txBody>
          <a:bodyPr lIns="114300" tIns="95250" rIns="114300" bIns="95250" anchor="ctr"/>
          <a:lstStyle/>
          <a:p>
            <a:pPr algn="ctr">
              <a:defRPr sz="1350">
                <a:solidFill>
                  <a:srgbClr val="FFFFFF"/>
                </a:solidFill>
                <a:latin typeface="Microsoft YaHei"/>
                <a:ea typeface="Microsoft YaHei"/>
                <a:cs typeface="Microsoft YaHei"/>
              </a:defRPr>
            </a:pPr>
            <a:r>
              <a:rPr sz="1350">
                <a:solidFill>
                  <a:srgbClr val="FFFFFF"/>
                </a:solidFill>
                <a:latin typeface="Microsoft YaHei"/>
                <a:ea typeface="Microsoft YaHei"/>
                <a:cs typeface="Microsoft YaHei"/>
              </a:rPr>
              <a:t>总结：OLTP 保障阅读与互动实时可靠；大数据平台沉淀历史与实时数据，反哺推荐、内容、广告和风控决策。</a:t>
            </a:r>
          </a:p>
        </p:txBody>
      </p:sp>
    </p:spTree>
    <p:extLst>
      <p:ext uri="{BB962C8B-B14F-4D97-AF65-F5344CB8AC3E}">
        <p14:creationId xmlns:p14="http://schemas.microsoft.com/office/powerpoint/2010/main" val="823516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893FB2DA-C810-4D5D-B753-38295CE73455}"/>
              </a:ext>
            </a:extLst>
          </p:cNvPr>
          <p:cNvSpPr>
            <a:spLocks noGrp="1"/>
          </p:cNvSpPr>
          <p:nvPr/>
        </p:nvSpPr>
        <p:spPr>
          <a:xfrm>
            <a:off x="0" y="0"/>
            <a:ext cx="12192000" cy="6858000"/>
          </a:xfrm>
          <a:prstGeom prst="rect">
            <a:avLst/>
          </a:prstGeom>
          <a:solidFill>
            <a:srgbClr val="F8F5EE"/>
          </a:solidFill>
        </p:spPr>
      </p:sp>
      <p:sp>
        <p:nvSpPr>
          <p:cNvPr id="2" name="矩形 1">
            <a:extLst>
              <a:ext uri="{FF2B5EF4-FFF2-40B4-BE49-F238E27FC236}">
                <a16:creationId xmlns:a16="http://schemas.microsoft.com/office/drawing/2014/main" id="{46D5C2C9-7667-440F-8E42-438E0825DD63}"/>
              </a:ext>
            </a:extLst>
          </p:cNvPr>
          <p:cNvSpPr>
            <a:spLocks noGrp="1"/>
          </p:cNvSpPr>
          <p:nvPr/>
        </p:nvSpPr>
        <p:spPr>
          <a:xfrm>
            <a:off x="0" y="0"/>
            <a:ext cx="95250" cy="6858000"/>
          </a:xfrm>
          <a:prstGeom prst="rect">
            <a:avLst/>
          </a:prstGeom>
          <a:solidFill>
            <a:srgbClr val="E85D4F"/>
          </a:solidFill>
        </p:spPr>
      </p:sp>
      <p:sp>
        <p:nvSpPr>
          <p:cNvPr id="3" name="矩形 2">
            <a:extLst>
              <a:ext uri="{FF2B5EF4-FFF2-40B4-BE49-F238E27FC236}">
                <a16:creationId xmlns:a16="http://schemas.microsoft.com/office/drawing/2014/main" id="{20603699-E1A7-4BD7-AD44-005EF05C79C3}"/>
              </a:ext>
            </a:extLst>
          </p:cNvPr>
          <p:cNvSpPr>
            <a:spLocks noGrp="1"/>
          </p:cNvSpPr>
          <p:nvPr/>
        </p:nvSpPr>
        <p:spPr>
          <a:xfrm>
            <a:off x="419100" y="6496050"/>
            <a:ext cx="9620250" cy="228600"/>
          </a:xfrm>
          <a:prstGeom prst="rect">
            <a:avLst/>
          </a:prstGeom>
          <a:noFill/>
        </p:spPr>
        <p:txBody>
          <a:bodyPr lIns="76200" tIns="38100" rIns="76200" bIns="38100" anchor="t"/>
          <a:lstStyle/>
          <a:p>
            <a:pPr algn="l">
              <a:defRPr sz="690">
                <a:solidFill>
                  <a:srgbClr val="5C6670"/>
                </a:solidFill>
                <a:latin typeface="Segoe UI"/>
                <a:ea typeface="Segoe UI"/>
                <a:cs typeface="Segoe UI"/>
              </a:defRPr>
            </a:pPr>
            <a:r>
              <a:rPr sz="690">
                <a:solidFill>
                  <a:srgbClr val="5C6670"/>
                </a:solidFill>
                <a:latin typeface="Segoe UI"/>
                <a:ea typeface="Segoe UI"/>
                <a:cs typeface="Segoe UI"/>
              </a:rPr>
              <a:t>Public data and media reports used for scale signals; architecture is course analysis.</a:t>
            </a:r>
          </a:p>
        </p:txBody>
      </p:sp>
      <p:sp>
        <p:nvSpPr>
          <p:cNvPr id="4" name="矩形 3">
            <a:extLst>
              <a:ext uri="{FF2B5EF4-FFF2-40B4-BE49-F238E27FC236}">
                <a16:creationId xmlns:a16="http://schemas.microsoft.com/office/drawing/2014/main" id="{D506B0D6-BEC4-4E40-B97B-0BA0F4EE67FC}"/>
              </a:ext>
            </a:extLst>
          </p:cNvPr>
          <p:cNvSpPr>
            <a:spLocks noGrp="1"/>
          </p:cNvSpPr>
          <p:nvPr/>
        </p:nvSpPr>
        <p:spPr>
          <a:xfrm>
            <a:off x="11315700" y="6438900"/>
            <a:ext cx="609600" cy="266700"/>
          </a:xfrm>
          <a:prstGeom prst="rect">
            <a:avLst/>
          </a:prstGeom>
          <a:noFill/>
        </p:spPr>
        <p:txBody>
          <a:bodyPr lIns="76200" tIns="38100" rIns="76200" bIns="38100" anchor="t"/>
          <a:lstStyle/>
          <a:p>
            <a:pPr algn="r">
              <a:defRPr sz="975">
                <a:solidFill>
                  <a:srgbClr val="5C6670"/>
                </a:solidFill>
                <a:latin typeface="Segoe UI"/>
                <a:ea typeface="Segoe UI"/>
                <a:cs typeface="Segoe UI"/>
              </a:defRPr>
            </a:pPr>
            <a:r>
              <a:rPr sz="975">
                <a:solidFill>
                  <a:srgbClr val="5C6670"/>
                </a:solidFill>
                <a:latin typeface="Segoe UI"/>
                <a:ea typeface="Segoe UI"/>
                <a:cs typeface="Segoe UI"/>
              </a:rPr>
              <a:t>13</a:t>
            </a:r>
          </a:p>
        </p:txBody>
      </p:sp>
      <p:sp>
        <p:nvSpPr>
          <p:cNvPr id="5" name="椭圆 4">
            <a:extLst>
              <a:ext uri="{FF2B5EF4-FFF2-40B4-BE49-F238E27FC236}">
                <a16:creationId xmlns:a16="http://schemas.microsoft.com/office/drawing/2014/main" id="{02E93139-5404-4CA7-BB41-504D12B0042F}"/>
              </a:ext>
            </a:extLst>
          </p:cNvPr>
          <p:cNvSpPr>
            <a:spLocks noGrp="1"/>
          </p:cNvSpPr>
          <p:nvPr/>
        </p:nvSpPr>
        <p:spPr>
          <a:xfrm>
            <a:off x="485775" y="533400"/>
            <a:ext cx="76200" cy="76200"/>
          </a:xfrm>
          <a:prstGeom prst="ellipse">
            <a:avLst/>
          </a:prstGeom>
          <a:solidFill>
            <a:srgbClr val="E85D4F"/>
          </a:solidFill>
          <a:ln w="0">
            <a:solidFill>
              <a:srgbClr val="E85D4F"/>
            </a:solidFill>
          </a:ln>
        </p:spPr>
      </p:sp>
      <p:sp>
        <p:nvSpPr>
          <p:cNvPr id="6" name="矩形 5">
            <a:extLst>
              <a:ext uri="{FF2B5EF4-FFF2-40B4-BE49-F238E27FC236}">
                <a16:creationId xmlns:a16="http://schemas.microsoft.com/office/drawing/2014/main" id="{FAB599D1-B6F4-4126-A3EE-4A12C339D0F3}"/>
              </a:ext>
            </a:extLst>
          </p:cNvPr>
          <p:cNvSpPr>
            <a:spLocks noGrp="1"/>
          </p:cNvSpPr>
          <p:nvPr/>
        </p:nvSpPr>
        <p:spPr>
          <a:xfrm>
            <a:off x="647700" y="457200"/>
            <a:ext cx="3429000" cy="228600"/>
          </a:xfrm>
          <a:prstGeom prst="rect">
            <a:avLst/>
          </a:prstGeom>
          <a:noFill/>
        </p:spPr>
        <p:txBody>
          <a:bodyPr lIns="76200" tIns="38100" rIns="76200" bIns="38100" anchor="ctr"/>
          <a:lstStyle/>
          <a:p>
            <a:pPr algn="l">
              <a:defRPr sz="900">
                <a:solidFill>
                  <a:srgbClr val="E85D4F"/>
                </a:solidFill>
                <a:latin typeface="Segoe UI"/>
                <a:ea typeface="Segoe UI"/>
                <a:cs typeface="Segoe UI"/>
              </a:defRPr>
            </a:pPr>
            <a:r>
              <a:rPr sz="900" b="1">
                <a:solidFill>
                  <a:srgbClr val="E85D4F"/>
                </a:solidFill>
                <a:latin typeface="Segoe UI"/>
                <a:ea typeface="Segoe UI"/>
                <a:cs typeface="Segoe UI"/>
              </a:rPr>
              <a:t>REFERENCES  SOURCES</a:t>
            </a:r>
          </a:p>
        </p:txBody>
      </p:sp>
      <p:sp>
        <p:nvSpPr>
          <p:cNvPr id="7" name="矩形 6">
            <a:extLst>
              <a:ext uri="{FF2B5EF4-FFF2-40B4-BE49-F238E27FC236}">
                <a16:creationId xmlns:a16="http://schemas.microsoft.com/office/drawing/2014/main" id="{51FB4922-BDC8-494C-82E3-9D2F16B8E73A}"/>
              </a:ext>
            </a:extLst>
          </p:cNvPr>
          <p:cNvSpPr>
            <a:spLocks noGrp="1"/>
          </p:cNvSpPr>
          <p:nvPr/>
        </p:nvSpPr>
        <p:spPr>
          <a:xfrm>
            <a:off x="495300" y="723900"/>
            <a:ext cx="10668000" cy="495300"/>
          </a:xfrm>
          <a:prstGeom prst="rect">
            <a:avLst/>
          </a:prstGeom>
          <a:noFill/>
        </p:spPr>
        <p:txBody>
          <a:bodyPr lIns="76200" tIns="38100" rIns="76200" bIns="38100" anchor="t"/>
          <a:lstStyle/>
          <a:p>
            <a:pPr algn="l">
              <a:defRPr sz="2325">
                <a:solidFill>
                  <a:srgbClr val="17202A"/>
                </a:solidFill>
                <a:latin typeface="Microsoft YaHei"/>
                <a:ea typeface="Microsoft YaHei"/>
                <a:cs typeface="Microsoft YaHei"/>
              </a:defRPr>
            </a:pPr>
            <a:r>
              <a:rPr sz="2325" b="1">
                <a:solidFill>
                  <a:srgbClr val="17202A"/>
                </a:solidFill>
                <a:latin typeface="Microsoft YaHei"/>
                <a:ea typeface="Microsoft YaHei"/>
                <a:cs typeface="Microsoft YaHei"/>
              </a:rPr>
              <a:t>参考来源与说明</a:t>
            </a:r>
          </a:p>
        </p:txBody>
      </p:sp>
      <p:sp>
        <p:nvSpPr>
          <p:cNvPr id="8" name="直接连接符 7">
            <a:extLst>
              <a:ext uri="{FF2B5EF4-FFF2-40B4-BE49-F238E27FC236}">
                <a16:creationId xmlns:a16="http://schemas.microsoft.com/office/drawing/2014/main" id="{1A472F22-F599-4F0A-ABE2-EDCAB9921890}"/>
              </a:ext>
            </a:extLst>
          </p:cNvPr>
          <p:cNvSpPr>
            <a:spLocks noGrp="1"/>
          </p:cNvSpPr>
          <p:nvPr/>
        </p:nvSpPr>
        <p:spPr>
          <a:xfrm>
            <a:off x="495300" y="1257300"/>
            <a:ext cx="11077575" cy="9525"/>
          </a:xfrm>
          <a:prstGeom prst="line">
            <a:avLst/>
          </a:prstGeom>
          <a:noFill/>
          <a:ln w="9525">
            <a:solidFill>
              <a:srgbClr val="D8D1C4"/>
            </a:solidFill>
          </a:ln>
        </p:spPr>
      </p:sp>
      <p:sp>
        <p:nvSpPr>
          <p:cNvPr id="9" name="矩形 8">
            <a:extLst>
              <a:ext uri="{FF2B5EF4-FFF2-40B4-BE49-F238E27FC236}">
                <a16:creationId xmlns:a16="http://schemas.microsoft.com/office/drawing/2014/main" id="{12F1469C-4B43-4126-AE28-F8F1303B67AF}"/>
              </a:ext>
            </a:extLst>
          </p:cNvPr>
          <p:cNvSpPr>
            <a:spLocks noGrp="1"/>
          </p:cNvSpPr>
          <p:nvPr/>
        </p:nvSpPr>
        <p:spPr>
          <a:xfrm>
            <a:off x="609600" y="1504950"/>
            <a:ext cx="219075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来源</a:t>
            </a:r>
          </a:p>
        </p:txBody>
      </p:sp>
      <p:sp>
        <p:nvSpPr>
          <p:cNvPr id="10" name="矩形 9">
            <a:extLst>
              <a:ext uri="{FF2B5EF4-FFF2-40B4-BE49-F238E27FC236}">
                <a16:creationId xmlns:a16="http://schemas.microsoft.com/office/drawing/2014/main" id="{96420B13-2CB5-48E9-94F3-705C940E2FA9}"/>
              </a:ext>
            </a:extLst>
          </p:cNvPr>
          <p:cNvSpPr>
            <a:spLocks noGrp="1"/>
          </p:cNvSpPr>
          <p:nvPr/>
        </p:nvSpPr>
        <p:spPr>
          <a:xfrm>
            <a:off x="2800350" y="1504950"/>
            <a:ext cx="49530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链接</a:t>
            </a:r>
          </a:p>
        </p:txBody>
      </p:sp>
      <p:sp>
        <p:nvSpPr>
          <p:cNvPr id="11" name="矩形 10">
            <a:extLst>
              <a:ext uri="{FF2B5EF4-FFF2-40B4-BE49-F238E27FC236}">
                <a16:creationId xmlns:a16="http://schemas.microsoft.com/office/drawing/2014/main" id="{AE4818BC-8734-4320-8DE0-D3A9F106A8E2}"/>
              </a:ext>
            </a:extLst>
          </p:cNvPr>
          <p:cNvSpPr>
            <a:spLocks noGrp="1"/>
          </p:cNvSpPr>
          <p:nvPr/>
        </p:nvSpPr>
        <p:spPr>
          <a:xfrm>
            <a:off x="7753350" y="1504950"/>
            <a:ext cx="3619500" cy="323850"/>
          </a:xfrm>
          <a:prstGeom prst="rect">
            <a:avLst/>
          </a:prstGeom>
          <a:solidFill>
            <a:srgbClr val="1E2732"/>
          </a:solidFill>
          <a:ln w="9525">
            <a:solidFill>
              <a:srgbClr val="1E2732"/>
            </a:solidFill>
          </a:ln>
        </p:spPr>
        <p:txBody>
          <a:bodyPr lIns="114300" tIns="95250" rIns="114300" bIns="95250" anchor="ctr"/>
          <a:lstStyle/>
          <a:p>
            <a:pPr algn="ctr">
              <a:defRPr sz="1125">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使用内容</a:t>
            </a:r>
          </a:p>
        </p:txBody>
      </p:sp>
      <p:sp>
        <p:nvSpPr>
          <p:cNvPr id="12" name="矩形 11">
            <a:extLst>
              <a:ext uri="{FF2B5EF4-FFF2-40B4-BE49-F238E27FC236}">
                <a16:creationId xmlns:a16="http://schemas.microsoft.com/office/drawing/2014/main" id="{A7D1F6E6-A903-4857-8751-18FB9E845F52}"/>
              </a:ext>
            </a:extLst>
          </p:cNvPr>
          <p:cNvSpPr>
            <a:spLocks noGrp="1"/>
          </p:cNvSpPr>
          <p:nvPr/>
        </p:nvSpPr>
        <p:spPr>
          <a:xfrm>
            <a:off x="609600" y="1828800"/>
            <a:ext cx="2190750" cy="476250"/>
          </a:xfrm>
          <a:prstGeom prst="rect">
            <a:avLst/>
          </a:prstGeom>
          <a:solidFill>
            <a:srgbClr val="FFFDF8"/>
          </a:solidFill>
          <a:ln w="9525">
            <a:solidFill>
              <a:srgbClr val="D8D1C4"/>
            </a:solidFill>
          </a:ln>
        </p:spPr>
        <p:txBody>
          <a:bodyPr lIns="95250" tIns="76200" rIns="95250" bIns="76200" anchor="ctr"/>
          <a:lstStyle/>
          <a:p>
            <a:pPr algn="ctr">
              <a:defRPr sz="953">
                <a:solidFill>
                  <a:srgbClr val="17202A"/>
                </a:solidFill>
                <a:latin typeface="Microsoft YaHei"/>
                <a:ea typeface="Microsoft YaHei"/>
                <a:cs typeface="Microsoft YaHei"/>
              </a:defRPr>
            </a:pPr>
            <a:r>
              <a:rPr sz="953" b="1">
                <a:solidFill>
                  <a:srgbClr val="17202A"/>
                </a:solidFill>
                <a:latin typeface="Microsoft YaHei"/>
                <a:ea typeface="Microsoft YaHei"/>
                <a:cs typeface="Microsoft YaHei"/>
              </a:rPr>
              <a:t>番茄小说官网</a:t>
            </a:r>
          </a:p>
        </p:txBody>
      </p:sp>
      <p:sp>
        <p:nvSpPr>
          <p:cNvPr id="13" name="矩形 12">
            <a:extLst>
              <a:ext uri="{FF2B5EF4-FFF2-40B4-BE49-F238E27FC236}">
                <a16:creationId xmlns:a16="http://schemas.microsoft.com/office/drawing/2014/main" id="{28E34262-0F30-4FC4-BED6-ABD1BE20FB94}"/>
              </a:ext>
            </a:extLst>
          </p:cNvPr>
          <p:cNvSpPr>
            <a:spLocks noGrp="1"/>
          </p:cNvSpPr>
          <p:nvPr/>
        </p:nvSpPr>
        <p:spPr>
          <a:xfrm>
            <a:off x="2800350" y="1828800"/>
            <a:ext cx="4953000" cy="476250"/>
          </a:xfrm>
          <a:prstGeom prst="rect">
            <a:avLst/>
          </a:prstGeom>
          <a:solidFill>
            <a:srgbClr val="FFFDF8"/>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https://fanqienovel.com/</a:t>
            </a:r>
          </a:p>
        </p:txBody>
      </p:sp>
      <p:sp>
        <p:nvSpPr>
          <p:cNvPr id="14" name="矩形 13">
            <a:extLst>
              <a:ext uri="{FF2B5EF4-FFF2-40B4-BE49-F238E27FC236}">
                <a16:creationId xmlns:a16="http://schemas.microsoft.com/office/drawing/2014/main" id="{F4A89A4F-89BD-4481-9F7E-A8CC76155716}"/>
              </a:ext>
            </a:extLst>
          </p:cNvPr>
          <p:cNvSpPr>
            <a:spLocks noGrp="1"/>
          </p:cNvSpPr>
          <p:nvPr/>
        </p:nvSpPr>
        <p:spPr>
          <a:xfrm>
            <a:off x="7753350" y="1828800"/>
            <a:ext cx="3619500" cy="476250"/>
          </a:xfrm>
          <a:prstGeom prst="rect">
            <a:avLst/>
          </a:prstGeom>
          <a:solidFill>
            <a:srgbClr val="FFFDF8"/>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产品入口、作家专区、版权专区、广告链接</a:t>
            </a:r>
          </a:p>
        </p:txBody>
      </p:sp>
      <p:sp>
        <p:nvSpPr>
          <p:cNvPr id="15" name="矩形 14">
            <a:extLst>
              <a:ext uri="{FF2B5EF4-FFF2-40B4-BE49-F238E27FC236}">
                <a16:creationId xmlns:a16="http://schemas.microsoft.com/office/drawing/2014/main" id="{EE4F8677-4EEF-4656-9E48-B93C5BB242DD}"/>
              </a:ext>
            </a:extLst>
          </p:cNvPr>
          <p:cNvSpPr>
            <a:spLocks noGrp="1"/>
          </p:cNvSpPr>
          <p:nvPr/>
        </p:nvSpPr>
        <p:spPr>
          <a:xfrm>
            <a:off x="609600" y="2343150"/>
            <a:ext cx="2190750" cy="476250"/>
          </a:xfrm>
          <a:prstGeom prst="rect">
            <a:avLst/>
          </a:prstGeom>
          <a:solidFill>
            <a:srgbClr val="FFFFFF"/>
          </a:solidFill>
          <a:ln w="9525">
            <a:solidFill>
              <a:srgbClr val="D8D1C4"/>
            </a:solidFill>
          </a:ln>
        </p:spPr>
        <p:txBody>
          <a:bodyPr lIns="95250" tIns="76200" rIns="95250" bIns="76200" anchor="ctr"/>
          <a:lstStyle/>
          <a:p>
            <a:pPr algn="ctr">
              <a:defRPr sz="953">
                <a:solidFill>
                  <a:srgbClr val="17202A"/>
                </a:solidFill>
                <a:latin typeface="Microsoft YaHei"/>
                <a:ea typeface="Microsoft YaHei"/>
                <a:cs typeface="Microsoft YaHei"/>
              </a:defRPr>
            </a:pPr>
            <a:r>
              <a:rPr sz="953" b="1">
                <a:solidFill>
                  <a:srgbClr val="17202A"/>
                </a:solidFill>
                <a:latin typeface="Microsoft YaHei"/>
                <a:ea typeface="Microsoft YaHei"/>
                <a:cs typeface="Microsoft YaHei"/>
              </a:rPr>
              <a:t>2024 中国网络文学发展研究报告</a:t>
            </a:r>
          </a:p>
        </p:txBody>
      </p:sp>
      <p:sp>
        <p:nvSpPr>
          <p:cNvPr id="16" name="矩形 15">
            <a:extLst>
              <a:ext uri="{FF2B5EF4-FFF2-40B4-BE49-F238E27FC236}">
                <a16:creationId xmlns:a16="http://schemas.microsoft.com/office/drawing/2014/main" id="{6CF1A9DC-3C6C-4C34-8029-09EA57016234}"/>
              </a:ext>
            </a:extLst>
          </p:cNvPr>
          <p:cNvSpPr>
            <a:spLocks noGrp="1"/>
          </p:cNvSpPr>
          <p:nvPr/>
        </p:nvSpPr>
        <p:spPr>
          <a:xfrm>
            <a:off x="2800350" y="2343150"/>
            <a:ext cx="4953000" cy="476250"/>
          </a:xfrm>
          <a:prstGeom prst="rect">
            <a:avLst/>
          </a:prstGeom>
          <a:solidFill>
            <a:srgbClr val="FFFFFF"/>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https://www.cssn.cn/wx/tbch/202505/t20250513_5873701.shtml</a:t>
            </a:r>
          </a:p>
        </p:txBody>
      </p:sp>
      <p:sp>
        <p:nvSpPr>
          <p:cNvPr id="17" name="矩形 16">
            <a:extLst>
              <a:ext uri="{FF2B5EF4-FFF2-40B4-BE49-F238E27FC236}">
                <a16:creationId xmlns:a16="http://schemas.microsoft.com/office/drawing/2014/main" id="{E89CB91A-38E6-407E-82B4-AC4F25A8C482}"/>
              </a:ext>
            </a:extLst>
          </p:cNvPr>
          <p:cNvSpPr>
            <a:spLocks noGrp="1"/>
          </p:cNvSpPr>
          <p:nvPr/>
        </p:nvSpPr>
        <p:spPr>
          <a:xfrm>
            <a:off x="7753350" y="2343150"/>
            <a:ext cx="3619500" cy="476250"/>
          </a:xfrm>
          <a:prstGeom prst="rect">
            <a:avLst/>
          </a:prstGeom>
          <a:solidFill>
            <a:srgbClr val="FFFFFF"/>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用户、作者、作品、市场规模数据</a:t>
            </a:r>
          </a:p>
        </p:txBody>
      </p:sp>
      <p:sp>
        <p:nvSpPr>
          <p:cNvPr id="18" name="矩形 17">
            <a:extLst>
              <a:ext uri="{FF2B5EF4-FFF2-40B4-BE49-F238E27FC236}">
                <a16:creationId xmlns:a16="http://schemas.microsoft.com/office/drawing/2014/main" id="{511FFD2B-6B63-4DF3-A956-846A129BC060}"/>
              </a:ext>
            </a:extLst>
          </p:cNvPr>
          <p:cNvSpPr>
            <a:spLocks noGrp="1"/>
          </p:cNvSpPr>
          <p:nvPr/>
        </p:nvSpPr>
        <p:spPr>
          <a:xfrm>
            <a:off x="609600" y="2857500"/>
            <a:ext cx="2190750" cy="476250"/>
          </a:xfrm>
          <a:prstGeom prst="rect">
            <a:avLst/>
          </a:prstGeom>
          <a:solidFill>
            <a:srgbClr val="FFFDF8"/>
          </a:solidFill>
          <a:ln w="9525">
            <a:solidFill>
              <a:srgbClr val="D8D1C4"/>
            </a:solidFill>
          </a:ln>
        </p:spPr>
        <p:txBody>
          <a:bodyPr lIns="95250" tIns="76200" rIns="95250" bIns="76200" anchor="ctr"/>
          <a:lstStyle/>
          <a:p>
            <a:pPr algn="ctr">
              <a:defRPr sz="953">
                <a:solidFill>
                  <a:srgbClr val="17202A"/>
                </a:solidFill>
                <a:latin typeface="Microsoft YaHei"/>
                <a:ea typeface="Microsoft YaHei"/>
                <a:cs typeface="Microsoft YaHei"/>
              </a:defRPr>
            </a:pPr>
            <a:r>
              <a:rPr sz="953" b="1">
                <a:solidFill>
                  <a:srgbClr val="17202A"/>
                </a:solidFill>
                <a:latin typeface="Microsoft YaHei"/>
                <a:ea typeface="Microsoft YaHei"/>
                <a:cs typeface="Microsoft YaHei"/>
              </a:rPr>
              <a:t>国家新闻出版署</a:t>
            </a:r>
          </a:p>
        </p:txBody>
      </p:sp>
      <p:sp>
        <p:nvSpPr>
          <p:cNvPr id="19" name="矩形 18">
            <a:extLst>
              <a:ext uri="{FF2B5EF4-FFF2-40B4-BE49-F238E27FC236}">
                <a16:creationId xmlns:a16="http://schemas.microsoft.com/office/drawing/2014/main" id="{CA1047A3-CFBF-4BC1-8F62-1FC823BE3335}"/>
              </a:ext>
            </a:extLst>
          </p:cNvPr>
          <p:cNvSpPr>
            <a:spLocks noGrp="1"/>
          </p:cNvSpPr>
          <p:nvPr/>
        </p:nvSpPr>
        <p:spPr>
          <a:xfrm>
            <a:off x="2800350" y="2857500"/>
            <a:ext cx="4953000" cy="476250"/>
          </a:xfrm>
          <a:prstGeom prst="rect">
            <a:avLst/>
          </a:prstGeom>
          <a:solidFill>
            <a:srgbClr val="FFFDF8"/>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https://www.nppa.gov.cn/xxfb/ywdt/202505/t20250512_894767.html</a:t>
            </a:r>
          </a:p>
        </p:txBody>
      </p:sp>
      <p:sp>
        <p:nvSpPr>
          <p:cNvPr id="20" name="矩形 19">
            <a:extLst>
              <a:ext uri="{FF2B5EF4-FFF2-40B4-BE49-F238E27FC236}">
                <a16:creationId xmlns:a16="http://schemas.microsoft.com/office/drawing/2014/main" id="{D80BF1AE-EAFA-416D-8D28-FB1511EA5E9E}"/>
              </a:ext>
            </a:extLst>
          </p:cNvPr>
          <p:cNvSpPr>
            <a:spLocks noGrp="1"/>
          </p:cNvSpPr>
          <p:nvPr/>
        </p:nvSpPr>
        <p:spPr>
          <a:xfrm>
            <a:off x="7753350" y="2857500"/>
            <a:ext cx="3619500" cy="476250"/>
          </a:xfrm>
          <a:prstGeom prst="rect">
            <a:avLst/>
          </a:prstGeom>
          <a:solidFill>
            <a:srgbClr val="FFFDF8"/>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网络文学发展趋势与报告信息</a:t>
            </a:r>
          </a:p>
        </p:txBody>
      </p:sp>
      <p:sp>
        <p:nvSpPr>
          <p:cNvPr id="21" name="矩形 20">
            <a:extLst>
              <a:ext uri="{FF2B5EF4-FFF2-40B4-BE49-F238E27FC236}">
                <a16:creationId xmlns:a16="http://schemas.microsoft.com/office/drawing/2014/main" id="{452E6B3E-520A-46E0-BD6A-BF015C8C53D7}"/>
              </a:ext>
            </a:extLst>
          </p:cNvPr>
          <p:cNvSpPr>
            <a:spLocks noGrp="1"/>
          </p:cNvSpPr>
          <p:nvPr/>
        </p:nvSpPr>
        <p:spPr>
          <a:xfrm>
            <a:off x="609600" y="3371850"/>
            <a:ext cx="2190750" cy="476250"/>
          </a:xfrm>
          <a:prstGeom prst="rect">
            <a:avLst/>
          </a:prstGeom>
          <a:solidFill>
            <a:srgbClr val="FFFFFF"/>
          </a:solidFill>
          <a:ln w="9525">
            <a:solidFill>
              <a:srgbClr val="D8D1C4"/>
            </a:solidFill>
          </a:ln>
        </p:spPr>
        <p:txBody>
          <a:bodyPr lIns="95250" tIns="76200" rIns="95250" bIns="76200" anchor="ctr"/>
          <a:lstStyle/>
          <a:p>
            <a:pPr algn="ctr">
              <a:defRPr sz="953">
                <a:solidFill>
                  <a:srgbClr val="17202A"/>
                </a:solidFill>
                <a:latin typeface="Microsoft YaHei"/>
                <a:ea typeface="Microsoft YaHei"/>
                <a:cs typeface="Microsoft YaHei"/>
              </a:defRPr>
            </a:pPr>
            <a:r>
              <a:rPr sz="953" b="1">
                <a:solidFill>
                  <a:srgbClr val="17202A"/>
                </a:solidFill>
                <a:latin typeface="Microsoft YaHei"/>
                <a:ea typeface="Microsoft YaHei"/>
                <a:cs typeface="Microsoft YaHei"/>
              </a:rPr>
              <a:t>新华社</a:t>
            </a:r>
          </a:p>
        </p:txBody>
      </p:sp>
      <p:sp>
        <p:nvSpPr>
          <p:cNvPr id="22" name="矩形 21">
            <a:extLst>
              <a:ext uri="{FF2B5EF4-FFF2-40B4-BE49-F238E27FC236}">
                <a16:creationId xmlns:a16="http://schemas.microsoft.com/office/drawing/2014/main" id="{9407D69F-AC2A-41A9-8F20-7307CF4C7D6D}"/>
              </a:ext>
            </a:extLst>
          </p:cNvPr>
          <p:cNvSpPr>
            <a:spLocks noGrp="1"/>
          </p:cNvSpPr>
          <p:nvPr/>
        </p:nvSpPr>
        <p:spPr>
          <a:xfrm>
            <a:off x="2800350" y="3371850"/>
            <a:ext cx="4953000" cy="476250"/>
          </a:xfrm>
          <a:prstGeom prst="rect">
            <a:avLst/>
          </a:prstGeom>
          <a:solidFill>
            <a:srgbClr val="FFFFFF"/>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https://www.xinhuanet.com/tech/20241212/7a3a29fb2cca4c4c96f7d7b71a6f9579/c.html</a:t>
            </a:r>
          </a:p>
        </p:txBody>
      </p:sp>
      <p:sp>
        <p:nvSpPr>
          <p:cNvPr id="23" name="矩形 22">
            <a:extLst>
              <a:ext uri="{FF2B5EF4-FFF2-40B4-BE49-F238E27FC236}">
                <a16:creationId xmlns:a16="http://schemas.microsoft.com/office/drawing/2014/main" id="{0164B500-EECB-45F0-A095-C54ABF3E7526}"/>
              </a:ext>
            </a:extLst>
          </p:cNvPr>
          <p:cNvSpPr>
            <a:spLocks noGrp="1"/>
          </p:cNvSpPr>
          <p:nvPr/>
        </p:nvSpPr>
        <p:spPr>
          <a:xfrm>
            <a:off x="7753350" y="3371850"/>
            <a:ext cx="3619500" cy="476250"/>
          </a:xfrm>
          <a:prstGeom prst="rect">
            <a:avLst/>
          </a:prstGeom>
          <a:solidFill>
            <a:srgbClr val="FFFFFF"/>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作者收入、奖金、扶持计划报道</a:t>
            </a:r>
          </a:p>
        </p:txBody>
      </p:sp>
      <p:sp>
        <p:nvSpPr>
          <p:cNvPr id="24" name="矩形 23">
            <a:extLst>
              <a:ext uri="{FF2B5EF4-FFF2-40B4-BE49-F238E27FC236}">
                <a16:creationId xmlns:a16="http://schemas.microsoft.com/office/drawing/2014/main" id="{EC3A41A1-2528-416E-A832-A5FB4085AEBF}"/>
              </a:ext>
            </a:extLst>
          </p:cNvPr>
          <p:cNvSpPr>
            <a:spLocks noGrp="1"/>
          </p:cNvSpPr>
          <p:nvPr/>
        </p:nvSpPr>
        <p:spPr>
          <a:xfrm>
            <a:off x="609600" y="3886200"/>
            <a:ext cx="2190750" cy="476250"/>
          </a:xfrm>
          <a:prstGeom prst="rect">
            <a:avLst/>
          </a:prstGeom>
          <a:solidFill>
            <a:srgbClr val="FFFDF8"/>
          </a:solidFill>
          <a:ln w="9525">
            <a:solidFill>
              <a:srgbClr val="D8D1C4"/>
            </a:solidFill>
          </a:ln>
        </p:spPr>
        <p:txBody>
          <a:bodyPr lIns="95250" tIns="76200" rIns="95250" bIns="76200" anchor="ctr"/>
          <a:lstStyle/>
          <a:p>
            <a:pPr algn="ctr">
              <a:defRPr sz="953">
                <a:solidFill>
                  <a:srgbClr val="17202A"/>
                </a:solidFill>
                <a:latin typeface="Microsoft YaHei"/>
                <a:ea typeface="Microsoft YaHei"/>
                <a:cs typeface="Microsoft YaHei"/>
              </a:defRPr>
            </a:pPr>
            <a:r>
              <a:rPr sz="953" b="1">
                <a:solidFill>
                  <a:srgbClr val="17202A"/>
                </a:solidFill>
                <a:latin typeface="Microsoft YaHei"/>
                <a:ea typeface="Microsoft YaHei"/>
                <a:cs typeface="Microsoft YaHei"/>
              </a:rPr>
              <a:t>界面新闻</a:t>
            </a:r>
          </a:p>
        </p:txBody>
      </p:sp>
      <p:sp>
        <p:nvSpPr>
          <p:cNvPr id="25" name="矩形 24">
            <a:extLst>
              <a:ext uri="{FF2B5EF4-FFF2-40B4-BE49-F238E27FC236}">
                <a16:creationId xmlns:a16="http://schemas.microsoft.com/office/drawing/2014/main" id="{D6B8D1B8-6E82-47C8-ACDB-352D3EF3E958}"/>
              </a:ext>
            </a:extLst>
          </p:cNvPr>
          <p:cNvSpPr>
            <a:spLocks noGrp="1"/>
          </p:cNvSpPr>
          <p:nvPr/>
        </p:nvSpPr>
        <p:spPr>
          <a:xfrm>
            <a:off x="2800350" y="3886200"/>
            <a:ext cx="4953000" cy="476250"/>
          </a:xfrm>
          <a:prstGeom prst="rect">
            <a:avLst/>
          </a:prstGeom>
          <a:solidFill>
            <a:srgbClr val="FFFDF8"/>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https://www.jiemian.com/article/12111592.html</a:t>
            </a:r>
          </a:p>
        </p:txBody>
      </p:sp>
      <p:sp>
        <p:nvSpPr>
          <p:cNvPr id="26" name="矩形 25">
            <a:extLst>
              <a:ext uri="{FF2B5EF4-FFF2-40B4-BE49-F238E27FC236}">
                <a16:creationId xmlns:a16="http://schemas.microsoft.com/office/drawing/2014/main" id="{E78B7893-6050-4B0D-8449-8DFB7CED76B8}"/>
              </a:ext>
            </a:extLst>
          </p:cNvPr>
          <p:cNvSpPr>
            <a:spLocks noGrp="1"/>
          </p:cNvSpPr>
          <p:nvPr/>
        </p:nvSpPr>
        <p:spPr>
          <a:xfrm>
            <a:off x="7753350" y="3886200"/>
            <a:ext cx="3619500" cy="476250"/>
          </a:xfrm>
          <a:prstGeom prst="rect">
            <a:avLst/>
          </a:prstGeom>
          <a:solidFill>
            <a:srgbClr val="FFFDF8"/>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年度榜单用户参与、签约作者数据</a:t>
            </a:r>
          </a:p>
        </p:txBody>
      </p:sp>
      <p:sp>
        <p:nvSpPr>
          <p:cNvPr id="27" name="矩形 26">
            <a:extLst>
              <a:ext uri="{FF2B5EF4-FFF2-40B4-BE49-F238E27FC236}">
                <a16:creationId xmlns:a16="http://schemas.microsoft.com/office/drawing/2014/main" id="{C8387145-5250-45F7-BAC9-894BDF4403D7}"/>
              </a:ext>
            </a:extLst>
          </p:cNvPr>
          <p:cNvSpPr>
            <a:spLocks noGrp="1"/>
          </p:cNvSpPr>
          <p:nvPr/>
        </p:nvSpPr>
        <p:spPr>
          <a:xfrm>
            <a:off x="609600" y="4400550"/>
            <a:ext cx="2190750" cy="476250"/>
          </a:xfrm>
          <a:prstGeom prst="rect">
            <a:avLst/>
          </a:prstGeom>
          <a:solidFill>
            <a:srgbClr val="FFFFFF"/>
          </a:solidFill>
          <a:ln w="9525">
            <a:solidFill>
              <a:srgbClr val="D8D1C4"/>
            </a:solidFill>
          </a:ln>
        </p:spPr>
        <p:txBody>
          <a:bodyPr lIns="95250" tIns="76200" rIns="95250" bIns="76200" anchor="ctr"/>
          <a:lstStyle/>
          <a:p>
            <a:pPr algn="ctr">
              <a:defRPr sz="953">
                <a:solidFill>
                  <a:srgbClr val="17202A"/>
                </a:solidFill>
                <a:latin typeface="Microsoft YaHei"/>
                <a:ea typeface="Microsoft YaHei"/>
                <a:cs typeface="Microsoft YaHei"/>
              </a:defRPr>
            </a:pPr>
            <a:r>
              <a:rPr sz="953" b="1">
                <a:solidFill>
                  <a:srgbClr val="17202A"/>
                </a:solidFill>
                <a:latin typeface="Microsoft YaHei"/>
                <a:ea typeface="Microsoft YaHei"/>
                <a:cs typeface="Microsoft YaHei"/>
              </a:rPr>
              <a:t>21CBR</a:t>
            </a:r>
          </a:p>
        </p:txBody>
      </p:sp>
      <p:sp>
        <p:nvSpPr>
          <p:cNvPr id="28" name="矩形 27">
            <a:extLst>
              <a:ext uri="{FF2B5EF4-FFF2-40B4-BE49-F238E27FC236}">
                <a16:creationId xmlns:a16="http://schemas.microsoft.com/office/drawing/2014/main" id="{C37518BC-0F91-4C0D-AC4A-8FCCFD5F6597}"/>
              </a:ext>
            </a:extLst>
          </p:cNvPr>
          <p:cNvSpPr>
            <a:spLocks noGrp="1"/>
          </p:cNvSpPr>
          <p:nvPr/>
        </p:nvSpPr>
        <p:spPr>
          <a:xfrm>
            <a:off x="2800350" y="4400550"/>
            <a:ext cx="4953000" cy="476250"/>
          </a:xfrm>
          <a:prstGeom prst="rect">
            <a:avLst/>
          </a:prstGeom>
          <a:solidFill>
            <a:srgbClr val="FFFFFF"/>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https://www.21jingji.com/article/20241216/herald/32687e0b83091a610dbc5862d159a0a4.html</a:t>
            </a:r>
          </a:p>
        </p:txBody>
      </p:sp>
      <p:sp>
        <p:nvSpPr>
          <p:cNvPr id="29" name="矩形 28">
            <a:extLst>
              <a:ext uri="{FF2B5EF4-FFF2-40B4-BE49-F238E27FC236}">
                <a16:creationId xmlns:a16="http://schemas.microsoft.com/office/drawing/2014/main" id="{8563BB6C-D4CB-48D5-AC75-147CB6257707}"/>
              </a:ext>
            </a:extLst>
          </p:cNvPr>
          <p:cNvSpPr>
            <a:spLocks noGrp="1"/>
          </p:cNvSpPr>
          <p:nvPr/>
        </p:nvSpPr>
        <p:spPr>
          <a:xfrm>
            <a:off x="7753350" y="4400550"/>
            <a:ext cx="3619500" cy="476250"/>
          </a:xfrm>
          <a:prstGeom prst="rect">
            <a:avLst/>
          </a:prstGeom>
          <a:solidFill>
            <a:srgbClr val="FFFFFF"/>
          </a:solidFill>
          <a:ln w="9525">
            <a:solidFill>
              <a:srgbClr val="D8D1C4"/>
            </a:solidFill>
          </a:ln>
        </p:spPr>
        <p:txBody>
          <a:bodyPr lIns="95250" tIns="76200" rIns="95250" bIns="76200" anchor="ctr"/>
          <a:lstStyle/>
          <a:p>
            <a:pPr algn="l">
              <a:defRPr sz="953">
                <a:solidFill>
                  <a:srgbClr val="17202A"/>
                </a:solidFill>
                <a:latin typeface="Microsoft YaHei"/>
                <a:ea typeface="Microsoft YaHei"/>
                <a:cs typeface="Microsoft YaHei"/>
              </a:defRPr>
            </a:pPr>
            <a:r>
              <a:rPr sz="953">
                <a:solidFill>
                  <a:srgbClr val="17202A"/>
                </a:solidFill>
                <a:latin typeface="Microsoft YaHei"/>
                <a:ea typeface="Microsoft YaHei"/>
                <a:cs typeface="Microsoft YaHei"/>
              </a:rPr>
              <a:t>MAU 规模参考、免费阅读商业模式报道</a:t>
            </a:r>
          </a:p>
        </p:txBody>
      </p:sp>
      <p:sp>
        <p:nvSpPr>
          <p:cNvPr id="30" name="矩形 29">
            <a:extLst>
              <a:ext uri="{FF2B5EF4-FFF2-40B4-BE49-F238E27FC236}">
                <a16:creationId xmlns:a16="http://schemas.microsoft.com/office/drawing/2014/main" id="{4C0B9BB1-E034-49FC-9DF6-6DA7B6E45E56}"/>
              </a:ext>
            </a:extLst>
          </p:cNvPr>
          <p:cNvSpPr>
            <a:spLocks noGrp="1"/>
          </p:cNvSpPr>
          <p:nvPr/>
        </p:nvSpPr>
        <p:spPr>
          <a:xfrm>
            <a:off x="1028700" y="5638800"/>
            <a:ext cx="10096500" cy="514350"/>
          </a:xfrm>
          <a:prstGeom prst="rect">
            <a:avLst/>
          </a:prstGeom>
          <a:solidFill>
            <a:srgbClr val="FBEDE8"/>
          </a:solidFill>
          <a:ln w="9525">
            <a:solidFill>
              <a:srgbClr val="E85D4F"/>
            </a:solidFill>
          </a:ln>
        </p:spPr>
        <p:txBody>
          <a:bodyPr lIns="114300" tIns="95250" rIns="114300" bIns="95250" anchor="ctr"/>
          <a:lstStyle/>
          <a:p>
            <a:pPr>
              <a:defRPr sz="1200">
                <a:solidFill>
                  <a:srgbClr val="17202A"/>
                </a:solidFill>
                <a:latin typeface="Microsoft YaHei"/>
                <a:ea typeface="Microsoft YaHei"/>
                <a:cs typeface="Microsoft YaHei"/>
              </a:defRPr>
            </a:pPr>
            <a:r>
              <a:rPr sz="1200" dirty="0" err="1">
                <a:solidFill>
                  <a:srgbClr val="17202A"/>
                </a:solidFill>
                <a:latin typeface="Microsoft YaHei"/>
                <a:ea typeface="Microsoft YaHei"/>
                <a:cs typeface="Microsoft YaHei"/>
              </a:rPr>
              <a:t>说明：番茄小说没有公开完整内部</a:t>
            </a:r>
            <a:r>
              <a:rPr sz="1200" dirty="0">
                <a:solidFill>
                  <a:srgbClr val="17202A"/>
                </a:solidFill>
                <a:latin typeface="Microsoft YaHei"/>
                <a:ea typeface="Microsoft YaHei"/>
                <a:cs typeface="Microsoft YaHei"/>
              </a:rPr>
              <a:t> OLTP/</a:t>
            </a:r>
            <a:r>
              <a:rPr sz="1200" dirty="0" err="1">
                <a:solidFill>
                  <a:srgbClr val="17202A"/>
                </a:solidFill>
                <a:latin typeface="Microsoft YaHei"/>
                <a:ea typeface="Microsoft YaHei"/>
                <a:cs typeface="Microsoft YaHei"/>
              </a:rPr>
              <a:t>大数据平台架构</a:t>
            </a:r>
            <a:r>
              <a:rPr sz="1200" dirty="0">
                <a:solidFill>
                  <a:srgbClr val="17202A"/>
                </a:solidFill>
                <a:latin typeface="Microsoft YaHei"/>
                <a:ea typeface="Microsoft YaHei"/>
                <a:cs typeface="Microsoft YaHei"/>
              </a:rPr>
              <a:t>。</a:t>
            </a:r>
            <a:endParaRPr lang="en-US" sz="1200" dirty="0">
              <a:solidFill>
                <a:srgbClr val="17202A"/>
              </a:solidFill>
              <a:latin typeface="Microsoft YaHei"/>
              <a:ea typeface="Microsoft YaHei"/>
              <a:cs typeface="Microsoft YaHei"/>
            </a:endParaRPr>
          </a:p>
          <a:p>
            <a:pPr>
              <a:defRPr sz="1200">
                <a:solidFill>
                  <a:srgbClr val="17202A"/>
                </a:solidFill>
                <a:latin typeface="Microsoft YaHei"/>
                <a:ea typeface="Microsoft YaHei"/>
                <a:cs typeface="Microsoft YaHei"/>
              </a:defRPr>
            </a:pPr>
            <a:r>
              <a:rPr sz="1200" dirty="0" err="1">
                <a:solidFill>
                  <a:srgbClr val="17202A"/>
                </a:solidFill>
                <a:latin typeface="Microsoft YaHei"/>
                <a:ea typeface="Microsoft YaHei"/>
                <a:cs typeface="Microsoft YaHei"/>
              </a:rPr>
              <a:t>本报告架构图用于课程分析，技术栈是大型在线阅读</a:t>
            </a:r>
            <a:r>
              <a:rPr sz="1200" dirty="0">
                <a:solidFill>
                  <a:srgbClr val="17202A"/>
                </a:solidFill>
                <a:latin typeface="Microsoft YaHei"/>
                <a:ea typeface="Microsoft YaHei"/>
                <a:cs typeface="Microsoft YaHei"/>
              </a:rPr>
              <a:t>/</a:t>
            </a:r>
            <a:r>
              <a:rPr sz="1200" dirty="0" err="1">
                <a:solidFill>
                  <a:srgbClr val="17202A"/>
                </a:solidFill>
                <a:latin typeface="Microsoft YaHei"/>
                <a:ea typeface="Microsoft YaHei"/>
                <a:cs typeface="Microsoft YaHei"/>
              </a:rPr>
              <a:t>内容平台常见设计，不代表官方披露</a:t>
            </a:r>
            <a:r>
              <a:rPr sz="1200" dirty="0">
                <a:solidFill>
                  <a:srgbClr val="17202A"/>
                </a:solidFill>
                <a:latin typeface="Microsoft YaHei"/>
                <a:ea typeface="Microsoft YaHei"/>
                <a:cs typeface="Microsoft YaHei"/>
              </a:rPr>
              <a:t>。</a:t>
            </a:r>
          </a:p>
        </p:txBody>
      </p:sp>
    </p:spTree>
    <p:extLst>
      <p:ext uri="{BB962C8B-B14F-4D97-AF65-F5344CB8AC3E}">
        <p14:creationId xmlns:p14="http://schemas.microsoft.com/office/powerpoint/2010/main" val="10540825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1285</Words>
  <Application>Microsoft Office PowerPoint</Application>
  <DocSecurity>0</DocSecurity>
  <PresentationFormat>宽屏</PresentationFormat>
  <Paragraphs>290</Paragraphs>
  <Slides>13</Slides>
  <Notes>13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Microsoft YaHei</vt:lpstr>
      <vt:lpstr>Calibri</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仁伟 骆</cp:lastModifiedBy>
  <cp:revision>10</cp:revision>
  <dcterms:created xsi:type="dcterms:W3CDTF">2026-06-02T06:38:45Z</dcterms:created>
  <dcterms:modified xsi:type="dcterms:W3CDTF">2026-06-02T07:08:57Z</dcterms:modified>
</cp:coreProperties>
</file>